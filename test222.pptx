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622" r:id="rId1"/>
    <p:sldMasterId id="2147484796" r:id="rId2"/>
    <p:sldMasterId id="2147484808" r:id="rId3"/>
    <p:sldMasterId id="2147484820" r:id="rId4"/>
    <p:sldMasterId id="2147484835" r:id="rId5"/>
  </p:sldMasterIdLst>
  <p:notesMasterIdLst>
    <p:notesMasterId r:id="rId45"/>
  </p:notesMasterIdLst>
  <p:handoutMasterIdLst>
    <p:handoutMasterId r:id="rId46"/>
  </p:handoutMasterIdLst>
  <p:sldIdLst>
    <p:sldId id="2086" r:id="rId6"/>
    <p:sldId id="2135" r:id="rId7"/>
    <p:sldId id="2141" r:id="rId8"/>
    <p:sldId id="2142" r:id="rId9"/>
    <p:sldId id="2143" r:id="rId10"/>
    <p:sldId id="2145" r:id="rId11"/>
    <p:sldId id="2147" r:id="rId12"/>
    <p:sldId id="2146" r:id="rId13"/>
    <p:sldId id="2148" r:id="rId14"/>
    <p:sldId id="2149" r:id="rId15"/>
    <p:sldId id="2150" r:id="rId16"/>
    <p:sldId id="2151" r:id="rId17"/>
    <p:sldId id="2153" r:id="rId18"/>
    <p:sldId id="2152" r:id="rId19"/>
    <p:sldId id="2158" r:id="rId20"/>
    <p:sldId id="2154" r:id="rId21"/>
    <p:sldId id="2155" r:id="rId22"/>
    <p:sldId id="2156" r:id="rId23"/>
    <p:sldId id="2157" r:id="rId24"/>
    <p:sldId id="2173" r:id="rId25"/>
    <p:sldId id="2159" r:id="rId26"/>
    <p:sldId id="2160" r:id="rId27"/>
    <p:sldId id="2172" r:id="rId28"/>
    <p:sldId id="2161" r:id="rId29"/>
    <p:sldId id="277" r:id="rId30"/>
    <p:sldId id="281" r:id="rId31"/>
    <p:sldId id="273" r:id="rId32"/>
    <p:sldId id="2162" r:id="rId33"/>
    <p:sldId id="256" r:id="rId34"/>
    <p:sldId id="257" r:id="rId35"/>
    <p:sldId id="2168" r:id="rId36"/>
    <p:sldId id="2163" r:id="rId37"/>
    <p:sldId id="2164" r:id="rId38"/>
    <p:sldId id="2165" r:id="rId39"/>
    <p:sldId id="2169" r:id="rId40"/>
    <p:sldId id="2170" r:id="rId41"/>
    <p:sldId id="2171" r:id="rId42"/>
    <p:sldId id="2166" r:id="rId43"/>
    <p:sldId id="2167" r:id="rId44"/>
  </p:sldIdLst>
  <p:sldSz cx="9906000" cy="6858000" type="A4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47" userDrawn="1">
          <p15:clr>
            <a:srgbClr val="A4A3A4"/>
          </p15:clr>
        </p15:guide>
        <p15:guide id="12" orient="horz" userDrawn="1">
          <p15:clr>
            <a:srgbClr val="A4A3A4"/>
          </p15:clr>
        </p15:guide>
        <p15:guide id="16" orient="horz" pos="4258">
          <p15:clr>
            <a:srgbClr val="A4A3A4"/>
          </p15:clr>
        </p15:guide>
        <p15:guide id="17" orient="horz" pos="5">
          <p15:clr>
            <a:srgbClr val="A4A3A4"/>
          </p15:clr>
        </p15:guide>
        <p15:guide id="18" userDrawn="1">
          <p15:clr>
            <a:srgbClr val="A4A3A4"/>
          </p15:clr>
        </p15:guide>
        <p15:guide id="19" pos="2171">
          <p15:clr>
            <a:srgbClr val="A4A3A4"/>
          </p15:clr>
        </p15:guide>
        <p15:guide id="20" pos="2352">
          <p15:clr>
            <a:srgbClr val="A4A3A4"/>
          </p15:clr>
        </p15:guide>
        <p15:guide id="21" orient="horz" pos="423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진우" initials="김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39"/>
    <a:srgbClr val="FF6699"/>
    <a:srgbClr val="FFF7DD"/>
    <a:srgbClr val="FFFBEF"/>
    <a:srgbClr val="FFFCF3"/>
    <a:srgbClr val="FFEFBD"/>
    <a:srgbClr val="FFE89F"/>
    <a:srgbClr val="C30036"/>
    <a:srgbClr val="FFC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D3B847-5870-471F-A69B-0C1BDED129BB}" v="8" dt="2022-06-12T06:31:58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9654" autoAdjust="0"/>
  </p:normalViewPr>
  <p:slideViewPr>
    <p:cSldViewPr snapToObjects="1" showGuides="1">
      <p:cViewPr>
        <p:scale>
          <a:sx n="66" d="100"/>
          <a:sy n="66" d="100"/>
        </p:scale>
        <p:origin x="1242" y="-12"/>
      </p:cViewPr>
      <p:guideLst>
        <p:guide orient="horz" pos="147"/>
        <p:guide orient="horz"/>
        <p:guide orient="horz" pos="4258"/>
        <p:guide orient="horz" pos="5"/>
        <p:guide/>
        <p:guide pos="2171"/>
        <p:guide pos="2352"/>
        <p:guide orient="horz" pos="4230"/>
      </p:guideLst>
    </p:cSldViewPr>
  </p:slideViewPr>
  <p:outlineViewPr>
    <p:cViewPr>
      <p:scale>
        <a:sx n="33" d="100"/>
        <a:sy n="33" d="100"/>
      </p:scale>
      <p:origin x="0" y="12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114" d="100"/>
          <a:sy n="114" d="100"/>
        </p:scale>
        <p:origin x="-2082" y="-108"/>
      </p:cViewPr>
      <p:guideLst>
        <p:guide orient="horz" pos="2141"/>
        <p:guide pos="3127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구 본상" userId="a52f452b6a50c305" providerId="LiveId" clId="{B8D3B847-5870-471F-A69B-0C1BDED129BB}"/>
    <pc:docChg chg="undo redo custSel modSld">
      <pc:chgData name="구 본상" userId="a52f452b6a50c305" providerId="LiveId" clId="{B8D3B847-5870-471F-A69B-0C1BDED129BB}" dt="2022-06-12T08:25:54.656" v="96" actId="14100"/>
      <pc:docMkLst>
        <pc:docMk/>
      </pc:docMkLst>
      <pc:sldChg chg="modSp mod">
        <pc:chgData name="구 본상" userId="a52f452b6a50c305" providerId="LiveId" clId="{B8D3B847-5870-471F-A69B-0C1BDED129BB}" dt="2022-06-12T06:31:41.762" v="70" actId="20577"/>
        <pc:sldMkLst>
          <pc:docMk/>
          <pc:sldMk cId="1626112028" sldId="2135"/>
        </pc:sldMkLst>
        <pc:graphicFrameChg chg="mod modGraphic">
          <ac:chgData name="구 본상" userId="a52f452b6a50c305" providerId="LiveId" clId="{B8D3B847-5870-471F-A69B-0C1BDED129BB}" dt="2022-06-12T06:31:41.762" v="70" actId="20577"/>
          <ac:graphicFrameMkLst>
            <pc:docMk/>
            <pc:sldMk cId="1626112028" sldId="2135"/>
            <ac:graphicFrameMk id="21" creationId="{CA82509F-637E-D2C7-5F47-218827390ED0}"/>
          </ac:graphicFrameMkLst>
        </pc:graphicFrameChg>
      </pc:sldChg>
      <pc:sldChg chg="modSp mod">
        <pc:chgData name="구 본상" userId="a52f452b6a50c305" providerId="LiveId" clId="{B8D3B847-5870-471F-A69B-0C1BDED129BB}" dt="2022-06-12T06:31:58.547" v="92"/>
        <pc:sldMkLst>
          <pc:docMk/>
          <pc:sldMk cId="2577664288" sldId="2141"/>
        </pc:sldMkLst>
        <pc:spChg chg="mod">
          <ac:chgData name="구 본상" userId="a52f452b6a50c305" providerId="LiveId" clId="{B8D3B847-5870-471F-A69B-0C1BDED129BB}" dt="2022-06-12T06:31:58.547" v="92"/>
          <ac:spMkLst>
            <pc:docMk/>
            <pc:sldMk cId="2577664288" sldId="2141"/>
            <ac:spMk id="4" creationId="{00000000-0000-0000-0000-000000000000}"/>
          </ac:spMkLst>
        </pc:spChg>
        <pc:grpChg chg="mod ord">
          <ac:chgData name="구 본상" userId="a52f452b6a50c305" providerId="LiveId" clId="{B8D3B847-5870-471F-A69B-0C1BDED129BB}" dt="2022-06-12T06:31:35.379" v="62" actId="166"/>
          <ac:grpSpMkLst>
            <pc:docMk/>
            <pc:sldMk cId="2577664288" sldId="2141"/>
            <ac:grpSpMk id="3" creationId="{29988400-E094-17AB-0525-BEC35C2B292C}"/>
          </ac:grpSpMkLst>
        </pc:grpChg>
      </pc:sldChg>
      <pc:sldChg chg="modSp mod">
        <pc:chgData name="구 본상" userId="a52f452b6a50c305" providerId="LiveId" clId="{B8D3B847-5870-471F-A69B-0C1BDED129BB}" dt="2022-06-12T08:25:54.656" v="96" actId="14100"/>
        <pc:sldMkLst>
          <pc:docMk/>
          <pc:sldMk cId="337757775" sldId="2142"/>
        </pc:sldMkLst>
        <pc:spChg chg="mod">
          <ac:chgData name="구 본상" userId="a52f452b6a50c305" providerId="LiveId" clId="{B8D3B847-5870-471F-A69B-0C1BDED129BB}" dt="2022-06-12T06:32:20.036" v="93"/>
          <ac:spMkLst>
            <pc:docMk/>
            <pc:sldMk cId="337757775" sldId="2142"/>
            <ac:spMk id="4" creationId="{00000000-0000-0000-0000-000000000000}"/>
          </ac:spMkLst>
        </pc:spChg>
        <pc:picChg chg="mod ord">
          <ac:chgData name="구 본상" userId="a52f452b6a50c305" providerId="LiveId" clId="{B8D3B847-5870-471F-A69B-0C1BDED129BB}" dt="2022-06-12T08:25:54.656" v="96" actId="14100"/>
          <ac:picMkLst>
            <pc:docMk/>
            <pc:sldMk cId="337757775" sldId="2142"/>
            <ac:picMk id="34" creationId="{DFC72625-8BDF-0B53-791D-1E1D5465F4A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3" y="1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r">
              <a:defRPr sz="1200"/>
            </a:lvl1pPr>
          </a:lstStyle>
          <a:p>
            <a:fld id="{29BA8DE9-16D3-458F-A4A5-89A912254F2C}" type="datetimeFigureOut">
              <a:rPr lang="ko-KR" altLang="en-US" smtClean="0"/>
              <a:pPr/>
              <a:t>2026-05-25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456614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3"/>
          </p:nvPr>
        </p:nvSpPr>
        <p:spPr>
          <a:xfrm>
            <a:off x="5622582" y="6457107"/>
            <a:ext cx="4301839" cy="339515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r">
              <a:defRPr sz="1200"/>
            </a:lvl1pPr>
          </a:lstStyle>
          <a:p>
            <a:fld id="{EA417FED-F0F8-4D7F-87F2-BE12FE26E0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7168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3" y="1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85FA80C-3CCA-44E9-9CF6-C63D6D30ABCC}" type="datetimeFigureOut">
              <a:rPr lang="ko-KR" altLang="en-US"/>
              <a:pPr>
                <a:defRPr/>
              </a:pPr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24200" y="511175"/>
            <a:ext cx="36782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6" rIns="91433" bIns="4571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28898"/>
            <a:ext cx="7941310" cy="3058954"/>
          </a:xfrm>
          <a:prstGeom prst="rect">
            <a:avLst/>
          </a:prstGeom>
        </p:spPr>
        <p:txBody>
          <a:bodyPr vert="horz" lIns="91433" tIns="45716" rIns="91433" bIns="45716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4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3" y="6456614"/>
            <a:ext cx="4301542" cy="339884"/>
          </a:xfrm>
          <a:prstGeom prst="rect">
            <a:avLst/>
          </a:prstGeom>
        </p:spPr>
        <p:txBody>
          <a:bodyPr vert="horz" lIns="91433" tIns="45716" rIns="91433" bIns="4571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0A82434-AB7E-4337-B0D8-E7AC022A045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697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en-US" altLang="ko-KR" sz="800" b="0" baseline="0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714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26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238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69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76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574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30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07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77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911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010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18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003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746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11175"/>
            <a:ext cx="3678238" cy="25479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A82434-AB7E-4337-B0D8-E7AC022A0454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195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9FAA9C-2EE4-4206-99BB-A21112AD4B7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69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9FAA9C-2EE4-4206-99BB-A21112AD4B7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868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9FAA9C-2EE4-4206-99BB-A21112AD4B7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333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6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96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78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179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81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65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89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78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94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12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539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362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00D5-45E8-4F8E-86E0-7FED75EEFBF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311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62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98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28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25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53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10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88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28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38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25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14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39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32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73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09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57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57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89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30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89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85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04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26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3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7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20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46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3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15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77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60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39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6146" y="6453337"/>
            <a:ext cx="2311400" cy="365125"/>
          </a:xfrm>
          <a:prstGeom prst="rect">
            <a:avLst/>
          </a:prstGeom>
        </p:spPr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93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>
            <a:cxnSpLocks/>
          </p:cNvCxnSpPr>
          <p:nvPr/>
        </p:nvCxnSpPr>
        <p:spPr>
          <a:xfrm>
            <a:off x="518277" y="692696"/>
            <a:ext cx="5915774" cy="0"/>
          </a:xfrm>
          <a:prstGeom prst="line">
            <a:avLst/>
          </a:prstGeom>
          <a:ln w="57150">
            <a:solidFill>
              <a:srgbClr val="74B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>
            <a:cxnSpLocks/>
          </p:cNvCxnSpPr>
          <p:nvPr/>
        </p:nvCxnSpPr>
        <p:spPr>
          <a:xfrm>
            <a:off x="196850" y="692048"/>
            <a:ext cx="4261095" cy="0"/>
          </a:xfrm>
          <a:prstGeom prst="line">
            <a:avLst/>
          </a:prstGeom>
          <a:ln w="57150">
            <a:solidFill>
              <a:srgbClr val="C300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Pil-Ho Lee\Desktop\영문상하_기계공학부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8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31036-176E-43E0-8221-7A296B8BB73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C1D465-CCB3-EF0E-D648-C996090867E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22852" y="135636"/>
            <a:ext cx="2496778" cy="451135"/>
          </a:xfrm>
          <a:prstGeom prst="rect">
            <a:avLst/>
          </a:prstGeom>
        </p:spPr>
      </p:pic>
      <p:sp>
        <p:nvSpPr>
          <p:cNvPr id="2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84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9" r:id="rId1"/>
    <p:sldLayoutId id="2147484633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8"/>
            <a:ext cx="9906000" cy="6858000"/>
          </a:xfrm>
          <a:prstGeom prst="rect">
            <a:avLst/>
          </a:prstGeom>
        </p:spPr>
      </p:pic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31036-176E-43E0-8221-7A296B8BB73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503899" y="3238948"/>
            <a:ext cx="8872405" cy="45719"/>
          </a:xfrm>
          <a:prstGeom prst="rect">
            <a:avLst/>
          </a:prstGeom>
          <a:solidFill>
            <a:srgbClr val="C30036">
              <a:alpha val="72000"/>
            </a:srgbClr>
          </a:solidFill>
          <a:ln>
            <a:noFill/>
          </a:ln>
        </p:spPr>
        <p:txBody>
          <a:bodyPr wrap="none" anchor="ctr"/>
          <a:lstStyle/>
          <a:p>
            <a:endParaRPr kumimoji="0" lang="ko-KR" altLang="en-US" b="1">
              <a:solidFill>
                <a:srgbClr val="000000"/>
              </a:solidFill>
              <a:latin typeface="Arial" pitchFamily="34" charset="0"/>
              <a:ea typeface="HY견고딕" pitchFamily="18" charset="-127"/>
              <a:cs typeface="Arial" pitchFamily="34" charset="0"/>
            </a:endParaRPr>
          </a:p>
        </p:txBody>
      </p:sp>
      <p:pic>
        <p:nvPicPr>
          <p:cNvPr id="12" name="Picture 2" descr="C:\Users\Pil-Ho Lee\Desktop\영문상하_기계공학부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8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이등변 삼각형 6"/>
          <p:cNvSpPr/>
          <p:nvPr userDrawn="1"/>
        </p:nvSpPr>
        <p:spPr>
          <a:xfrm rot="10800000">
            <a:off x="1734" y="357613"/>
            <a:ext cx="463856" cy="371086"/>
          </a:xfrm>
          <a:prstGeom prst="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/>
          <p:cNvSpPr/>
          <p:nvPr userDrawn="1"/>
        </p:nvSpPr>
        <p:spPr>
          <a:xfrm>
            <a:off x="0" y="-9444"/>
            <a:ext cx="463856" cy="371086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8940816-9775-7F06-CDF5-85D99245DFDC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422852" y="135636"/>
            <a:ext cx="2496778" cy="451135"/>
          </a:xfrm>
          <a:prstGeom prst="rect">
            <a:avLst/>
          </a:prstGeom>
        </p:spPr>
      </p:pic>
      <p:sp>
        <p:nvSpPr>
          <p:cNvPr id="8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79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7" r:id="rId1"/>
    <p:sldLayoutId id="2147484798" r:id="rId2"/>
    <p:sldLayoutId id="2147484799" r:id="rId3"/>
    <p:sldLayoutId id="2147484800" r:id="rId4"/>
    <p:sldLayoutId id="2147484801" r:id="rId5"/>
    <p:sldLayoutId id="2147484802" r:id="rId6"/>
    <p:sldLayoutId id="2147484803" r:id="rId7"/>
    <p:sldLayoutId id="2147484804" r:id="rId8"/>
    <p:sldLayoutId id="2147484805" r:id="rId9"/>
    <p:sldLayoutId id="2147484806" r:id="rId10"/>
    <p:sldLayoutId id="2147484807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>
            <a:cxnSpLocks/>
          </p:cNvCxnSpPr>
          <p:nvPr userDrawn="1"/>
        </p:nvCxnSpPr>
        <p:spPr>
          <a:xfrm>
            <a:off x="199189" y="692889"/>
            <a:ext cx="6211136" cy="0"/>
          </a:xfrm>
          <a:prstGeom prst="line">
            <a:avLst/>
          </a:prstGeom>
          <a:ln w="57150">
            <a:solidFill>
              <a:srgbClr val="C300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Pil-Ho Lee\Desktop\영문상하_기계공학부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8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B56372C-283A-0285-6CAD-FCB807CABA9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22852" y="135636"/>
            <a:ext cx="2496778" cy="451135"/>
          </a:xfrm>
          <a:prstGeom prst="rect">
            <a:avLst/>
          </a:prstGeom>
        </p:spPr>
      </p:pic>
      <p:sp>
        <p:nvSpPr>
          <p:cNvPr id="2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07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9" r:id="rId1"/>
    <p:sldLayoutId id="2147484810" r:id="rId2"/>
    <p:sldLayoutId id="2147484811" r:id="rId3"/>
    <p:sldLayoutId id="2147484812" r:id="rId4"/>
    <p:sldLayoutId id="2147484813" r:id="rId5"/>
    <p:sldLayoutId id="2147484814" r:id="rId6"/>
    <p:sldLayoutId id="2147484815" r:id="rId7"/>
    <p:sldLayoutId id="2147484816" r:id="rId8"/>
    <p:sldLayoutId id="2147484817" r:id="rId9"/>
    <p:sldLayoutId id="2147484818" r:id="rId10"/>
    <p:sldLayoutId id="214748481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199186" y="692696"/>
            <a:ext cx="7020000" cy="0"/>
          </a:xfrm>
          <a:prstGeom prst="line">
            <a:avLst/>
          </a:prstGeom>
          <a:ln w="57150">
            <a:solidFill>
              <a:srgbClr val="74B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99187" y="692696"/>
            <a:ext cx="2638470" cy="0"/>
          </a:xfrm>
          <a:prstGeom prst="line">
            <a:avLst/>
          </a:prstGeom>
          <a:ln w="57150">
            <a:solidFill>
              <a:srgbClr val="2A8E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Pil-Ho Lee\Desktop\영문상하_기계공학부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6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468" y="-498"/>
            <a:ext cx="1596983" cy="684000"/>
          </a:xfrm>
          <a:prstGeom prst="rect">
            <a:avLst/>
          </a:prstGeom>
        </p:spPr>
      </p:pic>
      <p:sp>
        <p:nvSpPr>
          <p:cNvPr id="2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44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1" r:id="rId1"/>
    <p:sldLayoutId id="2147484822" r:id="rId2"/>
    <p:sldLayoutId id="2147484823" r:id="rId3"/>
    <p:sldLayoutId id="2147484824" r:id="rId4"/>
    <p:sldLayoutId id="2147484825" r:id="rId5"/>
    <p:sldLayoutId id="2147484826" r:id="rId6"/>
    <p:sldLayoutId id="2147484827" r:id="rId7"/>
    <p:sldLayoutId id="2147484828" r:id="rId8"/>
    <p:sldLayoutId id="2147484829" r:id="rId9"/>
    <p:sldLayoutId id="2147484830" r:id="rId10"/>
    <p:sldLayoutId id="2147484831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199186" y="692696"/>
            <a:ext cx="7020000" cy="0"/>
          </a:xfrm>
          <a:prstGeom prst="line">
            <a:avLst/>
          </a:prstGeom>
          <a:ln w="57150">
            <a:solidFill>
              <a:srgbClr val="74B7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99187" y="692696"/>
            <a:ext cx="2638470" cy="0"/>
          </a:xfrm>
          <a:prstGeom prst="line">
            <a:avLst/>
          </a:prstGeom>
          <a:ln w="57150">
            <a:solidFill>
              <a:srgbClr val="2A8E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Pil-Ho Lee\Desktop\영문상하_기계공학부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26" y="7781"/>
            <a:ext cx="922442" cy="7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468" y="-498"/>
            <a:ext cx="1596983" cy="684000"/>
          </a:xfrm>
          <a:prstGeom prst="rect">
            <a:avLst/>
          </a:prstGeom>
        </p:spPr>
      </p:pic>
      <p:sp>
        <p:nvSpPr>
          <p:cNvPr id="2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55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6" r:id="rId1"/>
    <p:sldLayoutId id="2147484837" r:id="rId2"/>
    <p:sldLayoutId id="2147484838" r:id="rId3"/>
    <p:sldLayoutId id="2147484839" r:id="rId4"/>
    <p:sldLayoutId id="2147484840" r:id="rId5"/>
    <p:sldLayoutId id="2147484841" r:id="rId6"/>
    <p:sldLayoutId id="2147484842" r:id="rId7"/>
    <p:sldLayoutId id="2147484843" r:id="rId8"/>
    <p:sldLayoutId id="2147484844" r:id="rId9"/>
    <p:sldLayoutId id="2147484845" r:id="rId10"/>
    <p:sldLayoutId id="2147484846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image" Target="../media/image50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9.png"/><Relationship Id="rId5" Type="http://schemas.openxmlformats.org/officeDocument/2006/relationships/image" Target="../media/image93.png"/><Relationship Id="rId4" Type="http://schemas.openxmlformats.org/officeDocument/2006/relationships/image" Target="../media/image9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657134" y="2452113"/>
            <a:ext cx="658153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구본상 </a:t>
            </a:r>
            <a:r>
              <a:rPr lang="en-US" altLang="ko-K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(Bon Sang Koo)</a:t>
            </a:r>
          </a:p>
        </p:txBody>
      </p:sp>
      <p:sp>
        <p:nvSpPr>
          <p:cNvPr id="12" name="직사각형 5"/>
          <p:cNvSpPr>
            <a:spLocks noChangeArrowheads="1"/>
          </p:cNvSpPr>
          <p:nvPr/>
        </p:nvSpPr>
        <p:spPr bwMode="auto">
          <a:xfrm>
            <a:off x="2849340" y="3528545"/>
            <a:ext cx="4197118" cy="58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R&amp;D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석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박사 산학장학생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LGE MEMBERS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채용</a:t>
            </a:r>
            <a:endParaRPr lang="en-US" altLang="ko-KR" sz="1400" b="1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rPr>
              <a:t>2022/ 06/ 13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(CDO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부문 직무 면접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F38B652-B2C4-4E53-9561-7233F31E3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12117"/>
              </p:ext>
            </p:extLst>
          </p:nvPr>
        </p:nvGraphicFramePr>
        <p:xfrm>
          <a:off x="2957240" y="5165068"/>
          <a:ext cx="3981317" cy="875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58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2400" kern="1200" dirty="0">
                          <a:solidFill>
                            <a:srgbClr val="C30036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itchFamily="34" charset="0"/>
                        </a:rPr>
                        <a:t>전      공 </a:t>
                      </a:r>
                      <a:r>
                        <a:rPr kumimoji="0" lang="en-US" altLang="ko-KR" sz="2400" kern="1200" dirty="0">
                          <a:solidFill>
                            <a:srgbClr val="C30036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0" lang="ko-KR" altLang="en-US" sz="2400" kern="1200" dirty="0">
                          <a:solidFill>
                            <a:srgbClr val="C30036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9000" marR="39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2400" kern="1200" dirty="0">
                          <a:solidFill>
                            <a:srgbClr val="C30036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itchFamily="34" charset="0"/>
                        </a:rPr>
                        <a:t>기계공학과</a:t>
                      </a:r>
                      <a:endParaRPr kumimoji="0" lang="en-US" altLang="ko-KR" sz="2400" kern="1200" dirty="0">
                        <a:solidFill>
                          <a:srgbClr val="C30036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itchFamily="34" charset="0"/>
                      </a:endParaRPr>
                    </a:p>
                  </a:txBody>
                  <a:tcPr marL="39000" marR="39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88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2400" kern="1200" dirty="0">
                          <a:solidFill>
                            <a:srgbClr val="C30036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itchFamily="34" charset="0"/>
                        </a:rPr>
                        <a:t>생년월일</a:t>
                      </a:r>
                      <a:r>
                        <a:rPr kumimoji="0" lang="ko-KR" altLang="en-US" sz="2400" kern="1200" baseline="0" dirty="0">
                          <a:solidFill>
                            <a:srgbClr val="C30036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2400" kern="1200" dirty="0">
                          <a:solidFill>
                            <a:srgbClr val="C30036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itchFamily="34" charset="0"/>
                        </a:rPr>
                        <a:t>:</a:t>
                      </a:r>
                      <a:endParaRPr kumimoji="0" lang="ko-KR" altLang="en-US" sz="2400" kern="1200" dirty="0">
                        <a:solidFill>
                          <a:srgbClr val="C30036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itchFamily="34" charset="0"/>
                      </a:endParaRPr>
                    </a:p>
                  </a:txBody>
                  <a:tcPr marL="39000" marR="39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kern="1200" dirty="0">
                          <a:solidFill>
                            <a:srgbClr val="C30036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1995. 11. 09</a:t>
                      </a:r>
                      <a:endParaRPr kumimoji="0" lang="ko-KR" altLang="en-US" sz="2400" b="1" kern="1200" dirty="0">
                        <a:solidFill>
                          <a:srgbClr val="C30036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9000" marR="39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11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780"/>
    </mc:Choice>
    <mc:Fallback xmlns="">
      <p:transition advTm="378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16D0EC-6557-F033-172A-4C89BAA7C0C4}"/>
              </a:ext>
            </a:extLst>
          </p:cNvPr>
          <p:cNvSpPr/>
          <p:nvPr/>
        </p:nvSpPr>
        <p:spPr>
          <a:xfrm>
            <a:off x="1748120" y="3216275"/>
            <a:ext cx="8001366" cy="3343275"/>
          </a:xfrm>
          <a:prstGeom prst="rect">
            <a:avLst/>
          </a:prstGeom>
          <a:solidFill>
            <a:srgbClr val="FFF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186" y="60064"/>
            <a:ext cx="102924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4" y="690564"/>
            <a:ext cx="9645676" cy="482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▌Who am I ?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72762" y="2955297"/>
            <a:ext cx="877163" cy="454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0" lang="ko-KR" altLang="en-US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구본상</a:t>
            </a:r>
            <a:endParaRPr kumimoji="0" lang="en-US" altLang="ko-KR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48120" y="1433940"/>
            <a:ext cx="8001366" cy="1415940"/>
          </a:xfrm>
          <a:prstGeom prst="rect">
            <a:avLst/>
          </a:prstGeom>
          <a:solidFill>
            <a:srgbClr val="FFF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■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M.S candidate in Mechanical Engineering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(</a:t>
            </a: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공학석사 과정 재학중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기계공학과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2021.03~2023.02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졸업예정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■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석사학위 논문 예정 주제</a:t>
            </a:r>
            <a:endParaRPr lang="en-US" altLang="ko-KR" sz="1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인공지능 알고리즘을 이용한 복합재료 사출성형 공정 최적화에 관한 연구</a:t>
            </a:r>
            <a:endParaRPr lang="en-US" altLang="ko-KR" sz="1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659168" y="1043735"/>
            <a:ext cx="1293944" cy="404213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0" lang="en-US" altLang="ko-KR" sz="1600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Education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650751" y="2805323"/>
            <a:ext cx="3663182" cy="404213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0" lang="en-US" altLang="ko-KR" sz="1600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Research And Work Experience</a:t>
            </a:r>
          </a:p>
        </p:txBody>
      </p:sp>
      <p:sp>
        <p:nvSpPr>
          <p:cNvPr id="35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2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pic>
        <p:nvPicPr>
          <p:cNvPr id="8" name="그림 7" descr="사람, 넥타이, 정장, 의류이(가) 표시된 사진&#10;&#10;자동 생성된 설명">
            <a:extLst>
              <a:ext uri="{FF2B5EF4-FFF2-40B4-BE49-F238E27FC236}">
                <a16:creationId xmlns:a16="http://schemas.microsoft.com/office/drawing/2014/main" id="{852DB067-A7E9-188C-E06F-97AB5469B0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04" y="1324291"/>
            <a:ext cx="1264046" cy="1687180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CA82509F-637E-D2C7-5F47-218827390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414195"/>
              </p:ext>
            </p:extLst>
          </p:nvPr>
        </p:nvGraphicFramePr>
        <p:xfrm>
          <a:off x="1762547" y="3210022"/>
          <a:ext cx="7970554" cy="3339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5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&lt;</a:t>
                      </a:r>
                      <a:r>
                        <a:rPr lang="ko-KR" altLang="en-US" sz="120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학사 과정</a:t>
                      </a:r>
                      <a:r>
                        <a:rPr lang="en-US" altLang="ko-KR" sz="120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2014.03</a:t>
                      </a:r>
                      <a:r>
                        <a:rPr lang="en-US" altLang="ko-KR" sz="10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 ~</a:t>
                      </a:r>
                      <a:r>
                        <a:rPr lang="en-US" altLang="ko-KR" sz="1000" baseline="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en-US" altLang="ko-KR" sz="1000" b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2020.02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■ 프린팅 기술 기반 복합구조 수소 센서 개발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  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수소 유무를 판단하는 착색 수소 센서 개발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동상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05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공학인재양성사업단</a:t>
                      </a:r>
                      <a:endParaRPr lang="en-US" altLang="ko-KR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[</a:t>
                      </a:r>
                      <a:r>
                        <a:rPr lang="en-US" altLang="ko-KR" sz="800" b="1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2018.03 ~  2019.02</a:t>
                      </a:r>
                      <a:r>
                        <a:rPr lang="en-US" altLang="ko-KR" sz="8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]</a:t>
                      </a:r>
                      <a:endParaRPr lang="en-US" altLang="ko-KR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■ 자동화 수조 관리 시스템 개발</a:t>
                      </a:r>
                      <a:endParaRPr lang="en-US" altLang="ko-KR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센서 데이터 기반 수조 관리 제어 시스템 개발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우수상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05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성균관대학교 </a:t>
                      </a:r>
                      <a:r>
                        <a:rPr lang="en-US" altLang="ko-KR" sz="8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LINC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사업단</a:t>
                      </a:r>
                      <a:endParaRPr lang="en-US" altLang="ko-KR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[</a:t>
                      </a:r>
                      <a:r>
                        <a:rPr lang="en-US" altLang="ko-KR" sz="8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2019.01~2019.01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■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LG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디스플레이 하계 인턴십 수료</a:t>
                      </a:r>
                      <a:endParaRPr lang="en-US" altLang="ko-KR" sz="105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실제 산업 현장 경험을 통해 디스플레이 개발 과정 지식 습득</a:t>
                      </a:r>
                      <a:endParaRPr lang="en-US" altLang="ko-KR" sz="1050" dirty="0">
                        <a:solidFill>
                          <a:srgbClr val="C00000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LG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디스플레이</a:t>
                      </a:r>
                      <a:endParaRPr lang="en-US" altLang="ko-KR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[</a:t>
                      </a:r>
                      <a:r>
                        <a:rPr lang="en-US" altLang="ko-KR" sz="8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2019. 07 ~ 2019. 8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&lt;</a:t>
                      </a:r>
                      <a:r>
                        <a:rPr lang="ko-KR" altLang="en-US" sz="105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석사 과정</a:t>
                      </a:r>
                      <a:r>
                        <a:rPr lang="en-US" altLang="ko-KR" sz="105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2021.02</a:t>
                      </a:r>
                      <a:r>
                        <a:rPr lang="en-US" altLang="ko-KR" sz="8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 ~</a:t>
                      </a:r>
                      <a:r>
                        <a:rPr lang="en-US" altLang="ko-KR" sz="800" baseline="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rgbClr val="0070C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현재</a:t>
                      </a:r>
                      <a:endParaRPr lang="en-US" altLang="ko-KR" sz="800" dirty="0">
                        <a:solidFill>
                          <a:srgbClr val="0070C0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96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■ 로봇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스폿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용접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고장 진단 알고리즘 구축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 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센서 데이터를 이용한 </a:t>
                      </a:r>
                      <a:r>
                        <a:rPr lang="ko-KR" altLang="en-US" sz="105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특징값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 추출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머신러닝을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 이용한 </a:t>
                      </a:r>
                      <a:r>
                        <a:rPr lang="ko-KR" altLang="en-US" sz="105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스폿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 용접 고장 진단 및 분석 기술 개발</a:t>
                      </a:r>
                      <a:endParaRPr lang="en-US" altLang="ko-KR" sz="1050" dirty="0">
                        <a:solidFill>
                          <a:srgbClr val="C00000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한국산업기술평가관리원</a:t>
                      </a:r>
                      <a:endParaRPr lang="en-US" altLang="ko-KR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[</a:t>
                      </a:r>
                      <a:r>
                        <a:rPr lang="en-US" altLang="ko-KR" sz="8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2021. 03 ~ 2021. 12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7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■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배터리팩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하우징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어퍼커버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사출 공정 최적화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 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사출 공정의 최적 공정 변수 값 도출</a:t>
                      </a:r>
                      <a:r>
                        <a:rPr lang="en-US" altLang="ko-KR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sym typeface="Wingdings" panose="05000000000000000000" pitchFamily="2" charset="2"/>
                        </a:rPr>
                        <a:t>압력 시계열 데이터를 이용한 품질 예측 알고리즘 개발</a:t>
                      </a:r>
                      <a:endParaRPr lang="en-US" altLang="ko-KR" sz="1050" dirty="0">
                        <a:solidFill>
                          <a:srgbClr val="C00000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한국산업기술평가관리원</a:t>
                      </a:r>
                      <a:endParaRPr lang="en-US" altLang="ko-KR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[</a:t>
                      </a:r>
                      <a:r>
                        <a:rPr lang="en-US" altLang="ko-KR" sz="8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2021. 07 ~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현재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332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11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9"/>
              <p:cNvSpPr txBox="1">
                <a:spLocks noChangeArrowheads="1"/>
              </p:cNvSpPr>
              <p:nvPr/>
            </p:nvSpPr>
            <p:spPr bwMode="auto">
              <a:xfrm>
                <a:off x="221855" y="690564"/>
                <a:ext cx="9546680" cy="16679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itchFamily="50" charset="-127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kumimoji="0" lang="en-US" altLang="ko-KR" sz="2000" dirty="0">
                    <a:solidFill>
                      <a:prstClr val="black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▌</a:t>
                </a:r>
                <a:r>
                  <a:rPr kumimoji="0" lang="ko-KR" altLang="en-US" sz="2000" dirty="0">
                    <a:solidFill>
                      <a:prstClr val="black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로봇 </a:t>
                </a:r>
                <a:r>
                  <a:rPr kumimoji="0" lang="ko-KR" altLang="en-US" sz="2000" dirty="0" err="1">
                    <a:solidFill>
                      <a:prstClr val="black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스폿</a:t>
                </a:r>
                <a:r>
                  <a:rPr kumimoji="0" lang="ko-KR" altLang="en-US" sz="2000" dirty="0">
                    <a:solidFill>
                      <a:prstClr val="black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 용접 고장 진단 알고리즘 구축</a:t>
                </a:r>
                <a:endParaRPr kumimoji="0" lang="en-US" altLang="ko-KR" sz="2000" dirty="0">
                  <a:solidFill>
                    <a:prstClr val="black"/>
                  </a:solidFill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base" latinLnBrk="1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   -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자동차 제조용 로봇으로 사용되는 </a:t>
                </a:r>
                <a:r>
                  <a:rPr kumimoji="0" lang="ko-KR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스폿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 용접 로봇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은 일정 주기마다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전극 교체 필요</a:t>
                </a:r>
                <a:endPara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base" latinLnBrk="1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anose="02030600000101010101" pitchFamily="18" charset="-127"/>
                    <a:ea typeface="HY견고딕" panose="02030600000101010101" pitchFamily="18" charset="-127"/>
                    <a:cs typeface="Arial" panose="020B0604020202020204" pitchFamily="34" charset="0"/>
                  </a:rPr>
                  <a:t>      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kumimoji="0" lang="ko-KR" alt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스폿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 용접 횟수가 증가함에 따라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전극 팁 마모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로 인해 용접 품질 저하 </a:t>
                </a:r>
                <a:r>
                  <a:rPr kumimoji="0" lang="en-US" altLang="ko-KR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𝑬</m:t>
                    </m:r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=</m:t>
                    </m:r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𝒌</m:t>
                    </m:r>
                    <m:sSup>
                      <m:sSupPr>
                        <m:ctrlP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𝑰</m:t>
                        </m:r>
                      </m:e>
                      <m:sup>
                        <m: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𝑹𝒕</m:t>
                    </m:r>
                  </m:oMath>
                </a14:m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]</a:t>
                </a:r>
              </a:p>
              <a:p>
                <a:pPr marL="0" marR="0" lvl="0" indent="0" algn="l" defTabSz="914400" rtl="0" eaLnBrk="1" fontAlgn="base" latinLnBrk="1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      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정상 품질 기준 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: </a:t>
                </a:r>
                <a:r>
                  <a:rPr kumimoji="0"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Nugget size 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&gt; </a:t>
                </a:r>
                <a:r>
                  <a:rPr kumimoji="0"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3.58mm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  <a:sym typeface="Wingdings" panose="05000000000000000000" pitchFamily="2" charset="2"/>
                  </a:rPr>
                  <a:t> =</a:t>
                </a:r>
                <a14:m>
                  <m:oMath xmlns:m="http://schemas.openxmlformats.org/officeDocument/2006/math">
                    <m:r>
                      <a:rPr kumimoji="0" lang="en-US" altLang="ko-KR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kumimoji="0" lang="en-US" altLang="ko-K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kumimoji="0" lang="en-US" altLang="ko-KR" sz="1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HY견고딕" pitchFamily="18" charset="-127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𝟒</m:t>
                    </m:r>
                    <m:rad>
                      <m:radPr>
                        <m:degHide m:val="on"/>
                        <m:ctrlP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kumimoji="0" lang="en-US" altLang="ko-KR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HY견고딕" pitchFamily="18" charset="-127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𝒕</m:t>
                        </m:r>
                      </m:e>
                    </m:rad>
                  </m:oMath>
                </a14:m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   [t =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시편 두께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(0.8mm)]</a:t>
                </a:r>
              </a:p>
              <a:p>
                <a:pPr marL="0" marR="0" lvl="0" indent="0" algn="l" defTabSz="914400" rtl="0" eaLnBrk="1" fontAlgn="base" latinLnBrk="1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   -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로봇에 센서 부착하여 </a:t>
                </a:r>
                <a:r>
                  <a:rPr kumimoji="0" lang="en-US" altLang="ko-KR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HY견고딕" pitchFamily="18" charset="-127"/>
                    <a:cs typeface="Arial" panose="020B0604020202020204" pitchFamily="34" charset="0"/>
                  </a:rPr>
                  <a:t>GI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HY견고딕" pitchFamily="18" charset="-127"/>
                    <a:cs typeface="Arial" panose="020B0604020202020204" pitchFamily="34" charset="0"/>
                  </a:rPr>
                  <a:t>강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에 대해 가속도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,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전압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, </a:t>
                </a:r>
                <a:r>
                  <a:rPr kumimoji="0" lang="ko-KR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전류 시계열 데이터 확보 </a:t>
                </a:r>
                <a:r>
                  <a:rPr kumimoji="0"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후 </a:t>
                </a:r>
                <a:r>
                  <a:rPr kumimoji="0" lang="ko-KR" altLang="en-US" sz="1400" dirty="0">
                    <a:solidFill>
                      <a:schemeClr val="accent1"/>
                    </a:solidFill>
                    <a:latin typeface="HY견고딕" pitchFamily="18" charset="-127"/>
                    <a:ea typeface="HY견고딕" pitchFamily="18" charset="-127"/>
                    <a:cs typeface="Arial" panose="020B0604020202020204" pitchFamily="34" charset="0"/>
                  </a:rPr>
                  <a:t>고장 진단 알고리즘 구축</a:t>
                </a:r>
                <a:endParaRPr kumimoji="0" lang="en-US" altLang="ko-KR" sz="1400" dirty="0">
                  <a:solidFill>
                    <a:schemeClr val="accent1"/>
                  </a:solidFill>
                  <a:latin typeface="HY견고딕" pitchFamily="18" charset="-127"/>
                  <a:ea typeface="HY견고딕" pitchFamily="18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855" y="690564"/>
                <a:ext cx="9546680" cy="1667957"/>
              </a:xfrm>
              <a:prstGeom prst="rect">
                <a:avLst/>
              </a:prstGeom>
              <a:blipFill>
                <a:blip r:embed="rId3"/>
                <a:stretch>
                  <a:fillRect l="-639" b="-32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3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1AAA37EB-0613-52C7-E633-E9FA9DE97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24" y="3564015"/>
            <a:ext cx="10356051" cy="135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lang="ko-KR" altLang="en-US" sz="20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배터리팩</a:t>
            </a:r>
            <a:r>
              <a:rPr lang="ko-KR" altLang="en-US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하우징커버</a:t>
            </a:r>
            <a:r>
              <a:rPr lang="ko-KR" altLang="en-US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사출 공정 최적화</a:t>
            </a:r>
            <a:endParaRPr lang="en-US" altLang="ko-KR" sz="20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사출 공정은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기존 작업자 경험에 의해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Trial &amp; Error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방법으로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최적 공정 변수 도출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많은 시간 소비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소재 및 구조 변경에 따른 부족한 데이터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공정변수에 따른 품질 값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만으로 최적 공정 변수 도출 필요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공정변수 및 압력 시계열 데이터 기반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품질 예측 모델 구축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유전 알고리즘 기반 최적 공정변수 도출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C0039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데이터 증강</a:t>
            </a:r>
            <a:endParaRPr kumimoji="0" lang="en-US" altLang="ko-KR" sz="2000" dirty="0">
              <a:solidFill>
                <a:srgbClr val="AC0039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7" name="_x339606896">
            <a:extLst>
              <a:ext uri="{FF2B5EF4-FFF2-40B4-BE49-F238E27FC236}">
                <a16:creationId xmlns:a16="http://schemas.microsoft.com/office/drawing/2014/main" id="{FBE1FD2B-33AC-0032-C4EB-093EA5BC7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41"/>
          <a:stretch/>
        </p:blipFill>
        <p:spPr bwMode="auto">
          <a:xfrm>
            <a:off x="889175" y="2364991"/>
            <a:ext cx="2206440" cy="98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_x339606896">
            <a:extLst>
              <a:ext uri="{FF2B5EF4-FFF2-40B4-BE49-F238E27FC236}">
                <a16:creationId xmlns:a16="http://schemas.microsoft.com/office/drawing/2014/main" id="{349178B5-D55D-4DB5-A0A7-B316DA85E8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58"/>
          <a:stretch/>
        </p:blipFill>
        <p:spPr bwMode="auto">
          <a:xfrm>
            <a:off x="3884485" y="2368169"/>
            <a:ext cx="2206440" cy="97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955068-5AEA-18D4-2A62-81DFDB5F53D4}"/>
              </a:ext>
            </a:extLst>
          </p:cNvPr>
          <p:cNvSpPr txBox="1"/>
          <p:nvPr/>
        </p:nvSpPr>
        <p:spPr>
          <a:xfrm>
            <a:off x="555075" y="3312357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Nugget size (Normal)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927017-686B-FBC8-DBB1-715DFD99045B}"/>
              </a:ext>
            </a:extLst>
          </p:cNvPr>
          <p:cNvSpPr txBox="1"/>
          <p:nvPr/>
        </p:nvSpPr>
        <p:spPr>
          <a:xfrm>
            <a:off x="4028814" y="3331407"/>
            <a:ext cx="1917783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Nugget size (Abnormal)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FA954-F878-A853-9932-DC9F4E4BFFE8}"/>
              </a:ext>
            </a:extLst>
          </p:cNvPr>
          <p:cNvSpPr txBox="1"/>
          <p:nvPr/>
        </p:nvSpPr>
        <p:spPr>
          <a:xfrm>
            <a:off x="6982530" y="3331407"/>
            <a:ext cx="1836688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데이터 수집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Testbed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988400-E094-17AB-0525-BEC35C2B292C}"/>
              </a:ext>
            </a:extLst>
          </p:cNvPr>
          <p:cNvGrpSpPr/>
          <p:nvPr/>
        </p:nvGrpSpPr>
        <p:grpSpPr>
          <a:xfrm>
            <a:off x="6796668" y="2327910"/>
            <a:ext cx="2208413" cy="1124601"/>
            <a:chOff x="6796668" y="2343150"/>
            <a:chExt cx="2208413" cy="112460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FD647B5-5CEC-B1A8-A882-A306F426C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6668" y="2343150"/>
              <a:ext cx="2208413" cy="1124601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DB90CAF-F3DC-AEBB-BDB0-8491A5B4EBCA}"/>
                </a:ext>
              </a:extLst>
            </p:cNvPr>
            <p:cNvSpPr/>
            <p:nvPr/>
          </p:nvSpPr>
          <p:spPr>
            <a:xfrm>
              <a:off x="7080820" y="3343610"/>
              <a:ext cx="647130" cy="900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3C9A0E4-345B-4383-3102-4CA2BD51A347}"/>
              </a:ext>
            </a:extLst>
          </p:cNvPr>
          <p:cNvSpPr/>
          <p:nvPr/>
        </p:nvSpPr>
        <p:spPr>
          <a:xfrm>
            <a:off x="677525" y="5077381"/>
            <a:ext cx="2770698" cy="1591003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75AF9BD-C94C-1ED3-63DE-E3879FFEDFD5}"/>
              </a:ext>
            </a:extLst>
          </p:cNvPr>
          <p:cNvSpPr/>
          <p:nvPr/>
        </p:nvSpPr>
        <p:spPr>
          <a:xfrm>
            <a:off x="3602850" y="5077381"/>
            <a:ext cx="2715120" cy="1591003"/>
          </a:xfrm>
          <a:prstGeom prst="rect">
            <a:avLst/>
          </a:prstGeom>
          <a:noFill/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3DB1B6-5F0B-7F84-E171-166E89C01CAF}"/>
              </a:ext>
            </a:extLst>
          </p:cNvPr>
          <p:cNvSpPr/>
          <p:nvPr/>
        </p:nvSpPr>
        <p:spPr>
          <a:xfrm>
            <a:off x="6472578" y="5077381"/>
            <a:ext cx="2715120" cy="1591003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A9A869-9B18-3B2C-5997-D8573F99B36F}"/>
              </a:ext>
            </a:extLst>
          </p:cNvPr>
          <p:cNvSpPr/>
          <p:nvPr/>
        </p:nvSpPr>
        <p:spPr>
          <a:xfrm>
            <a:off x="964127" y="4963081"/>
            <a:ext cx="2176875" cy="25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소재 및 구조 최적화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4CC7691-CD66-554B-F7AF-2E72344101F0}"/>
              </a:ext>
            </a:extLst>
          </p:cNvPr>
          <p:cNvSpPr/>
          <p:nvPr/>
        </p:nvSpPr>
        <p:spPr>
          <a:xfrm>
            <a:off x="6739910" y="4928790"/>
            <a:ext cx="2222049" cy="344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생산 과정 중 제품 품질 관리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78DD175-8A35-523A-7C22-41FC586965D2}"/>
              </a:ext>
            </a:extLst>
          </p:cNvPr>
          <p:cNvSpPr/>
          <p:nvPr/>
        </p:nvSpPr>
        <p:spPr>
          <a:xfrm>
            <a:off x="3962120" y="4925830"/>
            <a:ext cx="2084595" cy="347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사출 성형 공정</a:t>
            </a:r>
            <a:endParaRPr lang="en-US" altLang="ko-KR" sz="1200" dirty="0">
              <a:solidFill>
                <a:schemeClr val="accent4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최적 공정변수 도출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BBE8362C-DC57-7547-94F9-B854DFD3506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264" b="1"/>
          <a:stretch/>
        </p:blipFill>
        <p:spPr>
          <a:xfrm>
            <a:off x="784892" y="5358196"/>
            <a:ext cx="1244740" cy="881838"/>
          </a:xfrm>
          <a:prstGeom prst="rec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C958287E-5761-6F6B-7821-472AC9B9C17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71" t="4065" r="1161" b="3668"/>
          <a:stretch/>
        </p:blipFill>
        <p:spPr>
          <a:xfrm>
            <a:off x="2122068" y="5358034"/>
            <a:ext cx="1255757" cy="882000"/>
          </a:xfrm>
          <a:prstGeom prst="rect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65BFFCC-4B4A-0AFD-ED4A-66FFB9E14A19}"/>
              </a:ext>
            </a:extLst>
          </p:cNvPr>
          <p:cNvSpPr txBox="1"/>
          <p:nvPr/>
        </p:nvSpPr>
        <p:spPr>
          <a:xfrm>
            <a:off x="890855" y="6283618"/>
            <a:ext cx="1032815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단순 모델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8ACA58-1708-F90B-4F91-CFA3CCF7B3FF}"/>
              </a:ext>
            </a:extLst>
          </p:cNvPr>
          <p:cNvSpPr txBox="1"/>
          <p:nvPr/>
        </p:nvSpPr>
        <p:spPr>
          <a:xfrm>
            <a:off x="2223061" y="6283618"/>
            <a:ext cx="1032815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최적 모델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68F647A-6227-A266-E296-19CA1E2C540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3" t="5974" r="478" b="13341"/>
          <a:stretch/>
        </p:blipFill>
        <p:spPr>
          <a:xfrm>
            <a:off x="3750430" y="5357223"/>
            <a:ext cx="1464448" cy="927761"/>
          </a:xfrm>
          <a:prstGeom prst="rect">
            <a:avLst/>
          </a:prstGeom>
        </p:spPr>
      </p:pic>
      <p:sp>
        <p:nvSpPr>
          <p:cNvPr id="52" name="TextBox 98">
            <a:extLst>
              <a:ext uri="{FF2B5EF4-FFF2-40B4-BE49-F238E27FC236}">
                <a16:creationId xmlns:a16="http://schemas.microsoft.com/office/drawing/2014/main" id="{1F5C0B18-78A7-670E-33B8-59DA1C8B0602}"/>
              </a:ext>
            </a:extLst>
          </p:cNvPr>
          <p:cNvSpPr txBox="1"/>
          <p:nvPr/>
        </p:nvSpPr>
        <p:spPr>
          <a:xfrm>
            <a:off x="3722739" y="6268274"/>
            <a:ext cx="1531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Injection</a:t>
            </a: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Molding</a:t>
            </a:r>
          </a:p>
          <a:p>
            <a:pPr algn="ctr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Machine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53" name="그림 11">
            <a:extLst>
              <a:ext uri="{FF2B5EF4-FFF2-40B4-BE49-F238E27FC236}">
                <a16:creationId xmlns:a16="http://schemas.microsoft.com/office/drawing/2014/main" id="{AAF5970B-A363-6C20-F645-9B9698505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5210509" y="5385796"/>
            <a:ext cx="462571" cy="96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6A9773A-FC80-91D4-0B2B-6E2A18E000D5}"/>
              </a:ext>
            </a:extLst>
          </p:cNvPr>
          <p:cNvSpPr txBox="1"/>
          <p:nvPr/>
        </p:nvSpPr>
        <p:spPr>
          <a:xfrm>
            <a:off x="5613266" y="5495501"/>
            <a:ext cx="68988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금형온도</a:t>
            </a:r>
            <a:r>
              <a:rPr kumimoji="0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kumimoji="0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사출속도</a:t>
            </a:r>
            <a:r>
              <a:rPr kumimoji="0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kumimoji="0"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</a:rPr>
              <a:t>보압</a:t>
            </a:r>
            <a:endParaRPr kumimoji="0"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E4FA1E4E-FBF9-1B61-5D4C-46E00D1439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3370" y="5328830"/>
            <a:ext cx="2022290" cy="102176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AD7C75A-253D-7F6F-3A3C-376D4DED61D4}"/>
              </a:ext>
            </a:extLst>
          </p:cNvPr>
          <p:cNvSpPr txBox="1"/>
          <p:nvPr/>
        </p:nvSpPr>
        <p:spPr>
          <a:xfrm>
            <a:off x="7170210" y="6302522"/>
            <a:ext cx="1190245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품질 모니터링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257766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471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로봇 </a:t>
            </a:r>
            <a:r>
              <a:rPr kumimoji="0" lang="ko-KR" altLang="en-US" sz="2000" dirty="0" err="1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스폿</a:t>
            </a:r>
            <a:r>
              <a:rPr kumimoji="0" lang="ko-KR" altLang="en-US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용접 고장 진단 알고리즘 구축</a:t>
            </a:r>
            <a:endParaRPr kumimoji="0" lang="en-US" altLang="ko-KR" sz="20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>
                <a:solidFill>
                  <a:schemeClr val="accent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용접 시계열 데이터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당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270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개의 </a:t>
            </a:r>
            <a:r>
              <a:rPr kumimoji="0" lang="ko-KR" altLang="en-US" sz="1400" dirty="0">
                <a:solidFill>
                  <a:schemeClr val="accent5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특징 값 추출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3 sensors, time domain + 8 wavelet level, 10 Features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정상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180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개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고장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180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개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DATA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의 특징 값 추출 후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t-test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결과값 </a:t>
            </a:r>
            <a:r>
              <a:rPr kumimoji="0" lang="en-US" altLang="ko-KR" sz="1400" b="1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P-value</a:t>
            </a:r>
            <a:r>
              <a:rPr kumimoji="0" lang="en-US" altLang="ko-KR" sz="1400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상위 </a:t>
            </a:r>
            <a:r>
              <a:rPr kumimoji="0" lang="en-US" altLang="ko-KR" sz="1400" b="1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30</a:t>
            </a:r>
            <a:r>
              <a:rPr kumimoji="0" lang="ko-KR" altLang="en-US" sz="1400" dirty="0">
                <a:solidFill>
                  <a:srgbClr val="CE767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 특징 선택</a:t>
            </a: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dirty="0">
              <a:solidFill>
                <a:srgbClr val="CE7674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en-US" altLang="ko-KR" sz="1400" b="1" dirty="0">
                <a:solidFill>
                  <a:schemeClr val="accent3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kumimoji="0" lang="ko-KR" altLang="en-US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가지 예측모델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SVM, KNN, ANN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생성 후 </a:t>
            </a:r>
            <a:r>
              <a:rPr kumimoji="0" lang="en-US" altLang="ko-KR" sz="1400" b="1" dirty="0">
                <a:solidFill>
                  <a:schemeClr val="accent3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K fold </a:t>
            </a:r>
            <a:r>
              <a:rPr kumimoji="0" lang="ko-KR" altLang="en-US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교차 검증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수행 결과 </a:t>
            </a:r>
            <a:r>
              <a:rPr kumimoji="0" lang="en-US" altLang="ko-KR" sz="1400" b="1" dirty="0">
                <a:solidFill>
                  <a:schemeClr val="accent3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ANN</a:t>
            </a:r>
            <a:r>
              <a:rPr kumimoji="0" lang="en-US" altLang="ko-KR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성능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 가장 </a:t>
            </a:r>
            <a:r>
              <a:rPr kumimoji="0" lang="ko-KR" altLang="en-US" sz="1400" dirty="0">
                <a:solidFill>
                  <a:schemeClr val="accent3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우수</a:t>
            </a:r>
            <a:endParaRPr kumimoji="0" lang="en-US" altLang="ko-KR" sz="1400" dirty="0">
              <a:solidFill>
                <a:schemeClr val="accent3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-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GI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강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0.6t</a:t>
            </a:r>
            <a:r>
              <a:rPr kumimoji="0"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및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0.8t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에 대한 정상과 고장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군집 확인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(</a:t>
            </a:r>
            <a:r>
              <a:rPr kumimoji="0" lang="en-US" altLang="ko-KR" sz="1400" b="1" dirty="0">
                <a:solidFill>
                  <a:schemeClr val="accent4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K means clustering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)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결과 </a:t>
            </a:r>
            <a:r>
              <a:rPr kumimoji="0" lang="ko-KR" altLang="en-US" sz="1400" dirty="0">
                <a:solidFill>
                  <a:schemeClr val="accent4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두께에 대한 강건성 검증 확인</a:t>
            </a:r>
            <a:endParaRPr kumimoji="0" lang="en-US" altLang="ko-KR" sz="1400" dirty="0">
              <a:solidFill>
                <a:schemeClr val="accent4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4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AAE6DA-A77A-3A0E-519F-1395CB801BBC}"/>
              </a:ext>
            </a:extLst>
          </p:cNvPr>
          <p:cNvSpPr txBox="1"/>
          <p:nvPr/>
        </p:nvSpPr>
        <p:spPr>
          <a:xfrm>
            <a:off x="199186" y="60064"/>
            <a:ext cx="102924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Project Detail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F90FFD-5571-FB11-CA51-F34E4353E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41" y="1861698"/>
            <a:ext cx="2056052" cy="3671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6A84D8E-7C92-B512-DCDE-81F0F8513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567" y="1861698"/>
            <a:ext cx="3377800" cy="252417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2F73448D-8B37-FD26-F6EE-F1E394CEB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444" y="1840188"/>
            <a:ext cx="1265832" cy="976499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A2A3E4D3-D15F-1EE5-9F86-19E71EB61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968" y="1826186"/>
            <a:ext cx="1706257" cy="964794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7FDBA5FF-7DC9-0049-C670-062D6972D0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825" y="3175573"/>
            <a:ext cx="1721095" cy="97732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88946CD-A370-4CEA-CDCF-131C604580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5526" y="3895725"/>
            <a:ext cx="993820" cy="390526"/>
          </a:xfrm>
          <a:prstGeom prst="rect">
            <a:avLst/>
          </a:prstGeom>
        </p:spPr>
      </p:pic>
      <p:pic>
        <p:nvPicPr>
          <p:cNvPr id="68" name="Picture 2">
            <a:extLst>
              <a:ext uri="{FF2B5EF4-FFF2-40B4-BE49-F238E27FC236}">
                <a16:creationId xmlns:a16="http://schemas.microsoft.com/office/drawing/2014/main" id="{35731B7E-D3CC-EBB4-FAC9-CD0A8D36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295" y="3219450"/>
            <a:ext cx="1548826" cy="104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9018BA73-A7FE-414B-9628-5F68EB78A897}"/>
              </a:ext>
            </a:extLst>
          </p:cNvPr>
          <p:cNvGraphicFramePr>
            <a:graphicFrameLocks noGrp="1"/>
          </p:cNvGraphicFramePr>
          <p:nvPr/>
        </p:nvGraphicFramePr>
        <p:xfrm>
          <a:off x="435819" y="5151238"/>
          <a:ext cx="2367943" cy="1244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541">
                  <a:extLst>
                    <a:ext uri="{9D8B030D-6E8A-4147-A177-3AD203B41FA5}">
                      <a16:colId xmlns:a16="http://schemas.microsoft.com/office/drawing/2014/main" val="2279437104"/>
                    </a:ext>
                  </a:extLst>
                </a:gridCol>
                <a:gridCol w="574134">
                  <a:extLst>
                    <a:ext uri="{9D8B030D-6E8A-4147-A177-3AD203B41FA5}">
                      <a16:colId xmlns:a16="http://schemas.microsoft.com/office/drawing/2014/main" val="3957815180"/>
                    </a:ext>
                  </a:extLst>
                </a:gridCol>
                <a:gridCol w="574134">
                  <a:extLst>
                    <a:ext uri="{9D8B030D-6E8A-4147-A177-3AD203B41FA5}">
                      <a16:colId xmlns:a16="http://schemas.microsoft.com/office/drawing/2014/main" val="291687709"/>
                    </a:ext>
                  </a:extLst>
                </a:gridCol>
                <a:gridCol w="574134">
                  <a:extLst>
                    <a:ext uri="{9D8B030D-6E8A-4147-A177-3AD203B41FA5}">
                      <a16:colId xmlns:a16="http://schemas.microsoft.com/office/drawing/2014/main" val="1730619824"/>
                    </a:ext>
                  </a:extLst>
                </a:gridCol>
              </a:tblGrid>
              <a:tr h="165979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(%)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017" marR="60017" marT="30008" marB="3000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21" marR="55521" marT="27760" marB="2776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21" marR="55521" marT="27760" marB="27760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67255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SVM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KNN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723261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1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90.62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93.75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96.88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13506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2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95.31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98.44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11351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3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96.88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29980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98.44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4859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5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98.44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924877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 Average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96.25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98.44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99.06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348039"/>
                  </a:ext>
                </a:extLst>
              </a:tr>
              <a:tr h="13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Score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97.50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97.50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974" marR="35974" marT="17986" marB="17986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629247"/>
                  </a:ext>
                </a:extLst>
              </a:tr>
            </a:tbl>
          </a:graphicData>
        </a:graphic>
      </p:graphicFrame>
      <p:pic>
        <p:nvPicPr>
          <p:cNvPr id="70" name="그림 69">
            <a:extLst>
              <a:ext uri="{FF2B5EF4-FFF2-40B4-BE49-F238E27FC236}">
                <a16:creationId xmlns:a16="http://schemas.microsoft.com/office/drawing/2014/main" id="{FCBC54EA-B072-C432-88C7-2BEB1324FE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1361" y="5139190"/>
            <a:ext cx="2566704" cy="1209171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832A10BA-DAA3-6331-4776-50F3FC4C4A9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58130"/>
          <a:stretch/>
        </p:blipFill>
        <p:spPr>
          <a:xfrm>
            <a:off x="5713076" y="5202207"/>
            <a:ext cx="1800243" cy="1197123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F39D1D00-13F6-7CFB-9BD3-78929ADF15D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7911"/>
          <a:stretch/>
        </p:blipFill>
        <p:spPr>
          <a:xfrm>
            <a:off x="7962899" y="5202207"/>
            <a:ext cx="1809643" cy="119712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371536CF-2112-2D92-0637-1B80D22ACF09}"/>
              </a:ext>
            </a:extLst>
          </p:cNvPr>
          <p:cNvSpPr txBox="1"/>
          <p:nvPr/>
        </p:nvSpPr>
        <p:spPr>
          <a:xfrm>
            <a:off x="7334983" y="5870390"/>
            <a:ext cx="843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Clustering</a:t>
            </a:r>
          </a:p>
          <a:p>
            <a:pPr algn="ctr"/>
            <a:r>
              <a:rPr kumimoji="0"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(n=2)</a:t>
            </a:r>
            <a:r>
              <a:rPr kumimoji="0"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화살표: 오른쪽 73">
            <a:extLst>
              <a:ext uri="{FF2B5EF4-FFF2-40B4-BE49-F238E27FC236}">
                <a16:creationId xmlns:a16="http://schemas.microsoft.com/office/drawing/2014/main" id="{ACEBA8BE-CFCA-7C66-3CC4-34DBD167EC31}"/>
              </a:ext>
            </a:extLst>
          </p:cNvPr>
          <p:cNvSpPr/>
          <p:nvPr/>
        </p:nvSpPr>
        <p:spPr>
          <a:xfrm>
            <a:off x="7523845" y="5720846"/>
            <a:ext cx="473262" cy="14401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14689C-4E86-C742-456E-33EBCD23EBDA}"/>
              </a:ext>
            </a:extLst>
          </p:cNvPr>
          <p:cNvSpPr txBox="1"/>
          <p:nvPr/>
        </p:nvSpPr>
        <p:spPr>
          <a:xfrm>
            <a:off x="2999346" y="6401158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ANN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분류 성능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88097C-ED2F-13AA-8FC3-A1311BF6919E}"/>
              </a:ext>
            </a:extLst>
          </p:cNvPr>
          <p:cNvSpPr txBox="1"/>
          <p:nvPr/>
        </p:nvSpPr>
        <p:spPr>
          <a:xfrm>
            <a:off x="182470" y="6401158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예측 모델 분류 성능 비교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BA93F10-E8FA-4922-16D6-BE3D71F0EA5E}"/>
              </a:ext>
            </a:extLst>
          </p:cNvPr>
          <p:cNvSpPr txBox="1"/>
          <p:nvPr/>
        </p:nvSpPr>
        <p:spPr>
          <a:xfrm>
            <a:off x="6435966" y="6401158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비지도 학습 기반 강건성 검증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41C1C65-A84B-C355-E7DE-3A386EC0BEA1}"/>
              </a:ext>
            </a:extLst>
          </p:cNvPr>
          <p:cNvSpPr/>
          <p:nvPr/>
        </p:nvSpPr>
        <p:spPr>
          <a:xfrm>
            <a:off x="7939088" y="2256429"/>
            <a:ext cx="203080" cy="14401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6B4E8EAC-A52E-4AF9-0BB0-DD2F61A90A98}"/>
              </a:ext>
            </a:extLst>
          </p:cNvPr>
          <p:cNvSpPr/>
          <p:nvPr/>
        </p:nvSpPr>
        <p:spPr>
          <a:xfrm flipH="1">
            <a:off x="7939088" y="3615859"/>
            <a:ext cx="203080" cy="14401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2199F8C-5948-3D49-42D4-86A7793E189E}"/>
              </a:ext>
            </a:extLst>
          </p:cNvPr>
          <p:cNvSpPr/>
          <p:nvPr/>
        </p:nvSpPr>
        <p:spPr>
          <a:xfrm rot="5400000">
            <a:off x="8832253" y="2907565"/>
            <a:ext cx="282238" cy="14401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FC72625-8BDF-0B53-791D-1E1D5465F4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110" y="2195125"/>
            <a:ext cx="6049271" cy="215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619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lang="ko-KR" altLang="en-US" sz="20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배터리팩</a:t>
            </a:r>
            <a:r>
              <a:rPr lang="ko-KR" altLang="en-US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하우징커버</a:t>
            </a:r>
            <a:r>
              <a:rPr lang="ko-KR" altLang="en-US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사출공정 최적화</a:t>
            </a:r>
            <a:endParaRPr kumimoji="0" lang="en-US" altLang="ko-KR" sz="20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125case(3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요인</a:t>
            </a:r>
            <a:r>
              <a:rPr kumimoji="0"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5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수준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에 대하여 공정변수에 따른 품질 값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압력 시계열 데이터 수집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  -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반응표면법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en-US" altLang="ko-KR" sz="1400" b="1" dirty="0">
                <a:solidFill>
                  <a:schemeClr val="accent3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ANN, CNN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공정변수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에 따른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품질 예측 모델 구축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-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노즐 및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7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개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Gate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압력 시계열 데이터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품질 예측 모델 구축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MAPE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그래프를 통해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Overfitting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 아님을 확인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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특징값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Pi, Ph, Pp, </a:t>
            </a:r>
            <a:r>
              <a:rPr kumimoji="0"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Pr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 추출 후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VIF(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Variance Inflation Factor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10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이하인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특징값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선택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하여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회귀식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구축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noProof="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- </a:t>
            </a:r>
            <a:r>
              <a:rPr kumimoji="0" lang="en-US" altLang="ko-KR" sz="1400" b="1" dirty="0">
                <a:solidFill>
                  <a:schemeClr val="accent6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Genetic Algorithm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</a:t>
            </a:r>
            <a:r>
              <a:rPr kumimoji="0" lang="ko-KR" altLang="en-US" sz="1400" dirty="0">
                <a:solidFill>
                  <a:schemeClr val="accent6"/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최적 공정 변수 도출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kumimoji="0" lang="en-US" altLang="ko-KR" sz="1400" b="1" dirty="0">
                <a:solidFill>
                  <a:schemeClr val="accent1"/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VAE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Variational</a:t>
            </a:r>
            <a:r>
              <a:rPr kumimoji="0"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Auto-Encoder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 증강</a:t>
            </a:r>
            <a:endParaRPr kumimoji="0" lang="en-US" altLang="ko-KR" sz="1400" dirty="0">
              <a:solidFill>
                <a:schemeClr val="accent1"/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시뮬레이션 결과 오차율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0.02%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                   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품질 예측 알고리즘 성능 약간 향상 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                                   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전이학습 적용 예정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5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AAE6DA-A77A-3A0E-519F-1395CB801BBC}"/>
              </a:ext>
            </a:extLst>
          </p:cNvPr>
          <p:cNvSpPr txBox="1"/>
          <p:nvPr/>
        </p:nvSpPr>
        <p:spPr>
          <a:xfrm>
            <a:off x="199186" y="60064"/>
            <a:ext cx="102924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Project Detail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45C4D267-184E-F1D1-B114-2BC633465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612" y="2692706"/>
            <a:ext cx="2039060" cy="138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DC03465-5C2B-9DE9-BC73-59FBF9E72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23" y="1253935"/>
            <a:ext cx="1293104" cy="9331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7690EAF2-7D46-401D-A839-698373C0C62D}"/>
              </a:ext>
            </a:extLst>
          </p:cNvPr>
          <p:cNvGraphicFramePr>
            <a:graphicFrameLocks noGrp="1"/>
          </p:cNvGraphicFramePr>
          <p:nvPr/>
        </p:nvGraphicFramePr>
        <p:xfrm>
          <a:off x="6230560" y="1511673"/>
          <a:ext cx="2134445" cy="671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970">
                  <a:extLst>
                    <a:ext uri="{9D8B030D-6E8A-4147-A177-3AD203B41FA5}">
                      <a16:colId xmlns:a16="http://schemas.microsoft.com/office/drawing/2014/main" val="2279437104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1730619824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2893598008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4032001310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3794575731"/>
                    </a:ext>
                  </a:extLst>
                </a:gridCol>
                <a:gridCol w="294895">
                  <a:extLst>
                    <a:ext uri="{9D8B030D-6E8A-4147-A177-3AD203B41FA5}">
                      <a16:colId xmlns:a16="http://schemas.microsoft.com/office/drawing/2014/main" val="2801144332"/>
                    </a:ext>
                  </a:extLst>
                </a:gridCol>
              </a:tblGrid>
              <a:tr h="135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Level 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765" marR="5765" marT="5765" marB="57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7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7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7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5765" marR="5765" marT="5765" marB="57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13506"/>
                  </a:ext>
                </a:extLst>
              </a:tr>
              <a:tr h="1785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보압</a:t>
                      </a:r>
                      <a:r>
                        <a:rPr lang="ko-KR" alt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(MPa)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765" marR="5765" marT="5765" marB="57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29.58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59.16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88.74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118.32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147.9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011351"/>
                  </a:ext>
                </a:extLst>
              </a:tr>
              <a:tr h="1785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사출 속도 </a:t>
                      </a:r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(cc/s)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765" marR="5765" marT="5765" marB="57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180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240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429980"/>
                  </a:ext>
                </a:extLst>
              </a:tr>
              <a:tr h="1785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금형 온도 </a:t>
                      </a:r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℃</a:t>
                      </a:r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765" marR="5765" marT="5765" marB="57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25</a:t>
                      </a:r>
                      <a:endParaRPr lang="en-US" altLang="ko-KR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145</a:t>
                      </a:r>
                    </a:p>
                  </a:txBody>
                  <a:tcPr marL="3051" marR="3051" marT="3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04859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1B8D4F8-CD08-A7AA-52A2-29D56F5A5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945" y="2670264"/>
            <a:ext cx="2520091" cy="13462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986B9EB-6ED0-1BE7-B849-80C6B7F7A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990682"/>
            <a:ext cx="1552575" cy="1447143"/>
          </a:xfrm>
          <a:prstGeom prst="rect">
            <a:avLst/>
          </a:prstGeom>
        </p:spPr>
      </p:pic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A69C31EE-ABE6-2FFB-7C0E-EA2433210D54}"/>
              </a:ext>
            </a:extLst>
          </p:cNvPr>
          <p:cNvGraphicFramePr>
            <a:graphicFrameLocks noGrp="1"/>
          </p:cNvGraphicFramePr>
          <p:nvPr/>
        </p:nvGraphicFramePr>
        <p:xfrm>
          <a:off x="1971675" y="5159302"/>
          <a:ext cx="2646523" cy="1078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357">
                  <a:extLst>
                    <a:ext uri="{9D8B030D-6E8A-4147-A177-3AD203B41FA5}">
                      <a16:colId xmlns:a16="http://schemas.microsoft.com/office/drawing/2014/main" val="2343769304"/>
                    </a:ext>
                  </a:extLst>
                </a:gridCol>
                <a:gridCol w="506170">
                  <a:extLst>
                    <a:ext uri="{9D8B030D-6E8A-4147-A177-3AD203B41FA5}">
                      <a16:colId xmlns:a16="http://schemas.microsoft.com/office/drawing/2014/main" val="4023351677"/>
                    </a:ext>
                  </a:extLst>
                </a:gridCol>
                <a:gridCol w="506170">
                  <a:extLst>
                    <a:ext uri="{9D8B030D-6E8A-4147-A177-3AD203B41FA5}">
                      <a16:colId xmlns:a16="http://schemas.microsoft.com/office/drawing/2014/main" val="1470300393"/>
                    </a:ext>
                  </a:extLst>
                </a:gridCol>
                <a:gridCol w="506170">
                  <a:extLst>
                    <a:ext uri="{9D8B030D-6E8A-4147-A177-3AD203B41FA5}">
                      <a16:colId xmlns:a16="http://schemas.microsoft.com/office/drawing/2014/main" val="2370461009"/>
                    </a:ext>
                  </a:extLst>
                </a:gridCol>
                <a:gridCol w="658656">
                  <a:extLst>
                    <a:ext uri="{9D8B030D-6E8A-4147-A177-3AD203B41FA5}">
                      <a16:colId xmlns:a16="http://schemas.microsoft.com/office/drawing/2014/main" val="2383326520"/>
                    </a:ext>
                  </a:extLst>
                </a:gridCol>
              </a:tblGrid>
              <a:tr h="19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금형 온도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사출 속도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보압</a:t>
                      </a:r>
                      <a:endParaRPr lang="ko-KR" altLang="en-US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CNN </a:t>
                      </a:r>
                      <a:r>
                        <a:rPr lang="ko-KR" altLang="en-US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예측모델</a:t>
                      </a:r>
                      <a:r>
                        <a:rPr lang="en-US" altLang="ko-KR" sz="600" b="1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Filling rate</a:t>
                      </a:r>
                      <a:endParaRPr lang="ko-KR" altLang="en-US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598958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66</a:t>
                      </a:r>
                      <a:endParaRPr lang="en-US" altLang="ko-KR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1.002318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850704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49</a:t>
                      </a:r>
                      <a:endParaRPr lang="en-US" altLang="ko-KR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1.001248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037965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0.999502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33842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44</a:t>
                      </a:r>
                      <a:endParaRPr lang="en-US" altLang="ko-KR" sz="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1.000134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080006"/>
                  </a:ext>
                </a:extLst>
              </a:tr>
              <a:tr h="176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</a:t>
                      </a:r>
                      <a:endParaRPr lang="ko-KR" altLang="en-US" sz="6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kern="1200" dirty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1.000067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499025"/>
                  </a:ext>
                </a:extLst>
              </a:tr>
            </a:tbl>
          </a:graphicData>
        </a:graphic>
      </p:graphicFrame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CA35874E-F7CE-4615-5A68-E3C5BBA85AD7}"/>
              </a:ext>
            </a:extLst>
          </p:cNvPr>
          <p:cNvGraphicFramePr>
            <a:graphicFrameLocks noGrp="1"/>
          </p:cNvGraphicFramePr>
          <p:nvPr/>
        </p:nvGraphicFramePr>
        <p:xfrm>
          <a:off x="7831384" y="5590488"/>
          <a:ext cx="2013799" cy="463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31">
                  <a:extLst>
                    <a:ext uri="{9D8B030D-6E8A-4147-A177-3AD203B41FA5}">
                      <a16:colId xmlns:a16="http://schemas.microsoft.com/office/drawing/2014/main" val="2279437104"/>
                    </a:ext>
                  </a:extLst>
                </a:gridCol>
                <a:gridCol w="662434">
                  <a:extLst>
                    <a:ext uri="{9D8B030D-6E8A-4147-A177-3AD203B41FA5}">
                      <a16:colId xmlns:a16="http://schemas.microsoft.com/office/drawing/2014/main" val="3957815180"/>
                    </a:ext>
                  </a:extLst>
                </a:gridCol>
                <a:gridCol w="662434">
                  <a:extLst>
                    <a:ext uri="{9D8B030D-6E8A-4147-A177-3AD203B41FA5}">
                      <a16:colId xmlns:a16="http://schemas.microsoft.com/office/drawing/2014/main" val="2282743051"/>
                    </a:ext>
                  </a:extLst>
                </a:gridCol>
              </a:tblGrid>
              <a:tr h="2547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실제 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Data /</a:t>
                      </a:r>
                    </a:p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가상 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Data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6059" marR="36059" marT="18029" marB="1802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54case / 0case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6059" marR="36059" marT="18029" marB="1802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54case / 27case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36059" marR="36059" marT="18029" marB="18029"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227438"/>
                  </a:ext>
                </a:extLst>
              </a:tr>
              <a:tr h="2087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59" marR="36059" marT="18029" marB="1802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95.37 %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9646" marR="59646" marT="29823" marB="2982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95.46 %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9646" marR="59646" marT="29823" marB="29823" anchor="ctr">
                    <a:lnL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348039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D9BF776-67ED-78AF-0ECF-4F6351982157}"/>
              </a:ext>
            </a:extLst>
          </p:cNvPr>
          <p:cNvGraphicFramePr>
            <a:graphicFrameLocks noGrp="1"/>
          </p:cNvGraphicFramePr>
          <p:nvPr/>
        </p:nvGraphicFramePr>
        <p:xfrm>
          <a:off x="357847" y="2663915"/>
          <a:ext cx="4629660" cy="1382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80">
                  <a:extLst>
                    <a:ext uri="{9D8B030D-6E8A-4147-A177-3AD203B41FA5}">
                      <a16:colId xmlns:a16="http://schemas.microsoft.com/office/drawing/2014/main" val="2279437104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3957815180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1730619824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2282743051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1658447186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2617924938"/>
                    </a:ext>
                  </a:extLst>
                </a:gridCol>
                <a:gridCol w="661380">
                  <a:extLst>
                    <a:ext uri="{9D8B030D-6E8A-4147-A177-3AD203B41FA5}">
                      <a16:colId xmlns:a16="http://schemas.microsoft.com/office/drawing/2014/main" val="303458807"/>
                    </a:ext>
                  </a:extLst>
                </a:gridCol>
              </a:tblGrid>
              <a:tr h="1452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Data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058" marR="40058" marT="20029" marB="200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RSM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회귀 식</a:t>
                      </a:r>
                    </a:p>
                  </a:txBody>
                  <a:tcPr marL="40058" marR="40058" marT="20029" marB="200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5280" marR="55280" marT="27640" marB="276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ANN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40058" marR="40058" marT="20029" marB="200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5280" marR="55280" marT="27640" marB="2764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Arial" panose="020B0604020202020204" pitchFamily="34" charset="0"/>
                        </a:rPr>
                        <a:t>CNN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40058" marR="40058" marT="20029" marB="2002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55280" marR="55280" marT="27640" marB="2764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227438"/>
                  </a:ext>
                </a:extLst>
              </a:tr>
              <a:tr h="255713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Data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280" marR="55280" marT="27640" marB="2764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Process Parameter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Feature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Process Parameter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Feature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Process Parameter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Feature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723261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1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55.29 %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99.08 %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74.92 %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97.78 %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99.21 %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99.21 %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13506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2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93.91 %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90.07 %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95.85 %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99.06 %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11351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3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93.12 %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99.26 %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94.57 %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97.01 %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99.84 %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99.84 %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29980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4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94.50 %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99.60 %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93.71 %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4859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 5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89.28 %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99.16 %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98.00 %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99.78 %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924877"/>
                  </a:ext>
                </a:extLst>
              </a:tr>
              <a:tr h="163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85.22 %</a:t>
                      </a:r>
                      <a:endParaRPr lang="ko-KR" altLang="en-US" sz="7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6399" marR="46399" marT="23199" marB="23199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97.53 %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93.18 %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97.11 %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050" marR="28050" marT="14025" marB="140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99.67 %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845" marR="34845" marT="17422" marB="174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3480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B46329F4-F3B7-40E2-6C27-72C9A50D41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889" y="5317104"/>
            <a:ext cx="2908568" cy="11206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1A343E-7279-23D1-ED88-95BC7B119299}"/>
              </a:ext>
            </a:extLst>
          </p:cNvPr>
          <p:cNvSpPr txBox="1"/>
          <p:nvPr/>
        </p:nvSpPr>
        <p:spPr>
          <a:xfrm>
            <a:off x="1129131" y="4059071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예측 모델 예측 성능 비교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B3B49A-8225-A7C6-F822-82ACAB155D3A}"/>
              </a:ext>
            </a:extLst>
          </p:cNvPr>
          <p:cNvSpPr txBox="1"/>
          <p:nvPr/>
        </p:nvSpPr>
        <p:spPr>
          <a:xfrm>
            <a:off x="5676545" y="4059071"/>
            <a:ext cx="1155795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MAPE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그래프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B5B6C9-28DD-4C97-ADAC-3C3135BF6335}"/>
              </a:ext>
            </a:extLst>
          </p:cNvPr>
          <p:cNvSpPr txBox="1"/>
          <p:nvPr/>
        </p:nvSpPr>
        <p:spPr>
          <a:xfrm>
            <a:off x="7067670" y="4059070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압력 시계열 데이터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E1FC09-1B1D-1716-7178-3181E8E3E7DD}"/>
              </a:ext>
            </a:extLst>
          </p:cNvPr>
          <p:cNvSpPr txBox="1"/>
          <p:nvPr/>
        </p:nvSpPr>
        <p:spPr>
          <a:xfrm>
            <a:off x="1081506" y="6422362"/>
            <a:ext cx="2874640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Genetic Algorithm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구조 및 결과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4B9D1D-EF4C-104A-B6D2-493839CDF289}"/>
              </a:ext>
            </a:extLst>
          </p:cNvPr>
          <p:cNvSpPr txBox="1"/>
          <p:nvPr/>
        </p:nvSpPr>
        <p:spPr>
          <a:xfrm>
            <a:off x="5924550" y="6422362"/>
            <a:ext cx="3165571" cy="29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VAE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구조 및 품질 예측 모델 성능 비교 결과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04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1674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데이터가 지수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(index)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변환되면서 시간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정보등의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정보 손실이 발생하여 저주파 대역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이상음과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특정 고주파 대역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징징거림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붕 뜨는 소리 등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불량 검출 어려웠습니다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Deep Learning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검사에서는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데이터를 주파수 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지수로 변환하는 게 아니라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주파수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시간을 모두 표현 할 수 있는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변환하여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 정보를 유지</a:t>
            </a:r>
            <a:endParaRPr kumimoji="0" lang="en-US" altLang="ko-KR" sz="1400" dirty="0">
              <a:solidFill>
                <a:schemeClr val="accent1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6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65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655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데이터가 지수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(index)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변환되면서 시간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정보등의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정보 손실이 발생하여 저주파 대역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이상음과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특정 고주파 대역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징징거림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붕 뜨는 소리 등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불량 검출 어려웠습니다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Deep Learning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검사에서는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데이터를 주파수 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지수로 변환하는 게 아니라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주파수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시간을 모두 표현 할 수 있는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변환하여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 정보를 유지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Sound Signal Feature Issue - Spectrogram </a:t>
            </a:r>
            <a:r>
              <a:rPr kumimoji="0" lang="ko-KR" altLang="en-US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변환</a:t>
            </a:r>
            <a:endParaRPr lang="en-US" altLang="ko-KR" sz="2000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</a:t>
            </a:r>
            <a:r>
              <a:rPr lang="en-US" altLang="ko-KR" sz="14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Sound Signal Feature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Sound Signal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원시적 신호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(Raw Signal)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는 초당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25000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샘플링하여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얻어진 결과 입니다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다시 말해 소리의 크기 값은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0.00004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초에 한 번씩 취득됩니다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 (4 x 10^-5).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이 때문에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데이터 샘플 하나의 의미는 매우 짧은 시간의 정보를 가지고 있고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오직 진폭 정보만을 가지고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주파수 정보는 전혀 가지고 있지 않습니다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 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따라서 이를 일정 범위의 정보로 확대하며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추가 정보를 보유할 수 있도록 가공할 필요가 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은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시간 정보로만 구성되어 주파수 특성을 알기 힘든 원시 데이터 정보를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time segment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마다의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Fourier Transform 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혹은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Cosine Transform)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기반으로 주파수적 특징을 추출하여 주파수 특성을 갖게 하며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time segment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사용함으로써 주파수 분포가 시간에 따라 어떻게 변하는지 표현이 가능합니다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에서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x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축은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time, y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축은 대체로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frequency,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밝기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혹은 색상 정도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는 스펙트럼 크기 정보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(dB)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의미합니다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 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우리는 여러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기법 중 시행착오 끝에 성능이 가장 좋았던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Mel spectrogram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사용하였습니다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accent1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7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11059"/>
          <a:stretch/>
        </p:blipFill>
        <p:spPr>
          <a:xfrm>
            <a:off x="767535" y="850860"/>
            <a:ext cx="8730609" cy="230756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930" y="4535495"/>
            <a:ext cx="4007895" cy="166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3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613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▌Class Imbalance Issue - Data Augmentation </a:t>
            </a:r>
            <a:r>
              <a:rPr kumimoji="0" lang="ko-KR" altLang="en-US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rPr>
              <a:t>적용 및 결과</a:t>
            </a:r>
            <a:endParaRPr kumimoji="0" lang="en-US" altLang="ko-KR" sz="20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- Class Imbalance</a:t>
            </a: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제품 생산라인은 불량품에 비해 양품이 많기 때문에 불량 유형별로 충분한 데이터를 확보하기가 어렵습니다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 Augmentation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적용 전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Augmentation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적용하기 전에는 아래와 같이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OK sample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개수와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NG sample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개수가 굉장히 큰 차이를 보이는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imbalance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한 상황이었습니다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  <a:b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</a:b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실제로 이 데이터를 그대로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AI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모델을 사용해서 예측을 진행한 경우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NG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 대한 검출 성능이 상당히 낮았습니다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-  Augmentation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적용 전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Augmentation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을 적용한 결과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NG class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개수가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OK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와 동일하게 생성되었습니다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Validation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성능을 보시면 위의 결과에 비해 크게 개선이 되었고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NG class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에 대해서 검출이 진행되고 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- Spectrogram Augmentation Methods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Spectrogram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Sound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정보를 시각화한 데이터로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축과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y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축의 정보가 시간 및 주파수에 대한 의미를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가짐이미지를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회전하거나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좌우나 앞뒤를 뒤집는 일반적인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image augmentation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방법을 사용하기에는 정보 손실을 야기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SpecAug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(Masking)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SpecAug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는 단순하게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Spectrogram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Time, Frequency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축의 일부를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masking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하는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Augmentation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기법입니다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아래의 예시처럼 이미지의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(time)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혹은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y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축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(frequency)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를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masking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하여 새로운 이미지를 생성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 </a:t>
            </a:r>
            <a:r>
              <a:rPr kumimoji="0"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Mixup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Augmentation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두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image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와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Label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0~1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사이의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lambda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값을 통해 선형 결합하는 기법입니다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 때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보통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lambda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값은 베타 분포에서 추출합니다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 방법은 굉장히 단순하지만 모델의 일반화 성능도 좋아지고 잘못된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Label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 있어도 모델을 더 강건하게 학습되도록 하는 효과를 얻을 수 있습니다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8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677525" y="1790817"/>
            <a:ext cx="4626293" cy="963930"/>
            <a:chOff x="632520" y="4086168"/>
            <a:chExt cx="6638925" cy="138328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520" y="4086168"/>
              <a:ext cx="6638925" cy="94297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1633116" y="5018942"/>
              <a:ext cx="4637730" cy="450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Data Augmentation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적용 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Class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분포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624473" y="1651643"/>
            <a:ext cx="4506060" cy="1110471"/>
            <a:chOff x="5489458" y="4113287"/>
            <a:chExt cx="4506060" cy="111047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9458" y="4113287"/>
              <a:ext cx="4506060" cy="74504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5613499" y="4909826"/>
              <a:ext cx="4315364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Data Augmentation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적용 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NG Class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Recall</a:t>
              </a:r>
              <a:endPara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853529" y="2955718"/>
            <a:ext cx="4400965" cy="897900"/>
            <a:chOff x="677525" y="5406166"/>
            <a:chExt cx="4400965" cy="89790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7525" y="5406166"/>
              <a:ext cx="4400965" cy="59506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1262120" y="5990134"/>
              <a:ext cx="323177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Data Augmentation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적용 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Class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분포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5493060" y="2990582"/>
            <a:ext cx="3892685" cy="900737"/>
            <a:chOff x="5601855" y="5403329"/>
            <a:chExt cx="3892685" cy="900737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01855" y="5403329"/>
              <a:ext cx="3892685" cy="61365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5748514" y="5990134"/>
              <a:ext cx="3415569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Data Augmentation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적용 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NG Class </a:t>
              </a: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별 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HY견고딕" panose="02030600000101010101" pitchFamily="18" charset="-127"/>
                  <a:cs typeface="Arial" panose="020B0604020202020204" pitchFamily="34" charset="0"/>
                </a:rPr>
                <a:t>Recall</a:t>
              </a:r>
              <a:endPara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974076" y="2990582"/>
            <a:ext cx="3272607" cy="1405102"/>
            <a:chOff x="1190356" y="3513171"/>
            <a:chExt cx="4330080" cy="1859131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90356" y="3513171"/>
              <a:ext cx="4330080" cy="147131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1739509" y="5079017"/>
              <a:ext cx="3231773" cy="293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b="1" dirty="0" err="1"/>
                <a:t>SpecAug</a:t>
              </a:r>
              <a:r>
                <a:rPr lang="en-US" altLang="ko-KR" sz="1200" b="1" dirty="0"/>
                <a:t> (Masking)</a:t>
              </a:r>
              <a:endPara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2481788" y="5090737"/>
            <a:ext cx="4249538" cy="1520117"/>
            <a:chOff x="2425180" y="4526154"/>
            <a:chExt cx="5128012" cy="1834359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25180" y="4526154"/>
              <a:ext cx="5128012" cy="156856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1A343E-7279-23D1-ED88-95BC7B119299}"/>
                </a:ext>
              </a:extLst>
            </p:cNvPr>
            <p:cNvSpPr txBox="1"/>
            <p:nvPr/>
          </p:nvSpPr>
          <p:spPr>
            <a:xfrm>
              <a:off x="3647855" y="6067228"/>
              <a:ext cx="2442524" cy="293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b="1" dirty="0" err="1"/>
                <a:t>Mixup</a:t>
              </a:r>
              <a:r>
                <a:rPr lang="en-US" altLang="ko-KR" sz="1200" b="1" dirty="0"/>
                <a:t> Augmentation</a:t>
              </a:r>
              <a:endParaRPr lang="ko-KR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78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1674305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데이터가 지수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(index)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변환되면서 시간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정보등의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정보 손실이 발생하여 저주파 대역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이상음과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특정 고주파 대역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징징거림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붕 뜨는 소리 등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불량 검출 어려웠습니다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Deep Learning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검사에서는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데이터를 주파수 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지수로 변환하는 게 아니라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주파수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시간을 모두 표현 할 수 있는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변환하여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 정보를 유지</a:t>
            </a:r>
            <a:endParaRPr kumimoji="0" lang="en-US" altLang="ko-KR" sz="1400" dirty="0">
              <a:solidFill>
                <a:schemeClr val="accent1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9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6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521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▌Vision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검사기 제작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조지아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기준 제품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인스펙션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결과 거래선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출하전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제품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데미지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불량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(60%)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작업방식 고려 제품 포장 품질 검토</a:t>
            </a:r>
            <a:b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</a:b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US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법인 판매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창고의 아웃바운드 물류 프로세스 중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포장 박스 외관에 대한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Vision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검사 시스템을 구축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▌Object Detection Model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 구축을 위한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Train Data set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생성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Box image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불러오기 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/ Gray scale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/ Threshold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설정하여 배경색 모두 검은색으로 변경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/ Contour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찾아 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Bounding Box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추출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/ Label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및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Bounding Box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정보를 추가하여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.txt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파일 생성</a:t>
            </a: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- YOLOv7 tiny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 기반 전이학습 및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test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10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판매법인 아웃바운드 검사 자동화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(Vision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검사기 도입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) </a:t>
            </a:r>
          </a:p>
        </p:txBody>
      </p:sp>
      <p:grpSp>
        <p:nvGrpSpPr>
          <p:cNvPr id="166" name="그룹 165"/>
          <p:cNvGrpSpPr/>
          <p:nvPr/>
        </p:nvGrpSpPr>
        <p:grpSpPr>
          <a:xfrm>
            <a:off x="1069593" y="1482835"/>
            <a:ext cx="7554441" cy="1485668"/>
            <a:chOff x="1069593" y="2362908"/>
            <a:chExt cx="7554441" cy="1485668"/>
          </a:xfrm>
        </p:grpSpPr>
        <p:grpSp>
          <p:nvGrpSpPr>
            <p:cNvPr id="154" name="그룹 153"/>
            <p:cNvGrpSpPr/>
            <p:nvPr/>
          </p:nvGrpSpPr>
          <p:grpSpPr>
            <a:xfrm>
              <a:off x="1069593" y="2415815"/>
              <a:ext cx="971968" cy="1344544"/>
              <a:chOff x="4100953" y="2914974"/>
              <a:chExt cx="971968" cy="1344544"/>
            </a:xfrm>
          </p:grpSpPr>
          <p:pic>
            <p:nvPicPr>
              <p:cNvPr id="116" name="그림 1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605" b="13250"/>
              <a:stretch/>
            </p:blipFill>
            <p:spPr>
              <a:xfrm>
                <a:off x="4233204" y="3470522"/>
                <a:ext cx="758350" cy="182634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117" name="그림 11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 flipV="1">
                <a:off x="4445231" y="3779167"/>
                <a:ext cx="336414" cy="273483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A5CC1A1-5007-45D7-9BAF-5BCC120FA793}"/>
                  </a:ext>
                </a:extLst>
              </p:cNvPr>
              <p:cNvSpPr txBox="1"/>
              <p:nvPr/>
            </p:nvSpPr>
            <p:spPr>
              <a:xfrm>
                <a:off x="4100953" y="4121019"/>
                <a:ext cx="97196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90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Video Streaming</a:t>
                </a:r>
                <a:endPara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19" name="오른쪽 화살표 118"/>
              <p:cNvSpPr/>
              <p:nvPr/>
            </p:nvSpPr>
            <p:spPr>
              <a:xfrm>
                <a:off x="4555200" y="2954454"/>
                <a:ext cx="129577" cy="173581"/>
              </a:xfrm>
              <a:prstGeom prst="rightArrow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20" name="그림 11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10783" y="3247645"/>
                <a:ext cx="217594" cy="212759"/>
              </a:xfrm>
              <a:prstGeom prst="rect">
                <a:avLst/>
              </a:prstGeom>
            </p:spPr>
          </p:pic>
          <p:pic>
            <p:nvPicPr>
              <p:cNvPr id="121" name="그림 12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9702" y="3247804"/>
                <a:ext cx="217594" cy="212759"/>
              </a:xfrm>
              <a:prstGeom prst="rect">
                <a:avLst/>
              </a:prstGeom>
            </p:spPr>
          </p:pic>
          <p:sp>
            <p:nvSpPr>
              <p:cNvPr id="122" name="TextBox 121"/>
              <p:cNvSpPr txBox="1"/>
              <p:nvPr/>
            </p:nvSpPr>
            <p:spPr>
              <a:xfrm>
                <a:off x="4432296" y="291497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…</a:t>
                </a:r>
                <a:endParaRPr lang="ko-KR" altLang="en-US" dirty="0"/>
              </a:p>
            </p:txBody>
          </p:sp>
        </p:grpSp>
        <p:sp>
          <p:nvSpPr>
            <p:cNvPr id="126" name="직사각형 125"/>
            <p:cNvSpPr/>
            <p:nvPr/>
          </p:nvSpPr>
          <p:spPr>
            <a:xfrm>
              <a:off x="2428200" y="2559839"/>
              <a:ext cx="4946267" cy="128873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A5CC1A1-5007-45D7-9BAF-5BCC120FA793}"/>
                </a:ext>
              </a:extLst>
            </p:cNvPr>
            <p:cNvSpPr txBox="1"/>
            <p:nvPr/>
          </p:nvSpPr>
          <p:spPr>
            <a:xfrm>
              <a:off x="2419536" y="2362908"/>
              <a:ext cx="55337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00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Edge PC</a:t>
              </a:r>
              <a:endPara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grpSp>
          <p:nvGrpSpPr>
            <p:cNvPr id="152" name="그룹 151"/>
            <p:cNvGrpSpPr/>
            <p:nvPr/>
          </p:nvGrpSpPr>
          <p:grpSpPr>
            <a:xfrm>
              <a:off x="2543650" y="2866553"/>
              <a:ext cx="2098373" cy="675422"/>
              <a:chOff x="5594019" y="3180352"/>
              <a:chExt cx="2098373" cy="675422"/>
            </a:xfrm>
          </p:grpSpPr>
          <p:cxnSp>
            <p:nvCxnSpPr>
              <p:cNvPr id="125" name="직선 화살표 연결선 124"/>
              <p:cNvCxnSpPr>
                <a:stCxn id="145" idx="3"/>
                <a:endCxn id="146" idx="1"/>
              </p:cNvCxnSpPr>
              <p:nvPr/>
            </p:nvCxnSpPr>
            <p:spPr bwMode="auto">
              <a:xfrm>
                <a:off x="6491023" y="3522995"/>
                <a:ext cx="305044" cy="6203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4" name="직사각형 143"/>
              <p:cNvSpPr/>
              <p:nvPr/>
            </p:nvSpPr>
            <p:spPr>
              <a:xfrm>
                <a:off x="5594019" y="3180352"/>
                <a:ext cx="2098373" cy="67542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직사각형 144"/>
              <p:cNvSpPr/>
              <p:nvPr/>
            </p:nvSpPr>
            <p:spPr>
              <a:xfrm>
                <a:off x="5965063" y="3296640"/>
                <a:ext cx="525960" cy="45270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00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Image Capture</a:t>
                </a:r>
                <a:endParaRPr lang="ko-KR" altLang="en-US" sz="10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46" name="직사각형 145"/>
              <p:cNvSpPr/>
              <p:nvPr/>
            </p:nvSpPr>
            <p:spPr>
              <a:xfrm>
                <a:off x="6796067" y="3306962"/>
                <a:ext cx="527869" cy="44447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Object</a:t>
                </a:r>
              </a:p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D</a:t>
                </a:r>
                <a:r>
                  <a:rPr lang="en-US" altLang="ko-KR" sz="100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etection</a:t>
                </a:r>
                <a:endParaRPr lang="ko-KR" altLang="en-US" sz="100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cxnSp>
          <p:nvCxnSpPr>
            <p:cNvPr id="147" name="직선 화살표 연결선 146"/>
            <p:cNvCxnSpPr>
              <a:stCxn id="144" idx="3"/>
              <a:endCxn id="138" idx="1"/>
            </p:cNvCxnSpPr>
            <p:nvPr/>
          </p:nvCxnSpPr>
          <p:spPr bwMode="auto">
            <a:xfrm>
              <a:off x="4642023" y="3204264"/>
              <a:ext cx="525960" cy="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51" name="그룹 150"/>
            <p:cNvGrpSpPr/>
            <p:nvPr/>
          </p:nvGrpSpPr>
          <p:grpSpPr>
            <a:xfrm>
              <a:off x="5167983" y="2665153"/>
              <a:ext cx="2098373" cy="1078222"/>
              <a:chOff x="5595140" y="4141118"/>
              <a:chExt cx="2098373" cy="1078222"/>
            </a:xfrm>
          </p:grpSpPr>
          <p:sp>
            <p:nvSpPr>
              <p:cNvPr id="128" name="TextBox 127"/>
              <p:cNvSpPr txBox="1"/>
              <p:nvPr/>
            </p:nvSpPr>
            <p:spPr>
              <a:xfrm>
                <a:off x="7052532" y="4342334"/>
                <a:ext cx="472635" cy="168517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XAI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6393964" y="4342334"/>
                <a:ext cx="467791" cy="168517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Inference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5743411" y="4342334"/>
                <a:ext cx="467791" cy="16851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Input 1</a:t>
                </a:r>
                <a:endPara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131" name="직선 화살표 연결선 130"/>
              <p:cNvCxnSpPr>
                <a:stCxn id="130" idx="3"/>
                <a:endCxn id="129" idx="1"/>
              </p:cNvCxnSpPr>
              <p:nvPr/>
            </p:nvCxnSpPr>
            <p:spPr bwMode="auto">
              <a:xfrm>
                <a:off x="6211202" y="4426593"/>
                <a:ext cx="182762" cy="0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2" name="직선 화살표 연결선 131"/>
              <p:cNvCxnSpPr>
                <a:stCxn id="129" idx="3"/>
                <a:endCxn id="128" idx="1"/>
              </p:cNvCxnSpPr>
              <p:nvPr/>
            </p:nvCxnSpPr>
            <p:spPr bwMode="auto">
              <a:xfrm>
                <a:off x="6861755" y="4426593"/>
                <a:ext cx="190777" cy="0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33" name="TextBox 132"/>
              <p:cNvSpPr txBox="1"/>
              <p:nvPr/>
            </p:nvSpPr>
            <p:spPr>
              <a:xfrm>
                <a:off x="7052532" y="4854802"/>
                <a:ext cx="472635" cy="168517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XAI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6393964" y="4854802"/>
                <a:ext cx="467791" cy="168517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Inference</a:t>
                </a:r>
                <a:endPara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5743411" y="4854802"/>
                <a:ext cx="467791" cy="16851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Input 2</a:t>
                </a:r>
                <a:endPara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cxnSp>
            <p:nvCxnSpPr>
              <p:cNvPr id="136" name="직선 화살표 연결선 135"/>
              <p:cNvCxnSpPr>
                <a:stCxn id="135" idx="3"/>
                <a:endCxn id="134" idx="1"/>
              </p:cNvCxnSpPr>
              <p:nvPr/>
            </p:nvCxnSpPr>
            <p:spPr bwMode="auto">
              <a:xfrm>
                <a:off x="6211202" y="4939061"/>
                <a:ext cx="182762" cy="0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7" name="직선 화살표 연결선 136"/>
              <p:cNvCxnSpPr>
                <a:stCxn id="134" idx="3"/>
                <a:endCxn id="133" idx="1"/>
              </p:cNvCxnSpPr>
              <p:nvPr/>
            </p:nvCxnSpPr>
            <p:spPr bwMode="auto">
              <a:xfrm>
                <a:off x="6861755" y="4939061"/>
                <a:ext cx="190777" cy="0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38" name="직사각형 137"/>
              <p:cNvSpPr/>
              <p:nvPr/>
            </p:nvSpPr>
            <p:spPr>
              <a:xfrm>
                <a:off x="5595140" y="4141118"/>
                <a:ext cx="2098373" cy="107822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직사각형 138"/>
              <p:cNvSpPr/>
              <p:nvPr/>
            </p:nvSpPr>
            <p:spPr>
              <a:xfrm>
                <a:off x="5653062" y="4262224"/>
                <a:ext cx="1967346" cy="32792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직사각형 139"/>
              <p:cNvSpPr/>
              <p:nvPr/>
            </p:nvSpPr>
            <p:spPr>
              <a:xfrm>
                <a:off x="5653062" y="4773948"/>
                <a:ext cx="1967346" cy="32792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A5CC1A1-5007-45D7-9BAF-5BCC120FA793}"/>
                  </a:ext>
                </a:extLst>
              </p:cNvPr>
              <p:cNvSpPr txBox="1"/>
              <p:nvPr/>
            </p:nvSpPr>
            <p:spPr>
              <a:xfrm>
                <a:off x="5688109" y="4147055"/>
                <a:ext cx="55337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1</a:t>
                </a:r>
                <a:r>
                  <a:rPr lang="en-US" altLang="ko-KR" sz="900" baseline="300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st</a:t>
                </a:r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 Process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A5CC1A1-5007-45D7-9BAF-5BCC120FA793}"/>
                  </a:ext>
                </a:extLst>
              </p:cNvPr>
              <p:cNvSpPr txBox="1"/>
              <p:nvPr/>
            </p:nvSpPr>
            <p:spPr>
              <a:xfrm>
                <a:off x="5696427" y="4644886"/>
                <a:ext cx="55337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n</a:t>
                </a:r>
                <a:r>
                  <a:rPr lang="en-US" altLang="ko-KR" sz="900" baseline="300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th</a:t>
                </a:r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 Process</a:t>
                </a:r>
              </a:p>
            </p:txBody>
          </p:sp>
          <p:cxnSp>
            <p:nvCxnSpPr>
              <p:cNvPr id="143" name="직선 화살표 연결선 142"/>
              <p:cNvCxnSpPr>
                <a:stCxn id="139" idx="2"/>
                <a:endCxn id="140" idx="0"/>
              </p:cNvCxnSpPr>
              <p:nvPr/>
            </p:nvCxnSpPr>
            <p:spPr bwMode="auto">
              <a:xfrm>
                <a:off x="6636735" y="4590146"/>
                <a:ext cx="0" cy="183802"/>
              </a:xfrm>
              <a:prstGeom prst="straightConnector1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8" name="TextBox 147"/>
              <p:cNvSpPr txBox="1"/>
              <p:nvPr/>
            </p:nvSpPr>
            <p:spPr>
              <a:xfrm rot="5400000">
                <a:off x="6432448" y="450067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…</a:t>
                </a:r>
                <a:endParaRPr lang="ko-KR" altLang="en-US" dirty="0"/>
              </a:p>
            </p:txBody>
          </p:sp>
        </p:grpSp>
        <p:grpSp>
          <p:nvGrpSpPr>
            <p:cNvPr id="156" name="그룹 155"/>
            <p:cNvGrpSpPr/>
            <p:nvPr/>
          </p:nvGrpSpPr>
          <p:grpSpPr>
            <a:xfrm>
              <a:off x="7785038" y="2749372"/>
              <a:ext cx="838996" cy="824943"/>
              <a:chOff x="-25286" y="4493587"/>
              <a:chExt cx="838996" cy="824943"/>
            </a:xfrm>
          </p:grpSpPr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A5CC1A1-5007-45D7-9BAF-5BCC120FA793}"/>
                  </a:ext>
                </a:extLst>
              </p:cNvPr>
              <p:cNvSpPr txBox="1"/>
              <p:nvPr/>
            </p:nvSpPr>
            <p:spPr>
              <a:xfrm>
                <a:off x="-25286" y="5180031"/>
                <a:ext cx="838996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900" dirty="0"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Results Monitoring</a:t>
                </a:r>
              </a:p>
            </p:txBody>
          </p:sp>
          <p:pic>
            <p:nvPicPr>
              <p:cNvPr id="158" name="그림 15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78" y="4493587"/>
                <a:ext cx="676702" cy="608691"/>
              </a:xfrm>
              <a:prstGeom prst="rect">
                <a:avLst/>
              </a:prstGeom>
            </p:spPr>
          </p:pic>
          <p:pic>
            <p:nvPicPr>
              <p:cNvPr id="159" name="그림 15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0058" y="4553599"/>
                <a:ext cx="534999" cy="364933"/>
              </a:xfrm>
              <a:prstGeom prst="rect">
                <a:avLst/>
              </a:prstGeom>
            </p:spPr>
          </p:pic>
        </p:grpSp>
        <p:cxnSp>
          <p:nvCxnSpPr>
            <p:cNvPr id="160" name="꺾인 연결선 159"/>
            <p:cNvCxnSpPr>
              <a:stCxn id="117" idx="0"/>
              <a:endCxn id="144" idx="1"/>
            </p:cNvCxnSpPr>
            <p:nvPr/>
          </p:nvCxnSpPr>
          <p:spPr>
            <a:xfrm flipV="1">
              <a:off x="1718820" y="3204264"/>
              <a:ext cx="824830" cy="21248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꺾인 연결선 162"/>
            <p:cNvCxnSpPr>
              <a:stCxn id="138" idx="3"/>
              <a:endCxn id="158" idx="1"/>
            </p:cNvCxnSpPr>
            <p:nvPr/>
          </p:nvCxnSpPr>
          <p:spPr>
            <a:xfrm flipV="1">
              <a:off x="7266356" y="3053718"/>
              <a:ext cx="611246" cy="15054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그룹 180"/>
          <p:cNvGrpSpPr/>
          <p:nvPr/>
        </p:nvGrpSpPr>
        <p:grpSpPr>
          <a:xfrm>
            <a:off x="453542" y="4186961"/>
            <a:ext cx="9235312" cy="1105882"/>
            <a:chOff x="453542" y="5557523"/>
            <a:chExt cx="9235312" cy="1105882"/>
          </a:xfrm>
        </p:grpSpPr>
        <p:pic>
          <p:nvPicPr>
            <p:cNvPr id="169" name="그림 16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3542" y="5557523"/>
              <a:ext cx="1440000" cy="1105882"/>
            </a:xfrm>
            <a:prstGeom prst="rect">
              <a:avLst/>
            </a:prstGeom>
          </p:spPr>
        </p:pic>
        <p:pic>
          <p:nvPicPr>
            <p:cNvPr id="170" name="그림 16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46100" y="5557523"/>
              <a:ext cx="1440000" cy="1105882"/>
            </a:xfrm>
            <a:prstGeom prst="rect">
              <a:avLst/>
            </a:prstGeom>
          </p:spPr>
        </p:pic>
        <p:pic>
          <p:nvPicPr>
            <p:cNvPr id="171" name="그림 17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66398" y="5557523"/>
              <a:ext cx="1440000" cy="1105882"/>
            </a:xfrm>
            <a:prstGeom prst="rect">
              <a:avLst/>
            </a:prstGeom>
          </p:spPr>
        </p:pic>
        <p:pic>
          <p:nvPicPr>
            <p:cNvPr id="172" name="그림 17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42556" y="5557523"/>
              <a:ext cx="1440000" cy="1105882"/>
            </a:xfrm>
            <a:prstGeom prst="rect">
              <a:avLst/>
            </a:prstGeom>
          </p:spPr>
        </p:pic>
        <p:grpSp>
          <p:nvGrpSpPr>
            <p:cNvPr id="174" name="그룹 173"/>
            <p:cNvGrpSpPr/>
            <p:nvPr/>
          </p:nvGrpSpPr>
          <p:grpSpPr>
            <a:xfrm>
              <a:off x="8983315" y="5714420"/>
              <a:ext cx="705539" cy="792088"/>
              <a:chOff x="5738789" y="3446895"/>
              <a:chExt cx="705539" cy="792088"/>
            </a:xfrm>
          </p:grpSpPr>
          <p:sp>
            <p:nvSpPr>
              <p:cNvPr id="175" name="모서리가 접힌 도형 174"/>
              <p:cNvSpPr/>
              <p:nvPr/>
            </p:nvSpPr>
            <p:spPr bwMode="auto">
              <a:xfrm flipV="1">
                <a:off x="5767523" y="3446895"/>
                <a:ext cx="648072" cy="792088"/>
              </a:xfrm>
              <a:prstGeom prst="foldedCorner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2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6" name="TextBox 175"/>
              <p:cNvSpPr txBox="1"/>
              <p:nvPr/>
            </p:nvSpPr>
            <p:spPr>
              <a:xfrm>
                <a:off x="5738789" y="3534810"/>
                <a:ext cx="705539" cy="616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.img1</a:t>
                </a:r>
                <a:br>
                  <a:rPr lang="en-US" altLang="ko-KR" sz="12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en-US" altLang="ko-KR" sz="12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.txt</a:t>
                </a:r>
              </a:p>
            </p:txBody>
          </p:sp>
        </p:grpSp>
        <p:sp>
          <p:nvSpPr>
            <p:cNvPr id="177" name="오른쪽 화살표 176"/>
            <p:cNvSpPr/>
            <p:nvPr/>
          </p:nvSpPr>
          <p:spPr bwMode="auto">
            <a:xfrm>
              <a:off x="2051919" y="5846681"/>
              <a:ext cx="540000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8" name="오른쪽 화살표 177"/>
            <p:cNvSpPr/>
            <p:nvPr/>
          </p:nvSpPr>
          <p:spPr bwMode="auto">
            <a:xfrm>
              <a:off x="4272335" y="5846681"/>
              <a:ext cx="540000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9" name="오른쪽 화살표 178"/>
            <p:cNvSpPr/>
            <p:nvPr/>
          </p:nvSpPr>
          <p:spPr bwMode="auto">
            <a:xfrm>
              <a:off x="6541797" y="5846681"/>
              <a:ext cx="540000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80" name="오른쪽 화살표 179"/>
            <p:cNvSpPr/>
            <p:nvPr/>
          </p:nvSpPr>
          <p:spPr bwMode="auto">
            <a:xfrm>
              <a:off x="8462936" y="5846681"/>
              <a:ext cx="540000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91" name="그룹 190"/>
          <p:cNvGrpSpPr/>
          <p:nvPr/>
        </p:nvGrpSpPr>
        <p:grpSpPr>
          <a:xfrm>
            <a:off x="452500" y="5398610"/>
            <a:ext cx="9223197" cy="1361348"/>
            <a:chOff x="452500" y="5398610"/>
            <a:chExt cx="9223197" cy="1361348"/>
          </a:xfrm>
        </p:grpSpPr>
        <p:pic>
          <p:nvPicPr>
            <p:cNvPr id="182" name="그림 18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2500" y="5483206"/>
              <a:ext cx="1781380" cy="1260000"/>
            </a:xfrm>
            <a:prstGeom prst="rect">
              <a:avLst/>
            </a:prstGeom>
          </p:spPr>
        </p:pic>
        <p:pic>
          <p:nvPicPr>
            <p:cNvPr id="183" name="그림 18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2922" y="5499958"/>
              <a:ext cx="1638312" cy="1260000"/>
            </a:xfrm>
            <a:prstGeom prst="rect">
              <a:avLst/>
            </a:prstGeom>
          </p:spPr>
        </p:pic>
        <p:pic>
          <p:nvPicPr>
            <p:cNvPr id="184" name="그림 183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077023" y="5461179"/>
              <a:ext cx="998892" cy="1260000"/>
            </a:xfrm>
            <a:prstGeom prst="rect">
              <a:avLst/>
            </a:prstGeom>
          </p:spPr>
        </p:pic>
        <p:grpSp>
          <p:nvGrpSpPr>
            <p:cNvPr id="185" name="그룹 184"/>
            <p:cNvGrpSpPr/>
            <p:nvPr/>
          </p:nvGrpSpPr>
          <p:grpSpPr>
            <a:xfrm>
              <a:off x="6041490" y="5713047"/>
              <a:ext cx="961231" cy="792088"/>
              <a:chOff x="963826" y="2541566"/>
              <a:chExt cx="961231" cy="792088"/>
            </a:xfrm>
          </p:grpSpPr>
          <p:sp>
            <p:nvSpPr>
              <p:cNvPr id="186" name="모서리가 접힌 도형 185"/>
              <p:cNvSpPr/>
              <p:nvPr/>
            </p:nvSpPr>
            <p:spPr bwMode="auto">
              <a:xfrm flipV="1">
                <a:off x="1120405" y="2541566"/>
                <a:ext cx="648072" cy="792088"/>
              </a:xfrm>
              <a:prstGeom prst="foldedCorner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200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963826" y="2767980"/>
                <a:ext cx="961231" cy="339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b="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*.weights</a:t>
                </a:r>
              </a:p>
            </p:txBody>
          </p:sp>
        </p:grpSp>
        <p:sp>
          <p:nvSpPr>
            <p:cNvPr id="188" name="오른쪽 화살표 187"/>
            <p:cNvSpPr/>
            <p:nvPr/>
          </p:nvSpPr>
          <p:spPr bwMode="auto">
            <a:xfrm>
              <a:off x="5162906" y="5817874"/>
              <a:ext cx="792088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200" b="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Train</a:t>
              </a: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89" name="오른쪽 화살표 188"/>
            <p:cNvSpPr/>
            <p:nvPr/>
          </p:nvSpPr>
          <p:spPr bwMode="auto">
            <a:xfrm>
              <a:off x="7043165" y="5817874"/>
              <a:ext cx="792088" cy="576064"/>
            </a:xfrm>
            <a:prstGeom prst="rightArrow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200" b="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Test</a:t>
              </a:r>
              <a:endParaRPr lang="ko-KR" altLang="en-US" sz="12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190" name="그림 189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697" y="5398610"/>
              <a:ext cx="1800000" cy="13333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541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4595104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lvl="0"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▌Image Classification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및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XAI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Image Classification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앞에서 수집한 박스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image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및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label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기반으로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MobileNet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에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전이학습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- XAI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개발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   IC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모델 정보를 불러와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feature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를 추출하는 마지막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layer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인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conv_pw_13_relu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기반 앞뒤로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model1, model2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분리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 model1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출력으로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model2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의 출력을 미분하여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gradient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계산 후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Heatmap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출력 및 원본 사진에 병합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▌Object Detection Model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글자가 존재하는 박스에 대해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Grad cam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으로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defect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부위 추출 결과가 좋지 못함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- Defect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부위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Object Detection Model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Normal, Abnormal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박스 분류 모델 개발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labelImg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프로그램으로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box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defect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부위 </a:t>
            </a:r>
            <a:r>
              <a:rPr kumimoji="0"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라벨링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 진행 후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yolov7-tiny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모델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fine-tuning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진행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11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판매법인 아웃바운드 검사 자동화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(Vision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검사기 도입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380" y="2615412"/>
            <a:ext cx="1080000" cy="1080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794" y="2615412"/>
            <a:ext cx="1080000" cy="1080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105" y="2615412"/>
            <a:ext cx="1070809" cy="10800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02" y="5042383"/>
            <a:ext cx="1769287" cy="1615318"/>
          </a:xfrm>
          <a:prstGeom prst="rect">
            <a:avLst/>
          </a:prstGeom>
        </p:spPr>
      </p:pic>
      <p:pic>
        <p:nvPicPr>
          <p:cNvPr id="30" name="그림 29"/>
          <p:cNvPicPr preferRelativeResize="0">
            <a:picLocks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2" b="10093"/>
          <a:stretch/>
        </p:blipFill>
        <p:spPr>
          <a:xfrm>
            <a:off x="3534219" y="5074551"/>
            <a:ext cx="1583150" cy="1583150"/>
          </a:xfrm>
          <a:prstGeom prst="rect">
            <a:avLst/>
          </a:prstGeom>
        </p:spPr>
      </p:pic>
      <p:pic>
        <p:nvPicPr>
          <p:cNvPr id="28" name="그림 27"/>
          <p:cNvPicPr preferRelativeResize="0">
            <a:picLocks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9" r="13958"/>
          <a:stretch/>
        </p:blipFill>
        <p:spPr>
          <a:xfrm>
            <a:off x="5369321" y="5074551"/>
            <a:ext cx="1583150" cy="1583150"/>
          </a:xfrm>
          <a:prstGeom prst="rect">
            <a:avLst/>
          </a:prstGeom>
        </p:spPr>
      </p:pic>
      <p:pic>
        <p:nvPicPr>
          <p:cNvPr id="26" name="그림 25"/>
          <p:cNvPicPr preferRelativeResize="0">
            <a:picLocks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2" t="2867" r="24931" b="3913"/>
          <a:stretch/>
        </p:blipFill>
        <p:spPr>
          <a:xfrm>
            <a:off x="7098195" y="5074551"/>
            <a:ext cx="1583150" cy="15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0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1674305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데이터가 지수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(index)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변환되면서 시간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정보등의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정보 손실이 발생하여 저주파 대역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이상음과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특정 고주파 대역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징징거림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붕 뜨는 소리 등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불량 검출 어려웠습니다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.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Deep Learning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기반 검사에서는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데이터를 주파수 별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지수로 변환하는 게 아니라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음압과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주파수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시간을 모두 표현 할 수 있는 </a:t>
            </a:r>
            <a:r>
              <a:rPr kumimoji="0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Spectrogram Feature 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 변환하여 </a:t>
            </a:r>
            <a:r>
              <a:rPr kumimoji="0"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음원</a:t>
            </a:r>
            <a:r>
              <a:rPr kumimoji="0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데이터 정보를 유지</a:t>
            </a:r>
            <a:endParaRPr kumimoji="0" lang="en-US" altLang="ko-KR" sz="1400" dirty="0">
              <a:solidFill>
                <a:schemeClr val="accent1"/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12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냉장고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LQC (Line Quality Control)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소음 검사 </a:t>
            </a:r>
            <a:endParaRPr kumimoji="0" lang="en-US" altLang="ko-KR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13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Open-source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활용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Object Detection Labeling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자동화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4936736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▌Object Detection Labeling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자동화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Architecture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구축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수동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labeling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따른 따른 데이터 품질 저하 및 많은 시간 소요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Anomaly Score Calculation → Label Proposing → Significant Label Selection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Label Proposing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Zero-shot Inference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로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Anomaly Score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Unsupervised Learning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통해 계산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Proposed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된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Candidate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중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Anomaly Score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 근거하여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Significant Label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선별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▌Image pre-process</a:t>
            </a:r>
            <a:endParaRPr kumimoji="0" lang="ko-KR" altLang="en-US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원본 이미지 및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text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promp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Grounding Dino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모델에 입력하여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Boundning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Box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추출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원본 이미지와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Bounding Box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를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Segment Anything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모델에 입력하여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Object Mask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추출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Object Mask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부위만 원본 이미지에서 추출하여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DDAD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학습 데이터 생성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239" y="2423384"/>
            <a:ext cx="4007231" cy="1793351"/>
          </a:xfrm>
          <a:prstGeom prst="rect">
            <a:avLst/>
          </a:prstGeom>
        </p:spPr>
      </p:pic>
      <p:pic>
        <p:nvPicPr>
          <p:cNvPr id="112" name="그림 1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30" y="2468792"/>
            <a:ext cx="3671080" cy="1380280"/>
          </a:xfrm>
          <a:prstGeom prst="rect">
            <a:avLst/>
          </a:prstGeom>
        </p:spPr>
      </p:pic>
      <p:pic>
        <p:nvPicPr>
          <p:cNvPr id="121" name="그림 1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776" y="4807641"/>
            <a:ext cx="1440000" cy="1440000"/>
          </a:xfrm>
          <a:prstGeom prst="rect">
            <a:avLst/>
          </a:prstGeom>
        </p:spPr>
      </p:pic>
      <p:pic>
        <p:nvPicPr>
          <p:cNvPr id="123" name="그림 1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3739" y="4807641"/>
            <a:ext cx="1440000" cy="1440000"/>
          </a:xfrm>
          <a:prstGeom prst="rect">
            <a:avLst/>
          </a:prstGeom>
        </p:spPr>
      </p:pic>
      <p:pic>
        <p:nvPicPr>
          <p:cNvPr id="124" name="그림 1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7640" y="4807641"/>
            <a:ext cx="1440000" cy="1440000"/>
          </a:xfrm>
          <a:prstGeom prst="rect">
            <a:avLst/>
          </a:prstGeom>
        </p:spPr>
      </p:pic>
      <p:pic>
        <p:nvPicPr>
          <p:cNvPr id="122" name="그림 1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162" y="4807641"/>
            <a:ext cx="1440000" cy="1440000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1422423" y="6143754"/>
            <a:ext cx="6734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i="1" dirty="0">
                <a:latin typeface="Arial Narrow" panose="020B0606020202030204" pitchFamily="34" charset="0"/>
              </a:rPr>
              <a:t>“A leaf”</a:t>
            </a:r>
            <a:endParaRPr lang="ko-KR" altLang="en-US" sz="1100" i="1" dirty="0">
              <a:latin typeface="Arial Narrow" panose="020B060602020203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41A343E-7279-23D1-ED88-95BC7B119299}"/>
              </a:ext>
            </a:extLst>
          </p:cNvPr>
          <p:cNvSpPr txBox="1"/>
          <p:nvPr/>
        </p:nvSpPr>
        <p:spPr>
          <a:xfrm>
            <a:off x="722530" y="6315640"/>
            <a:ext cx="2063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원본 이미지 및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텍스트 프롬프트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41A343E-7279-23D1-ED88-95BC7B119299}"/>
              </a:ext>
            </a:extLst>
          </p:cNvPr>
          <p:cNvSpPr txBox="1"/>
          <p:nvPr/>
        </p:nvSpPr>
        <p:spPr>
          <a:xfrm>
            <a:off x="2782233" y="6315640"/>
            <a:ext cx="2063240" cy="443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GroundingDino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- Salient Object BBOX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추출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41A343E-7279-23D1-ED88-95BC7B119299}"/>
              </a:ext>
            </a:extLst>
          </p:cNvPr>
          <p:cNvSpPr txBox="1"/>
          <p:nvPr/>
        </p:nvSpPr>
        <p:spPr>
          <a:xfrm>
            <a:off x="4974186" y="6315640"/>
            <a:ext cx="2027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Segment Anything</a:t>
            </a:r>
          </a:p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- Salient Object Mask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추출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41A343E-7279-23D1-ED88-95BC7B119299}"/>
              </a:ext>
            </a:extLst>
          </p:cNvPr>
          <p:cNvSpPr txBox="1"/>
          <p:nvPr/>
        </p:nvSpPr>
        <p:spPr>
          <a:xfrm>
            <a:off x="7332194" y="6315640"/>
            <a:ext cx="2027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DDAD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학습 데이터 생성</a:t>
            </a:r>
          </a:p>
        </p:txBody>
      </p:sp>
    </p:spTree>
    <p:extLst>
      <p:ext uri="{BB962C8B-B14F-4D97-AF65-F5344CB8AC3E}">
        <p14:creationId xmlns:p14="http://schemas.microsoft.com/office/powerpoint/2010/main" val="80461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3816429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▌DDAD (</a:t>
            </a:r>
            <a:r>
              <a:rPr kumimoji="0" lang="en-US" altLang="ko-KR" sz="2000" dirty="0" err="1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Denoising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Diffusion Anomaly Detection)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기반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Anomaly Score </a:t>
            </a:r>
            <a:r>
              <a:rPr kumimoji="0" lang="ko-KR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계산</a:t>
            </a:r>
            <a:endParaRPr kumimoji="0" lang="ko-KR" altLang="en-US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Denoising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Diffusion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모델 기반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Reconstruction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수행 후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,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원본 이미지와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Comparison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을 통해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Anomaly Map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계산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</a:t>
            </a:r>
            <a:r>
              <a:rPr kumimoji="0" lang="en-US" altLang="ko-KR" sz="2000" dirty="0" err="1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GroundingDino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와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DDAD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기반 </a:t>
            </a:r>
            <a:r>
              <a:rPr kumimoji="0" lang="ko-KR" altLang="en-US" sz="2000" dirty="0" err="1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라벨링</a:t>
            </a:r>
            <a:endParaRPr kumimoji="0" lang="ko-KR" altLang="en-US" sz="2000" dirty="0">
              <a:solidFill>
                <a:prstClr val="black"/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- </a:t>
            </a:r>
            <a:r>
              <a:rPr kumimoji="0" lang="en-US" altLang="ko-KR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GroundingDino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가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Proposal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하는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Box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 대해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Anomaly Map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Matching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후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Box Region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내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Avg. Anomaly Score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계산 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- Threshold 0.2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이상인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Box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만 남긴 후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NMS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적용 후 최종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Label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14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Open-source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활용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Object Detection Labeling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자동화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1628800"/>
            <a:ext cx="3415239" cy="1769941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233" y="1626822"/>
            <a:ext cx="3323868" cy="1794684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76" y="4490500"/>
            <a:ext cx="4196568" cy="2144059"/>
          </a:xfrm>
          <a:prstGeom prst="rect">
            <a:avLst/>
          </a:prstGeom>
        </p:spPr>
      </p:pic>
      <p:pic>
        <p:nvPicPr>
          <p:cNvPr id="102" name="그림 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582" y="4506993"/>
            <a:ext cx="3726415" cy="205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8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15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96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번호 개체 틀 4"/>
          <p:cNvSpPr txBox="1">
            <a:spLocks/>
          </p:cNvSpPr>
          <p:nvPr/>
        </p:nvSpPr>
        <p:spPr>
          <a:xfrm>
            <a:off x="8811001" y="6652021"/>
            <a:ext cx="1097253" cy="20610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fld id="{579C7F6E-DCF1-4C89-B2BB-E3364144743A}" type="slidenum">
              <a:rPr lang="ko-KR" altLang="en-US" sz="1600" b="1" i="1" smtClean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pPr algn="r"/>
              <a:t>16</a:t>
            </a:fld>
            <a:r>
              <a:rPr lang="en-US" altLang="ko-KR" sz="1600" b="1" i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/5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9672DE-6DC6-89B2-6ABC-4B5A2C00AC3A}"/>
              </a:ext>
            </a:extLst>
          </p:cNvPr>
          <p:cNvSpPr txBox="1"/>
          <p:nvPr/>
        </p:nvSpPr>
        <p:spPr>
          <a:xfrm>
            <a:off x="199186" y="60064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Open-source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활용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Object Detection Labeling 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자동화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221855" y="690564"/>
            <a:ext cx="9546680" cy="1674305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▌Object Detection Labeling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자동화 </a:t>
            </a:r>
            <a:r>
              <a:rPr kumimoji="0"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Architecture </a:t>
            </a:r>
            <a:r>
              <a:rPr kumimoji="0"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구축</a:t>
            </a: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Edge Device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의 제한된 컴퓨팅 자원으로 인해 사용할 수 있는 모델이 한정되어 대규모 학습용 </a:t>
            </a:r>
            <a:r>
              <a:rPr kumimoji="0"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데이터셋의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필요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  -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수동 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labeling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에</a:t>
            </a:r>
            <a:r>
              <a:rPr kumimoji="0"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 </a:t>
            </a:r>
            <a:r>
              <a:rPr kumimoji="0"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HY견고딕" pitchFamily="18" charset="-127"/>
                <a:cs typeface="Arial" panose="020B0604020202020204" pitchFamily="34" charset="0"/>
              </a:rPr>
              <a:t>따른 따른 데이터 품질 저하 및 많은 시간 소요</a:t>
            </a: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  <a:p>
            <a:pPr lvl="0" eaLnBrk="1" hangingPunct="1">
              <a:lnSpc>
                <a:spcPct val="130000"/>
              </a:lnSpc>
              <a:defRPr/>
            </a:pPr>
            <a:endParaRPr kumimoji="0"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HY견고딕" pitchFamily="18" charset="-127"/>
              <a:cs typeface="Arial" panose="020B0604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57951" y="2038439"/>
            <a:ext cx="8969097" cy="3975055"/>
            <a:chOff x="416496" y="1844824"/>
            <a:chExt cx="8969097" cy="3975055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7650533" y="1844824"/>
              <a:ext cx="1675682" cy="312978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416496" y="1844824"/>
              <a:ext cx="6696744" cy="10479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2333069" y="3429000"/>
              <a:ext cx="4852179" cy="211388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0</a:t>
              </a:r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715789" y="2077918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Diffusion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Model</a:t>
              </a:r>
              <a:br>
                <a:rPr lang="en-US" altLang="ko-KR" sz="1200" b="1" dirty="0">
                  <a:solidFill>
                    <a:schemeClr val="tx1"/>
                  </a:solidFill>
                  <a:latin typeface="Arial Narrow" panose="020B0606020202030204" pitchFamily="34" charset="0"/>
                </a:rPr>
              </a:br>
              <a:r>
                <a:rPr lang="en-US" altLang="ko-KR" sz="1200" b="1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(DDAD)</a:t>
              </a:r>
              <a:endPara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811373" y="2077918"/>
              <a:ext cx="1074756" cy="664394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Pixel-wise Anomaly Score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cxnSp>
          <p:nvCxnSpPr>
            <p:cNvPr id="12" name="직선 화살표 연결선 11"/>
            <p:cNvCxnSpPr>
              <a:endCxn id="11" idx="1"/>
            </p:cNvCxnSpPr>
            <p:nvPr/>
          </p:nvCxnSpPr>
          <p:spPr>
            <a:xfrm>
              <a:off x="4790545" y="2410116"/>
              <a:ext cx="10208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>
              <a:stCxn id="11" idx="3"/>
              <a:endCxn id="14" idx="1"/>
            </p:cNvCxnSpPr>
            <p:nvPr/>
          </p:nvCxnSpPr>
          <p:spPr>
            <a:xfrm>
              <a:off x="6886129" y="2410116"/>
              <a:ext cx="10437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7929883" y="2077918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Post-process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811373" y="4150182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Prompt-based Model</a:t>
              </a:r>
              <a:endPara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929883" y="4151220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Label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13303" y="2077918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Train Data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(Normal)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31441" y="2892765"/>
              <a:ext cx="1419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Label Proposal</a:t>
              </a:r>
              <a:r>
                <a:rPr lang="ko-KR" altLang="en-US" sz="120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을 </a:t>
              </a:r>
              <a:r>
                <a:rPr lang="en-US" altLang="ko-KR" sz="12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Anomaly Map</a:t>
              </a:r>
              <a:r>
                <a:rPr lang="ko-KR" altLang="en-US" sz="120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에</a:t>
              </a:r>
              <a:r>
                <a:rPr lang="en-US" altLang="ko-KR" sz="12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매칭</a:t>
              </a:r>
              <a:endParaRPr lang="ko-KR" altLang="en-US" sz="12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384503" y="2875112"/>
              <a:ext cx="10010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Proposal </a:t>
              </a:r>
              <a:r>
                <a:rPr lang="ko-KR" altLang="en-US" sz="120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별 </a:t>
              </a:r>
              <a:r>
                <a:rPr lang="en-US" altLang="ko-KR" sz="12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Avg. Anomaly Score </a:t>
              </a:r>
              <a:r>
                <a:rPr lang="ko-KR" altLang="en-US" sz="120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계산</a:t>
              </a:r>
              <a:r>
                <a:rPr lang="en-US" altLang="ko-KR" sz="12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Threshold-cut</a:t>
              </a:r>
              <a:endParaRPr lang="ko-KR" altLang="en-US" sz="12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929760" y="4760170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Prompts</a:t>
              </a:r>
              <a:endParaRPr lang="ko-KR" altLang="en-US" sz="120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cxnSp>
          <p:nvCxnSpPr>
            <p:cNvPr id="21" name="꺾인 연결선 20"/>
            <p:cNvCxnSpPr>
              <a:stCxn id="20" idx="0"/>
            </p:cNvCxnSpPr>
            <p:nvPr/>
          </p:nvCxnSpPr>
          <p:spPr>
            <a:xfrm rot="5400000" flipH="1" flipV="1">
              <a:off x="4547333" y="3496130"/>
              <a:ext cx="183844" cy="234423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stCxn id="15" idx="0"/>
              <a:endCxn id="11" idx="2"/>
            </p:cNvCxnSpPr>
            <p:nvPr/>
          </p:nvCxnSpPr>
          <p:spPr>
            <a:xfrm flipV="1">
              <a:off x="6348751" y="2742313"/>
              <a:ext cx="0" cy="14078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>
              <a:stCxn id="14" idx="2"/>
              <a:endCxn id="16" idx="0"/>
            </p:cNvCxnSpPr>
            <p:nvPr/>
          </p:nvCxnSpPr>
          <p:spPr>
            <a:xfrm>
              <a:off x="8467261" y="2742313"/>
              <a:ext cx="0" cy="14089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직사각형 23"/>
            <p:cNvSpPr/>
            <p:nvPr/>
          </p:nvSpPr>
          <p:spPr>
            <a:xfrm>
              <a:off x="2929760" y="3519430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Inference Data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(Abnormal)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867020" y="2875112"/>
              <a:ext cx="17956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Arial Narrow" panose="020B0606020202030204" pitchFamily="34" charset="0"/>
                </a:rPr>
                <a:t>Unsupervised Anomaly Score Calculation</a:t>
              </a:r>
              <a:endParaRPr lang="ko-KR" altLang="en-US" sz="1200" b="1" dirty="0">
                <a:latin typeface="Arial Narrow" panose="020B0606020202030204" pitchFamily="34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121968" y="2077918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Pre-process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4489617" y="3519430"/>
              <a:ext cx="1074756" cy="6643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Narrow" panose="020B0606020202030204" pitchFamily="34" charset="0"/>
                </a:rPr>
                <a:t>Pre-process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cxnSp>
          <p:nvCxnSpPr>
            <p:cNvPr id="28" name="직선 화살표 연결선 27"/>
            <p:cNvCxnSpPr>
              <a:stCxn id="24" idx="3"/>
              <a:endCxn id="27" idx="1"/>
            </p:cNvCxnSpPr>
            <p:nvPr/>
          </p:nvCxnSpPr>
          <p:spPr>
            <a:xfrm>
              <a:off x="4004515" y="3851627"/>
              <a:ext cx="485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꺾인 연결선 28"/>
            <p:cNvCxnSpPr>
              <a:stCxn id="27" idx="2"/>
            </p:cNvCxnSpPr>
            <p:nvPr/>
          </p:nvCxnSpPr>
          <p:spPr>
            <a:xfrm rot="16200000" flipH="1">
              <a:off x="5327592" y="3883227"/>
              <a:ext cx="183185" cy="78437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>
              <a:stCxn id="27" idx="0"/>
            </p:cNvCxnSpPr>
            <p:nvPr/>
          </p:nvCxnSpPr>
          <p:spPr>
            <a:xfrm flipV="1">
              <a:off x="5026995" y="2410116"/>
              <a:ext cx="0" cy="11093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17" idx="3"/>
              <a:endCxn id="26" idx="1"/>
            </p:cNvCxnSpPr>
            <p:nvPr/>
          </p:nvCxnSpPr>
          <p:spPr>
            <a:xfrm>
              <a:off x="1688059" y="2410116"/>
              <a:ext cx="4339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화살표 연결선 31"/>
            <p:cNvCxnSpPr>
              <a:stCxn id="26" idx="3"/>
              <a:endCxn id="10" idx="1"/>
            </p:cNvCxnSpPr>
            <p:nvPr/>
          </p:nvCxnSpPr>
          <p:spPr>
            <a:xfrm>
              <a:off x="3196724" y="2410116"/>
              <a:ext cx="5190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568659" y="5542880"/>
              <a:ext cx="23790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Arial Narrow" panose="020B0606020202030204" pitchFamily="34" charset="0"/>
                </a:rPr>
                <a:t>Zero-shot Label Proposing</a:t>
              </a:r>
              <a:endParaRPr lang="ko-KR" altLang="en-US" sz="1200" b="1" dirty="0">
                <a:latin typeface="Arial Narrow" panose="020B060602020203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69413" y="4976517"/>
              <a:ext cx="1795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Arial Narrow" panose="020B0606020202030204" pitchFamily="34" charset="0"/>
                </a:rPr>
                <a:t>Significant Label Selection</a:t>
              </a:r>
              <a:endParaRPr lang="ko-KR" altLang="en-US" sz="1200" b="1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983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17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316590" y="3294215"/>
            <a:ext cx="1524000" cy="94210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Grounding Dino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315018" y="4742321"/>
            <a:ext cx="1524000" cy="942109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Bounding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Box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08036" y="3300564"/>
            <a:ext cx="1660592" cy="94210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pre-processed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19295" y="3294214"/>
            <a:ext cx="1524000" cy="94210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17722" y="4742321"/>
            <a:ext cx="1524000" cy="94210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Text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Prompts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312313" y="3294215"/>
            <a:ext cx="1524000" cy="94210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Segment Anything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Model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꺾인 연결선 8"/>
          <p:cNvCxnSpPr>
            <a:stCxn id="4" idx="3"/>
            <a:endCxn id="8" idx="1"/>
          </p:cNvCxnSpPr>
          <p:nvPr/>
        </p:nvCxnSpPr>
        <p:spPr>
          <a:xfrm flipV="1">
            <a:off x="3839018" y="3765270"/>
            <a:ext cx="473295" cy="144810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3" idx="2"/>
            <a:endCxn id="4" idx="0"/>
          </p:cNvCxnSpPr>
          <p:nvPr/>
        </p:nvCxnSpPr>
        <p:spPr>
          <a:xfrm flipH="1">
            <a:off x="3077018" y="4236324"/>
            <a:ext cx="1572" cy="505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311203" y="4742321"/>
            <a:ext cx="1524000" cy="942109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Heat-map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/>
          <p:cNvCxnSpPr>
            <a:stCxn id="8" idx="2"/>
            <a:endCxn id="11" idx="0"/>
          </p:cNvCxnSpPr>
          <p:nvPr/>
        </p:nvCxnSpPr>
        <p:spPr>
          <a:xfrm flipH="1">
            <a:off x="5073203" y="4236324"/>
            <a:ext cx="1110" cy="505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7" idx="3"/>
            <a:endCxn id="3" idx="1"/>
          </p:cNvCxnSpPr>
          <p:nvPr/>
        </p:nvCxnSpPr>
        <p:spPr>
          <a:xfrm flipV="1">
            <a:off x="1841722" y="3765270"/>
            <a:ext cx="474868" cy="144810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1841722" y="3500846"/>
            <a:ext cx="4748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6" idx="0"/>
            <a:endCxn id="8" idx="0"/>
          </p:cNvCxnSpPr>
          <p:nvPr/>
        </p:nvCxnSpPr>
        <p:spPr>
          <a:xfrm rot="16200000" flipH="1">
            <a:off x="3077803" y="1297705"/>
            <a:ext cx="1" cy="3993018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11" idx="3"/>
            <a:endCxn id="5" idx="1"/>
          </p:cNvCxnSpPr>
          <p:nvPr/>
        </p:nvCxnSpPr>
        <p:spPr>
          <a:xfrm flipV="1">
            <a:off x="5835203" y="3771619"/>
            <a:ext cx="472833" cy="144175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/>
          <p:nvPr/>
        </p:nvCxnSpPr>
        <p:spPr>
          <a:xfrm rot="16200000" flipH="1">
            <a:off x="4000734" y="213910"/>
            <a:ext cx="6350" cy="6166959"/>
          </a:xfrm>
          <a:prstGeom prst="bentConnector3">
            <a:avLst>
              <a:gd name="adj1" fmla="val -76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35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18</a:t>
            </a:fld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920552" y="5445224"/>
            <a:ext cx="8293260" cy="3207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5558301" y="3975905"/>
            <a:ext cx="360040" cy="2880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558301" y="3637703"/>
            <a:ext cx="360040" cy="2880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208" y="1844824"/>
            <a:ext cx="1800000" cy="180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3284984"/>
            <a:ext cx="1080120" cy="10801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208" y="4005064"/>
            <a:ext cx="1800000" cy="180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280" y="3040069"/>
            <a:ext cx="1800000" cy="180000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5565696" y="3489899"/>
            <a:ext cx="1296144" cy="9003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Feature-Wise Comparison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345204" y="2488300"/>
            <a:ext cx="1094911" cy="5130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Diffusion Process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45204" y="4648540"/>
            <a:ext cx="1094911" cy="5130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Reconstruction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cxnSp>
        <p:nvCxnSpPr>
          <p:cNvPr id="13" name="직선 화살표 연결선 12"/>
          <p:cNvCxnSpPr>
            <a:stCxn id="6" idx="1"/>
            <a:endCxn id="11" idx="3"/>
          </p:cNvCxnSpPr>
          <p:nvPr/>
        </p:nvCxnSpPr>
        <p:spPr>
          <a:xfrm flipH="1">
            <a:off x="2440115" y="2744824"/>
            <a:ext cx="659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12" idx="3"/>
            <a:endCxn id="8" idx="1"/>
          </p:cNvCxnSpPr>
          <p:nvPr/>
        </p:nvCxnSpPr>
        <p:spPr>
          <a:xfrm>
            <a:off x="2440115" y="4905064"/>
            <a:ext cx="659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11" idx="2"/>
            <a:endCxn id="7" idx="0"/>
          </p:cNvCxnSpPr>
          <p:nvPr/>
        </p:nvCxnSpPr>
        <p:spPr>
          <a:xfrm>
            <a:off x="1892660" y="3001347"/>
            <a:ext cx="0" cy="283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2"/>
            <a:endCxn id="12" idx="0"/>
          </p:cNvCxnSpPr>
          <p:nvPr/>
        </p:nvCxnSpPr>
        <p:spPr>
          <a:xfrm>
            <a:off x="1892660" y="4365104"/>
            <a:ext cx="0" cy="283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0" idx="3"/>
            <a:endCxn id="9" idx="1"/>
          </p:cNvCxnSpPr>
          <p:nvPr/>
        </p:nvCxnSpPr>
        <p:spPr>
          <a:xfrm>
            <a:off x="6861840" y="3940069"/>
            <a:ext cx="611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8" idx="3"/>
            <a:endCxn id="4" idx="1"/>
          </p:cNvCxnSpPr>
          <p:nvPr/>
        </p:nvCxnSpPr>
        <p:spPr>
          <a:xfrm flipV="1">
            <a:off x="4899208" y="4119921"/>
            <a:ext cx="659093" cy="7851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6" idx="3"/>
            <a:endCxn id="5" idx="1"/>
          </p:cNvCxnSpPr>
          <p:nvPr/>
        </p:nvCxnSpPr>
        <p:spPr>
          <a:xfrm>
            <a:off x="4899208" y="2744824"/>
            <a:ext cx="659093" cy="10368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89417" y="3635168"/>
            <a:ext cx="1419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Original Image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89417" y="5803682"/>
            <a:ext cx="1419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Reconstructed Image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63489" y="4840069"/>
            <a:ext cx="1419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Anomaly Map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6705" y="5478231"/>
            <a:ext cx="1746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Diffusion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모델 훈련 시</a:t>
            </a:r>
            <a:endParaRPr lang="en-US" altLang="ko-KR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정상 데이터만 사용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1323" y="5482148"/>
            <a:ext cx="2052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Reconstruction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 </a:t>
            </a:r>
            <a:endParaRPr lang="en-US" altLang="ko-KR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정상 데이터에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biased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된</a:t>
            </a:r>
            <a:endParaRPr lang="en-US" altLang="ko-KR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결과물 생성</a:t>
            </a:r>
          </a:p>
        </p:txBody>
      </p:sp>
    </p:spTree>
    <p:extLst>
      <p:ext uri="{BB962C8B-B14F-4D97-AF65-F5344CB8AC3E}">
        <p14:creationId xmlns:p14="http://schemas.microsoft.com/office/powerpoint/2010/main" val="19225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19</a:t>
            </a:fld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858677" y="1589187"/>
            <a:ext cx="7938524" cy="4237134"/>
            <a:chOff x="858677" y="1589187"/>
            <a:chExt cx="7938524" cy="4237134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27939" y="1589455"/>
              <a:ext cx="1980000" cy="1980000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7939" y="3569455"/>
              <a:ext cx="1980000" cy="198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59692" y="5549321"/>
              <a:ext cx="11964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원본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44323" y="5549321"/>
              <a:ext cx="11964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Reconstruction</a:t>
              </a:r>
              <a:endPara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176357" y="5549322"/>
              <a:ext cx="12831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Ground Truth Mask</a:t>
              </a:r>
              <a:endPara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199692" y="5549322"/>
              <a:ext cx="11964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Anomaly Map</a:t>
              </a:r>
              <a:endPara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43308" y="3569321"/>
              <a:ext cx="1980000" cy="198000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8677" y="3569321"/>
              <a:ext cx="1980000" cy="198000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2569" y="3569321"/>
              <a:ext cx="1980000" cy="1980000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9115" y="1594524"/>
              <a:ext cx="1980000" cy="1980000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38677" y="1589187"/>
              <a:ext cx="1980000" cy="1980000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17201" y="1589187"/>
              <a:ext cx="1980000" cy="19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788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EF1D3-C98D-4787-342E-B44CF36D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22BCF-B404-A539-3437-36626694FF8A}"/>
              </a:ext>
            </a:extLst>
          </p:cNvPr>
          <p:cNvSpPr txBox="1"/>
          <p:nvPr/>
        </p:nvSpPr>
        <p:spPr>
          <a:xfrm>
            <a:off x="941225" y="5012976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Input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A77A3-DCAF-D1C4-58AB-E5113B87F834}"/>
              </a:ext>
            </a:extLst>
          </p:cNvPr>
          <p:cNvSpPr txBox="1"/>
          <p:nvPr/>
        </p:nvSpPr>
        <p:spPr>
          <a:xfrm>
            <a:off x="4015771" y="3865972"/>
            <a:ext cx="1493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Zero-shot Proposed Bounding Boxes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0EBFA0-3AAF-7734-A88F-ABD2E2774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249" y="2135310"/>
            <a:ext cx="1795556" cy="18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D0814F-5046-3E1C-9E94-FABF1044F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966" y="3525152"/>
            <a:ext cx="1172744" cy="117564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49233BB-78F0-346A-B07C-B06E90494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256" y="3212975"/>
            <a:ext cx="1795556" cy="18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068C0E4-36B5-F572-AC36-CC0510424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6249" y="4336103"/>
            <a:ext cx="1795556" cy="180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3306B04-5B9C-7AC8-B6D0-036F542F66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503" y="3212976"/>
            <a:ext cx="1795556" cy="18000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E37750-6662-5FC8-04FB-C797FCA5A32A}"/>
              </a:ext>
            </a:extLst>
          </p:cNvPr>
          <p:cNvSpPr/>
          <p:nvPr/>
        </p:nvSpPr>
        <p:spPr>
          <a:xfrm>
            <a:off x="2803689" y="4979580"/>
            <a:ext cx="817344" cy="5130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DDAD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0DE4B1-FC44-9B5E-5690-94E358B3E241}"/>
              </a:ext>
            </a:extLst>
          </p:cNvPr>
          <p:cNvSpPr/>
          <p:nvPr/>
        </p:nvSpPr>
        <p:spPr>
          <a:xfrm>
            <a:off x="2773935" y="2774774"/>
            <a:ext cx="817344" cy="5130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Grounding Dino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cxnSp>
        <p:nvCxnSpPr>
          <p:cNvPr id="13" name="꺾인 연결선 12">
            <a:extLst>
              <a:ext uri="{FF2B5EF4-FFF2-40B4-BE49-F238E27FC236}">
                <a16:creationId xmlns:a16="http://schemas.microsoft.com/office/drawing/2014/main" id="{4399B345-09A8-D2E9-3A92-A78AED31FDB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343059" y="4112976"/>
            <a:ext cx="460630" cy="11231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꺾인 연결선 13">
            <a:extLst>
              <a:ext uri="{FF2B5EF4-FFF2-40B4-BE49-F238E27FC236}">
                <a16:creationId xmlns:a16="http://schemas.microsoft.com/office/drawing/2014/main" id="{CDE1F7C8-8129-E66C-88EA-8AC8D1F8439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2343059" y="3031298"/>
            <a:ext cx="430876" cy="10816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1D74E76-018E-9AA9-B2B9-F7D937F8082F}"/>
              </a:ext>
            </a:extLst>
          </p:cNvPr>
          <p:cNvCxnSpPr>
            <a:stCxn id="11" idx="3"/>
            <a:endCxn id="9" idx="1"/>
          </p:cNvCxnSpPr>
          <p:nvPr/>
        </p:nvCxnSpPr>
        <p:spPr>
          <a:xfrm flipV="1">
            <a:off x="3621033" y="5236103"/>
            <a:ext cx="2452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CE7A239-6650-F7EC-9FD5-D64BA3055C9E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>
            <a:off x="3591279" y="3031298"/>
            <a:ext cx="274970" cy="4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꺾인 연결선 16">
            <a:extLst>
              <a:ext uri="{FF2B5EF4-FFF2-40B4-BE49-F238E27FC236}">
                <a16:creationId xmlns:a16="http://schemas.microsoft.com/office/drawing/2014/main" id="{FB36029B-DECF-87EC-AFAD-CB62D46112D6}"/>
              </a:ext>
            </a:extLst>
          </p:cNvPr>
          <p:cNvCxnSpPr>
            <a:stCxn id="9" idx="3"/>
            <a:endCxn id="7" idx="1"/>
          </p:cNvCxnSpPr>
          <p:nvPr/>
        </p:nvCxnSpPr>
        <p:spPr>
          <a:xfrm flipV="1">
            <a:off x="5661805" y="4112976"/>
            <a:ext cx="367161" cy="11231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꺾인 연결선 17">
            <a:extLst>
              <a:ext uri="{FF2B5EF4-FFF2-40B4-BE49-F238E27FC236}">
                <a16:creationId xmlns:a16="http://schemas.microsoft.com/office/drawing/2014/main" id="{B7E19498-6FBC-83A8-CDAA-018A5B0CBE1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661805" y="3035310"/>
            <a:ext cx="367161" cy="10776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C3DF8D-E632-6C8F-38C1-B73D422154CB}"/>
              </a:ext>
            </a:extLst>
          </p:cNvPr>
          <p:cNvSpPr txBox="1"/>
          <p:nvPr/>
        </p:nvSpPr>
        <p:spPr>
          <a:xfrm>
            <a:off x="3970753" y="6087664"/>
            <a:ext cx="1401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Pixel-wise Score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7E5B2B-A127-20E4-257A-DE64CE43838C}"/>
              </a:ext>
            </a:extLst>
          </p:cNvPr>
          <p:cNvSpPr txBox="1"/>
          <p:nvPr/>
        </p:nvSpPr>
        <p:spPr>
          <a:xfrm>
            <a:off x="5914421" y="4700799"/>
            <a:ext cx="1401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Significant Box Selection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B36C2C9-E75F-5B9F-905A-5F337324302F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7201710" y="4112975"/>
            <a:ext cx="2165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69ED8E-7076-2ADE-5851-D84AAD025EBE}"/>
              </a:ext>
            </a:extLst>
          </p:cNvPr>
          <p:cNvSpPr txBox="1"/>
          <p:nvPr/>
        </p:nvSpPr>
        <p:spPr>
          <a:xfrm>
            <a:off x="7615117" y="5012381"/>
            <a:ext cx="1401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Output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56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21</a:t>
            </a:fld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47503" y="2132856"/>
            <a:ext cx="8666309" cy="4385300"/>
            <a:chOff x="463155" y="1780004"/>
            <a:chExt cx="8666309" cy="4385300"/>
          </a:xfrm>
        </p:grpSpPr>
        <p:sp>
          <p:nvSpPr>
            <p:cNvPr id="4" name="TextBox 3"/>
            <p:cNvSpPr txBox="1"/>
            <p:nvPr/>
          </p:nvSpPr>
          <p:spPr>
            <a:xfrm>
              <a:off x="856877" y="4660124"/>
              <a:ext cx="1008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</a:rPr>
                <a:t>Input</a:t>
              </a:r>
              <a:endParaRPr lang="ko-KR" altLang="en-US" sz="1200" dirty="0">
                <a:latin typeface="Arial Narrow" panose="020B0606020202030204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40709" y="5703639"/>
              <a:ext cx="14932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</a:rPr>
                <a:t>Zero-shot Proposed Bounding Boxes</a:t>
              </a:r>
              <a:endParaRPr lang="ko-KR" altLang="en-US" sz="1200" dirty="0">
                <a:latin typeface="Arial Narrow" panose="020B0606020202030204" pitchFamily="34" charset="0"/>
              </a:endParaRPr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91187" y="3903639"/>
              <a:ext cx="1795556" cy="180000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4618" y="3172300"/>
              <a:ext cx="1172744" cy="1175647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3908" y="2860123"/>
              <a:ext cx="1795556" cy="1800000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91187" y="1780004"/>
              <a:ext cx="1795556" cy="180000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3155" y="2860124"/>
              <a:ext cx="1795556" cy="1800000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2628627" y="2423481"/>
              <a:ext cx="817344" cy="5130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</a:rPr>
                <a:t>DDAD</a:t>
              </a:r>
              <a:endParaRPr lang="ko-KR" altLang="en-US" sz="1200" dirty="0">
                <a:latin typeface="Arial Narrow" panose="020B0606020202030204" pitchFamily="34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628627" y="4543103"/>
              <a:ext cx="817344" cy="5130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</a:rPr>
                <a:t>Grounding Dino</a:t>
              </a:r>
              <a:endParaRPr lang="ko-KR" altLang="en-US" sz="1200" dirty="0">
                <a:latin typeface="Arial Narrow" panose="020B0606020202030204" pitchFamily="34" charset="0"/>
              </a:endParaRPr>
            </a:p>
          </p:txBody>
        </p:sp>
        <p:cxnSp>
          <p:nvCxnSpPr>
            <p:cNvPr id="13" name="꺾인 연결선 12"/>
            <p:cNvCxnSpPr>
              <a:stCxn id="10" idx="3"/>
              <a:endCxn id="11" idx="1"/>
            </p:cNvCxnSpPr>
            <p:nvPr/>
          </p:nvCxnSpPr>
          <p:spPr>
            <a:xfrm flipV="1">
              <a:off x="2258711" y="2680005"/>
              <a:ext cx="369916" cy="108011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꺾인 연결선 13"/>
            <p:cNvCxnSpPr>
              <a:stCxn id="10" idx="3"/>
              <a:endCxn id="12" idx="1"/>
            </p:cNvCxnSpPr>
            <p:nvPr/>
          </p:nvCxnSpPr>
          <p:spPr>
            <a:xfrm>
              <a:off x="2258711" y="3760124"/>
              <a:ext cx="369916" cy="103950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>
              <a:stCxn id="11" idx="3"/>
              <a:endCxn id="9" idx="1"/>
            </p:cNvCxnSpPr>
            <p:nvPr/>
          </p:nvCxnSpPr>
          <p:spPr>
            <a:xfrm flipV="1">
              <a:off x="3445971" y="2680004"/>
              <a:ext cx="24521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>
              <a:stCxn id="12" idx="3"/>
              <a:endCxn id="6" idx="1"/>
            </p:cNvCxnSpPr>
            <p:nvPr/>
          </p:nvCxnSpPr>
          <p:spPr>
            <a:xfrm>
              <a:off x="3445971" y="4799627"/>
              <a:ext cx="245216" cy="40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꺾인 연결선 16"/>
            <p:cNvCxnSpPr>
              <a:stCxn id="9" idx="3"/>
              <a:endCxn id="7" idx="1"/>
            </p:cNvCxnSpPr>
            <p:nvPr/>
          </p:nvCxnSpPr>
          <p:spPr>
            <a:xfrm>
              <a:off x="5486743" y="2680004"/>
              <a:ext cx="457875" cy="108012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꺾인 연결선 17"/>
            <p:cNvCxnSpPr>
              <a:stCxn id="6" idx="3"/>
              <a:endCxn id="7" idx="1"/>
            </p:cNvCxnSpPr>
            <p:nvPr/>
          </p:nvCxnSpPr>
          <p:spPr>
            <a:xfrm flipV="1">
              <a:off x="5486743" y="3760124"/>
              <a:ext cx="457875" cy="104351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886405" y="3531565"/>
              <a:ext cx="14018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</a:rPr>
                <a:t>Pixel-wise Score</a:t>
              </a:r>
              <a:endParaRPr lang="ko-KR" altLang="en-US" sz="1200" dirty="0">
                <a:latin typeface="Arial Narrow" panose="020B060602020203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30073" y="4347947"/>
              <a:ext cx="14018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Significant Box Selection</a:t>
              </a:r>
              <a:endPara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1" name="직선 화살표 연결선 20"/>
            <p:cNvCxnSpPr>
              <a:stCxn id="7" idx="3"/>
              <a:endCxn id="8" idx="1"/>
            </p:cNvCxnSpPr>
            <p:nvPr/>
          </p:nvCxnSpPr>
          <p:spPr>
            <a:xfrm flipV="1">
              <a:off x="7117362" y="3760123"/>
              <a:ext cx="21654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7530769" y="4659529"/>
              <a:ext cx="14018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 Narrow" panose="020B0606020202030204" pitchFamily="34" charset="0"/>
                </a:rPr>
                <a:t>Output</a:t>
              </a:r>
              <a:endParaRPr lang="ko-KR" altLang="en-US" sz="1200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42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22</a:t>
            </a:fld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3527" t="4485" r="4762" b="4030"/>
          <a:stretch/>
        </p:blipFill>
        <p:spPr>
          <a:xfrm>
            <a:off x="7099468" y="1964647"/>
            <a:ext cx="1800000" cy="1800000"/>
          </a:xfrm>
          <a:prstGeom prst="rect">
            <a:avLst/>
          </a:prstGeom>
        </p:spPr>
      </p:pic>
      <p:pic>
        <p:nvPicPr>
          <p:cNvPr id="4" name="그림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3589" y="1961643"/>
            <a:ext cx="1800000" cy="1800000"/>
          </a:xfrm>
          <a:prstGeom prst="rect">
            <a:avLst/>
          </a:prstGeom>
        </p:spPr>
      </p:pic>
      <p:pic>
        <p:nvPicPr>
          <p:cNvPr id="5" name="그림 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811012" y="1961643"/>
            <a:ext cx="1800000" cy="18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79533" y="5661048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GT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14070" y="5661048"/>
            <a:ext cx="1190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>
                <a:latin typeface="Arial Narrow" panose="020B0606020202030204" pitchFamily="34" charset="0"/>
              </a:rPr>
              <a:t>GroundingDino</a:t>
            </a:r>
            <a:endParaRPr lang="en-US" altLang="ko-KR" sz="1200" dirty="0">
              <a:latin typeface="Arial Narrow" panose="020B0606020202030204" pitchFamily="34" charset="0"/>
            </a:endParaRPr>
          </a:p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(Fine-tuned)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pic>
        <p:nvPicPr>
          <p:cNvPr id="8" name="그림 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48267" y="1961643"/>
            <a:ext cx="1800000" cy="180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6"/>
          <a:srcRect l="4010" t="4002" r="3751" b="3989"/>
          <a:stretch/>
        </p:blipFill>
        <p:spPr>
          <a:xfrm>
            <a:off x="7099468" y="3866949"/>
            <a:ext cx="1800000" cy="1800000"/>
          </a:xfrm>
          <a:prstGeom prst="rect">
            <a:avLst/>
          </a:prstGeom>
        </p:spPr>
      </p:pic>
      <p:pic>
        <p:nvPicPr>
          <p:cNvPr id="10" name="그림 9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83589" y="3861048"/>
            <a:ext cx="1800000" cy="1800000"/>
          </a:xfrm>
          <a:prstGeom prst="rect">
            <a:avLst/>
          </a:prstGeom>
        </p:spPr>
      </p:pic>
      <p:pic>
        <p:nvPicPr>
          <p:cNvPr id="11" name="그림 10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811012" y="3861048"/>
            <a:ext cx="1800000" cy="1800000"/>
          </a:xfrm>
          <a:prstGeom prst="rect">
            <a:avLst/>
          </a:prstGeom>
        </p:spPr>
      </p:pic>
      <p:pic>
        <p:nvPicPr>
          <p:cNvPr id="12" name="그림 11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4748267" y="3859272"/>
            <a:ext cx="1800000" cy="18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52819" y="5650218"/>
            <a:ext cx="1190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YOLOv7</a:t>
            </a:r>
          </a:p>
          <a:p>
            <a:pPr algn="ctr"/>
            <a:r>
              <a:rPr lang="en-US" altLang="ko-KR" sz="1200" dirty="0">
                <a:latin typeface="Arial Narrow" panose="020B0606020202030204" pitchFamily="34" charset="0"/>
              </a:rPr>
              <a:t>(Fine-tuned)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85496" y="5666949"/>
            <a:ext cx="1827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latin typeface="Arial Narrow" panose="020B0606020202030204" pitchFamily="34" charset="0"/>
              </a:rPr>
              <a:t>GroundingDino</a:t>
            </a:r>
            <a:r>
              <a:rPr lang="en-US" altLang="ko-KR" sz="1200" b="1" dirty="0">
                <a:latin typeface="Arial Narrow" panose="020B0606020202030204" pitchFamily="34" charset="0"/>
              </a:rPr>
              <a:t> + DDAD</a:t>
            </a:r>
          </a:p>
          <a:p>
            <a:pPr algn="ctr"/>
            <a:r>
              <a:rPr lang="en-US" altLang="ko-KR" sz="1200" b="1" dirty="0">
                <a:latin typeface="Arial Narrow" panose="020B0606020202030204" pitchFamily="34" charset="0"/>
              </a:rPr>
              <a:t>(Unsupervised Learned)</a:t>
            </a:r>
            <a:endParaRPr lang="ko-KR" altLang="en-US" sz="1200" b="1" dirty="0">
              <a:latin typeface="Arial Narrow" panose="020B0606020202030204" pitchFamily="34" charset="0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6825208" y="1730225"/>
            <a:ext cx="0" cy="4392488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92325C-6965-5AB6-0E0E-D19288496EDA}"/>
              </a:ext>
            </a:extLst>
          </p:cNvPr>
          <p:cNvSpPr txBox="1"/>
          <p:nvPr/>
        </p:nvSpPr>
        <p:spPr>
          <a:xfrm>
            <a:off x="2476500" y="3244334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DEPLOYMENT_NAME</a:t>
            </a:r>
            <a:endParaRPr lang="en-US" altLang="ko-KR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1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44D2-E6F9-BB7E-AEA1-D92979A3A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30ED0CB-BC2B-1037-E8F9-2A4149A2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23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856D9-6E8D-D2F3-C741-37C4F5E3A094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진단 </a:t>
            </a:r>
            <a:r>
              <a:rPr kumimoji="0" lang="en-US" altLang="ko-KR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DX</a:t>
            </a:r>
            <a:endParaRPr kumimoji="0" lang="ko-KR" altLang="en-US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81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E204-2CE0-A083-90CF-79443FE3D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035E9B9-D597-05BC-C9B7-C4080B2E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24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8502B-D3E8-6B23-0863-B25F4F387082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진단 </a:t>
            </a:r>
            <a:r>
              <a:rPr kumimoji="0" lang="en-US" altLang="ko-KR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DX</a:t>
            </a:r>
            <a:endParaRPr kumimoji="0" lang="ko-KR" altLang="en-US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6656AF-7F44-41EE-C0C1-258553526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30" y="2168860"/>
            <a:ext cx="8330825" cy="3428341"/>
          </a:xfrm>
          <a:prstGeom prst="rect">
            <a:avLst/>
          </a:prstGeom>
        </p:spPr>
      </p:pic>
      <p:sp>
        <p:nvSpPr>
          <p:cNvPr id="8" name="Text Box 64">
            <a:extLst>
              <a:ext uri="{FF2B5EF4-FFF2-40B4-BE49-F238E27FC236}">
                <a16:creationId xmlns:a16="http://schemas.microsoft.com/office/drawing/2014/main" id="{89B1EB04-32DC-805F-FF1C-D30D0C664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en-US" altLang="ko-KR" sz="1400" b="1" dirty="0" err="1">
                <a:solidFill>
                  <a:srgbClr val="000000"/>
                </a:solidFill>
              </a:rPr>
              <a:t>Mellerikat</a:t>
            </a:r>
            <a:r>
              <a:rPr lang="ko-KR" altLang="en-US" sz="1400" b="1" dirty="0">
                <a:solidFill>
                  <a:srgbClr val="000000"/>
                </a:solidFill>
              </a:rPr>
              <a:t>의 </a:t>
            </a:r>
            <a:r>
              <a:rPr lang="en-US" altLang="ko-KR" sz="1400" b="1" dirty="0">
                <a:solidFill>
                  <a:srgbClr val="000000"/>
                </a:solidFill>
              </a:rPr>
              <a:t>3</a:t>
            </a:r>
            <a:r>
              <a:rPr lang="ko-KR" altLang="en-US" sz="1400" b="1" dirty="0">
                <a:solidFill>
                  <a:srgbClr val="000000"/>
                </a:solidFill>
              </a:rPr>
              <a:t>가지 컴포넌트 중 추론부인 </a:t>
            </a:r>
            <a:r>
              <a:rPr lang="en-US" altLang="ko-KR" sz="1400" b="1" dirty="0">
                <a:solidFill>
                  <a:srgbClr val="000000"/>
                </a:solidFill>
              </a:rPr>
              <a:t>Edge App</a:t>
            </a:r>
            <a:r>
              <a:rPr lang="ko-KR" altLang="en-US" sz="1400" b="1" dirty="0">
                <a:solidFill>
                  <a:srgbClr val="000000"/>
                </a:solidFill>
              </a:rPr>
              <a:t>이 </a:t>
            </a:r>
            <a:r>
              <a:rPr lang="en-US" altLang="ko-KR" sz="1400" b="1" dirty="0">
                <a:solidFill>
                  <a:srgbClr val="000000"/>
                </a:solidFill>
              </a:rPr>
              <a:t>EAP (GCP </a:t>
            </a:r>
            <a:r>
              <a:rPr lang="ko-KR" altLang="en-US" sz="1400" b="1" dirty="0">
                <a:solidFill>
                  <a:srgbClr val="000000"/>
                </a:solidFill>
              </a:rPr>
              <a:t>환경</a:t>
            </a:r>
            <a:r>
              <a:rPr lang="en-US" altLang="ko-KR" sz="1400" b="1" dirty="0">
                <a:solidFill>
                  <a:srgbClr val="000000"/>
                </a:solidFill>
              </a:rPr>
              <a:t>)</a:t>
            </a:r>
            <a:r>
              <a:rPr lang="ko-KR" altLang="en-US" sz="1400" b="1" dirty="0">
                <a:solidFill>
                  <a:srgbClr val="000000"/>
                </a:solidFill>
              </a:rPr>
              <a:t>에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나머지 </a:t>
            </a:r>
            <a:r>
              <a:rPr lang="en-US" altLang="ko-KR" sz="1400" b="1" dirty="0">
                <a:solidFill>
                  <a:srgbClr val="000000"/>
                </a:solidFill>
              </a:rPr>
              <a:t>2</a:t>
            </a:r>
            <a:r>
              <a:rPr lang="ko-KR" altLang="en-US" sz="1400" b="1" dirty="0">
                <a:solidFill>
                  <a:srgbClr val="000000"/>
                </a:solidFill>
              </a:rPr>
              <a:t>개 모듈은 </a:t>
            </a:r>
            <a:r>
              <a:rPr lang="en-US" altLang="ko-KR" sz="1400" b="1" dirty="0">
                <a:solidFill>
                  <a:srgbClr val="000000"/>
                </a:solidFill>
              </a:rPr>
              <a:t>IOP (AWS </a:t>
            </a:r>
            <a:r>
              <a:rPr lang="ko-KR" altLang="en-US" sz="1400" b="1" dirty="0">
                <a:solidFill>
                  <a:srgbClr val="000000"/>
                </a:solidFill>
              </a:rPr>
              <a:t>환경</a:t>
            </a:r>
            <a:r>
              <a:rPr lang="en-US" altLang="ko-KR" sz="1400" b="1" dirty="0">
                <a:solidFill>
                  <a:srgbClr val="000000"/>
                </a:solidFill>
              </a:rPr>
              <a:t>)</a:t>
            </a:r>
            <a:r>
              <a:rPr lang="ko-KR" altLang="en-US" sz="1400" b="1" dirty="0">
                <a:solidFill>
                  <a:srgbClr val="000000"/>
                </a:solidFill>
              </a:rPr>
              <a:t>에 존재합니다</a:t>
            </a:r>
            <a:r>
              <a:rPr lang="en-US" altLang="ko-KR" sz="1400" b="1" dirty="0">
                <a:solidFill>
                  <a:srgbClr val="000000"/>
                </a:solidFill>
              </a:rPr>
              <a:t>. </a:t>
            </a:r>
            <a:r>
              <a:rPr lang="ko-KR" altLang="en-US" sz="1400" b="1" dirty="0">
                <a:solidFill>
                  <a:srgbClr val="000000"/>
                </a:solidFill>
              </a:rPr>
              <a:t>따라서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학습은 </a:t>
            </a:r>
            <a:r>
              <a:rPr lang="en-US" altLang="ko-KR" sz="1400" b="1" dirty="0">
                <a:solidFill>
                  <a:srgbClr val="000000"/>
                </a:solidFill>
              </a:rPr>
              <a:t>IOP, </a:t>
            </a:r>
            <a:r>
              <a:rPr lang="ko-KR" altLang="en-US" sz="1400" b="1" dirty="0">
                <a:solidFill>
                  <a:srgbClr val="000000"/>
                </a:solidFill>
              </a:rPr>
              <a:t>추론은 </a:t>
            </a:r>
            <a:r>
              <a:rPr lang="en-US" altLang="ko-KR" sz="1400" b="1" dirty="0">
                <a:solidFill>
                  <a:srgbClr val="000000"/>
                </a:solidFill>
              </a:rPr>
              <a:t>EAP </a:t>
            </a:r>
            <a:r>
              <a:rPr lang="ko-KR" altLang="en-US" sz="1400" b="1" dirty="0">
                <a:solidFill>
                  <a:srgbClr val="000000"/>
                </a:solidFill>
              </a:rPr>
              <a:t>에서 동작합니다</a:t>
            </a:r>
            <a:r>
              <a:rPr lang="en-US" altLang="ko-KR" sz="1400" b="1" dirty="0">
                <a:solidFill>
                  <a:srgbClr val="000000"/>
                </a:solidFill>
              </a:rPr>
              <a:t>. EAP (GCP </a:t>
            </a:r>
            <a:r>
              <a:rPr lang="ko-KR" altLang="en-US" sz="1400" b="1" dirty="0">
                <a:solidFill>
                  <a:srgbClr val="000000"/>
                </a:solidFill>
              </a:rPr>
              <a:t>환경</a:t>
            </a:r>
            <a:r>
              <a:rPr lang="en-US" altLang="ko-KR" sz="1400" b="1" dirty="0">
                <a:solidFill>
                  <a:srgbClr val="000000"/>
                </a:solidFill>
              </a:rPr>
              <a:t>)</a:t>
            </a:r>
            <a:r>
              <a:rPr lang="ko-KR" altLang="en-US" sz="1400" b="1" dirty="0">
                <a:solidFill>
                  <a:srgbClr val="000000"/>
                </a:solidFill>
              </a:rPr>
              <a:t>의 진단 데이터가 학습을 위해 </a:t>
            </a:r>
            <a:r>
              <a:rPr lang="en-US" altLang="ko-KR" sz="1400" b="1" dirty="0">
                <a:solidFill>
                  <a:srgbClr val="000000"/>
                </a:solidFill>
              </a:rPr>
              <a:t>IOP </a:t>
            </a:r>
            <a:r>
              <a:rPr lang="ko-KR" altLang="en-US" sz="1400" b="1" dirty="0">
                <a:solidFill>
                  <a:srgbClr val="000000"/>
                </a:solidFill>
              </a:rPr>
              <a:t>로 전달되고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추론 데이터는 </a:t>
            </a:r>
            <a:r>
              <a:rPr lang="en-US" altLang="ko-KR" sz="1400" b="1" dirty="0">
                <a:solidFill>
                  <a:srgbClr val="000000"/>
                </a:solidFill>
              </a:rPr>
              <a:t>IOP</a:t>
            </a:r>
            <a:r>
              <a:rPr lang="ko-KR" altLang="en-US" sz="1400" b="1" dirty="0">
                <a:solidFill>
                  <a:srgbClr val="000000"/>
                </a:solidFill>
              </a:rPr>
              <a:t>로 전달되지 않습니다</a:t>
            </a:r>
            <a:r>
              <a:rPr lang="en-US" altLang="ko-KR" sz="1400" b="1" dirty="0">
                <a:solidFill>
                  <a:srgbClr val="000000"/>
                </a:solidFill>
              </a:rPr>
              <a:t>. Edge App</a:t>
            </a:r>
            <a:r>
              <a:rPr lang="ko-KR" altLang="en-US" sz="1400" b="1" dirty="0">
                <a:solidFill>
                  <a:srgbClr val="000000"/>
                </a:solidFill>
              </a:rPr>
              <a:t>의 추론 결과물 중 일부는 </a:t>
            </a:r>
            <a:r>
              <a:rPr lang="en-US" altLang="ko-KR" sz="1400" b="1" dirty="0">
                <a:solidFill>
                  <a:srgbClr val="000000"/>
                </a:solidFill>
              </a:rPr>
              <a:t>IOP</a:t>
            </a:r>
            <a:r>
              <a:rPr lang="ko-KR" altLang="en-US" sz="1400" b="1" dirty="0">
                <a:solidFill>
                  <a:srgbClr val="000000"/>
                </a:solidFill>
              </a:rPr>
              <a:t>의 </a:t>
            </a:r>
            <a:r>
              <a:rPr lang="en-US" altLang="ko-KR" sz="1400" b="1" dirty="0">
                <a:solidFill>
                  <a:srgbClr val="000000"/>
                </a:solidFill>
              </a:rPr>
              <a:t>Edge Conductor</a:t>
            </a:r>
            <a:r>
              <a:rPr lang="ko-KR" altLang="en-US" sz="1400" b="1" dirty="0">
                <a:solidFill>
                  <a:srgbClr val="000000"/>
                </a:solidFill>
              </a:rPr>
              <a:t>로 전달되어 추론 성능 모니터링에 활용됩니다</a:t>
            </a:r>
            <a:r>
              <a:rPr lang="en-US" altLang="ko-KR" sz="1400" b="1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1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564952" y="1380728"/>
            <a:ext cx="3905236" cy="3424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</a:t>
            </a:r>
            <a:r>
              <a:rPr lang="ko-KR" altLang="en-US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예시</a:t>
            </a:r>
            <a:r>
              <a:rPr lang="en-US" altLang="ko-KR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) </a:t>
            </a:r>
            <a:r>
              <a:rPr lang="ko-KR" altLang="en-US" sz="1625" dirty="0" err="1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선매출</a:t>
            </a:r>
            <a:r>
              <a:rPr lang="ko-KR" altLang="en-US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– </a:t>
            </a:r>
            <a:r>
              <a:rPr lang="ko-KR" altLang="en-US" sz="1625" dirty="0" err="1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리스크</a:t>
            </a:r>
            <a:r>
              <a:rPr lang="ko-KR" altLang="en-US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분류 모델 적용 사례</a:t>
            </a:r>
            <a:endParaRPr lang="en-US" altLang="ko-KR" sz="1625" dirty="0">
              <a:solidFill>
                <a:schemeClr val="bg1"/>
              </a:solidFill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E55EBB7F-D0BC-462A-A60F-0D1EC8C666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468" y="5477272"/>
            <a:ext cx="514976" cy="27905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67143" y="1879751"/>
            <a:ext cx="1891865" cy="279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19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및 추론용 데이터 준비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716475" y="2521895"/>
            <a:ext cx="2514392" cy="1699439"/>
            <a:chOff x="997679" y="2209369"/>
            <a:chExt cx="3094636" cy="2091617"/>
          </a:xfrm>
        </p:grpSpPr>
        <p:pic>
          <p:nvPicPr>
            <p:cNvPr id="42" name="그림 41"/>
            <p:cNvPicPr>
              <a:picLocks noChangeAspect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00" t="1700" r="15350" b="15350"/>
            <a:stretch/>
          </p:blipFill>
          <p:spPr>
            <a:xfrm>
              <a:off x="1483545" y="2209369"/>
              <a:ext cx="623139" cy="713450"/>
            </a:xfrm>
            <a:prstGeom prst="rect">
              <a:avLst/>
            </a:prstGeom>
          </p:spPr>
        </p:pic>
        <p:sp>
          <p:nvSpPr>
            <p:cNvPr id="44" name="직사각형 43"/>
            <p:cNvSpPr/>
            <p:nvPr/>
          </p:nvSpPr>
          <p:spPr>
            <a:xfrm>
              <a:off x="1577107" y="2998418"/>
              <a:ext cx="436017" cy="19997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매출</a:t>
              </a:r>
              <a:r>
                <a:rPr lang="ko-KR" altLang="en-US" sz="1056" baseline="300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1056" baseline="300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1)</a:t>
              </a:r>
              <a:endParaRPr lang="ko-KR" altLang="en-US" sz="1056" baseline="300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00" t="1700" r="15350" b="15350"/>
            <a:stretch/>
          </p:blipFill>
          <p:spPr>
            <a:xfrm>
              <a:off x="2760919" y="2209369"/>
              <a:ext cx="623139" cy="713450"/>
            </a:xfrm>
            <a:prstGeom prst="rect">
              <a:avLst/>
            </a:prstGeom>
          </p:spPr>
        </p:pic>
        <p:sp>
          <p:nvSpPr>
            <p:cNvPr id="70" name="직사각형 69"/>
            <p:cNvSpPr/>
            <p:nvPr/>
          </p:nvSpPr>
          <p:spPr>
            <a:xfrm>
              <a:off x="2421424" y="2998418"/>
              <a:ext cx="1302133" cy="19997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외부데이터</a:t>
              </a:r>
              <a:r>
                <a:rPr lang="en-US" altLang="ko-KR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1056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구글맵</a:t>
              </a:r>
              <a:r>
                <a:rPr lang="en-US" altLang="ko-KR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endParaRPr lang="ko-KR" altLang="en-US" sz="1056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00" t="1700" r="15350" b="15350"/>
            <a:stretch/>
          </p:blipFill>
          <p:spPr>
            <a:xfrm>
              <a:off x="1412296" y="3533116"/>
              <a:ext cx="623139" cy="713450"/>
            </a:xfrm>
            <a:prstGeom prst="rect">
              <a:avLst/>
            </a:prstGeom>
          </p:spPr>
        </p:pic>
        <p:sp>
          <p:nvSpPr>
            <p:cNvPr id="3" name="모서리가 둥근 직사각형 2"/>
            <p:cNvSpPr/>
            <p:nvPr/>
          </p:nvSpPr>
          <p:spPr>
            <a:xfrm>
              <a:off x="997679" y="3427066"/>
              <a:ext cx="3094636" cy="873920"/>
            </a:xfrm>
            <a:prstGeom prst="roundRect">
              <a:avLst>
                <a:gd name="adj" fmla="val 10785"/>
              </a:avLst>
            </a:prstGeom>
            <a:noFill/>
            <a:ln>
              <a:solidFill>
                <a:schemeClr val="accent1">
                  <a:lumMod val="9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2231956" y="3589759"/>
              <a:ext cx="1621745" cy="59992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유통재고 등</a:t>
              </a:r>
              <a:endParaRPr lang="en-US" altLang="ko-KR" sz="1056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향후</a:t>
              </a:r>
              <a:r>
                <a:rPr lang="en-US" altLang="ko-KR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056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선매출과 연관지어 </a:t>
              </a:r>
              <a:br>
                <a:rPr lang="en-US" altLang="ko-KR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056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볼 수 있는 데이터</a:t>
              </a:r>
              <a:endParaRPr lang="ko-KR" altLang="en-US" sz="1056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124809" y="5019526"/>
            <a:ext cx="1696622" cy="717801"/>
            <a:chOff x="1450882" y="5283376"/>
            <a:chExt cx="2088150" cy="88344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16" t="3934" r="18670" b="15848"/>
            <a:stretch/>
          </p:blipFill>
          <p:spPr>
            <a:xfrm>
              <a:off x="1450882" y="5283376"/>
              <a:ext cx="688463" cy="883447"/>
            </a:xfrm>
            <a:prstGeom prst="rect">
              <a:avLst/>
            </a:prstGeom>
          </p:spPr>
        </p:pic>
        <p:sp>
          <p:nvSpPr>
            <p:cNvPr id="105" name="직사각형 104"/>
            <p:cNvSpPr/>
            <p:nvPr/>
          </p:nvSpPr>
          <p:spPr>
            <a:xfrm>
              <a:off x="2365140" y="5625071"/>
              <a:ext cx="1173892" cy="19997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ko-KR" sz="105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Human Labeling</a:t>
              </a:r>
              <a:endParaRPr lang="ko-KR" altLang="en-US" sz="1056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7260650" y="3223292"/>
            <a:ext cx="244362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AI </a:t>
            </a:r>
            <a:r>
              <a:rPr lang="ko-KR" altLang="en-US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진단</a:t>
            </a:r>
            <a:r>
              <a:rPr lang="en-US" altLang="ko-KR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솔루션은</a:t>
            </a:r>
            <a:endParaRPr lang="en-US" altLang="ko-KR" b="1" dirty="0">
              <a:solidFill>
                <a:srgbClr val="F5493C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룰 기반 진단 방식에 비해 과다검출을 </a:t>
            </a:r>
            <a:br>
              <a:rPr lang="en-US" altLang="ko-KR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</a:t>
            </a:r>
            <a:r>
              <a:rPr lang="en-US" altLang="ko-KR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88% </a:t>
            </a:r>
            <a:r>
              <a:rPr lang="ko-KR" altLang="en-US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줄였으며</a:t>
            </a:r>
            <a:r>
              <a:rPr lang="en-US" altLang="ko-KR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br>
              <a:rPr lang="en-US" altLang="ko-KR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</a:t>
            </a:r>
            <a:r>
              <a:rPr lang="ko-KR" altLang="en-US" b="1" dirty="0" err="1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선매출</a:t>
            </a:r>
            <a:r>
              <a:rPr lang="ko-KR" altLang="en-US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건들을</a:t>
            </a:r>
            <a:br>
              <a:rPr lang="en-US" altLang="ko-KR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검출할 수 있었습니다</a:t>
            </a:r>
            <a:r>
              <a:rPr lang="en-US" altLang="ko-KR" b="1" dirty="0">
                <a:solidFill>
                  <a:srgbClr val="F5493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82157" y="1897623"/>
            <a:ext cx="2959465" cy="467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19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Tabular Classification &amp; Regression </a:t>
            </a:r>
            <a:r>
              <a:rPr lang="ko-KR" altLang="en-US" sz="1219" u="sng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</a:t>
            </a:r>
            <a:endParaRPr lang="en-US" altLang="ko-KR" sz="1219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219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AI </a:t>
            </a:r>
            <a:r>
              <a:rPr lang="ko-KR" altLang="en-US" sz="1219" u="sng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적용</a:t>
            </a:r>
            <a:endParaRPr lang="ko-KR" altLang="en-US" sz="1219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456915" y="2347746"/>
            <a:ext cx="3112321" cy="3495841"/>
          </a:xfrm>
          <a:prstGeom prst="roundRect">
            <a:avLst>
              <a:gd name="adj" fmla="val 7218"/>
            </a:avLst>
          </a:prstGeom>
          <a:noFill/>
          <a:ln>
            <a:solidFill>
              <a:srgbClr val="F549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아래쪽 화살표 1"/>
          <p:cNvSpPr/>
          <p:nvPr/>
        </p:nvSpPr>
        <p:spPr>
          <a:xfrm>
            <a:off x="1732224" y="4470524"/>
            <a:ext cx="561701" cy="5137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이등변 삼각형 8"/>
          <p:cNvSpPr/>
          <p:nvPr/>
        </p:nvSpPr>
        <p:spPr>
          <a:xfrm rot="5400000">
            <a:off x="3357023" y="3960463"/>
            <a:ext cx="801702" cy="153702"/>
          </a:xfrm>
          <a:prstGeom prst="triangle">
            <a:avLst/>
          </a:prstGeom>
          <a:solidFill>
            <a:srgbClr val="F54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3905729" y="2347746"/>
            <a:ext cx="3112321" cy="3524165"/>
          </a:xfrm>
          <a:prstGeom prst="roundRect">
            <a:avLst>
              <a:gd name="adj" fmla="val 7218"/>
            </a:avLst>
          </a:prstGeom>
          <a:noFill/>
          <a:ln>
            <a:solidFill>
              <a:srgbClr val="F549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4151012" y="2864641"/>
            <a:ext cx="585000" cy="585000"/>
            <a:chOff x="2207568" y="2381862"/>
            <a:chExt cx="624915" cy="685230"/>
          </a:xfrm>
        </p:grpSpPr>
        <p:sp>
          <p:nvSpPr>
            <p:cNvPr id="76" name="모서리가 둥근 직사각형 75"/>
            <p:cNvSpPr/>
            <p:nvPr/>
          </p:nvSpPr>
          <p:spPr>
            <a:xfrm>
              <a:off x="2207568" y="2381862"/>
              <a:ext cx="624915" cy="68523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77" name="그림 76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81" t="1400" r="6800" b="15441"/>
            <a:stretch/>
          </p:blipFill>
          <p:spPr>
            <a:xfrm>
              <a:off x="2278298" y="2489054"/>
              <a:ext cx="483453" cy="471214"/>
            </a:xfrm>
            <a:prstGeom prst="rect">
              <a:avLst/>
            </a:prstGeom>
          </p:spPr>
        </p:pic>
      </p:grpSp>
      <p:grpSp>
        <p:nvGrpSpPr>
          <p:cNvPr id="78" name="그룹 77"/>
          <p:cNvGrpSpPr/>
          <p:nvPr/>
        </p:nvGrpSpPr>
        <p:grpSpPr>
          <a:xfrm>
            <a:off x="4151012" y="3645348"/>
            <a:ext cx="585000" cy="585000"/>
            <a:chOff x="2207568" y="2381862"/>
            <a:chExt cx="624915" cy="685230"/>
          </a:xfrm>
        </p:grpSpPr>
        <p:sp>
          <p:nvSpPr>
            <p:cNvPr id="79" name="모서리가 둥근 직사각형 78"/>
            <p:cNvSpPr/>
            <p:nvPr/>
          </p:nvSpPr>
          <p:spPr>
            <a:xfrm>
              <a:off x="2207568" y="2381862"/>
              <a:ext cx="624915" cy="68523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80" name="그림 79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81" t="1400" r="6800" b="15441"/>
            <a:stretch/>
          </p:blipFill>
          <p:spPr>
            <a:xfrm>
              <a:off x="2278298" y="2489054"/>
              <a:ext cx="483453" cy="471214"/>
            </a:xfrm>
            <a:prstGeom prst="rect">
              <a:avLst/>
            </a:prstGeom>
          </p:spPr>
        </p:pic>
      </p:grpSp>
      <p:grpSp>
        <p:nvGrpSpPr>
          <p:cNvPr id="81" name="그룹 80"/>
          <p:cNvGrpSpPr/>
          <p:nvPr/>
        </p:nvGrpSpPr>
        <p:grpSpPr>
          <a:xfrm>
            <a:off x="4151012" y="4884258"/>
            <a:ext cx="585000" cy="585000"/>
            <a:chOff x="2207568" y="2381862"/>
            <a:chExt cx="624915" cy="685230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2207568" y="2381862"/>
              <a:ext cx="624915" cy="68523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83" name="그림 82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81" t="1400" r="6800" b="15441"/>
            <a:stretch/>
          </p:blipFill>
          <p:spPr>
            <a:xfrm>
              <a:off x="2278298" y="2489054"/>
              <a:ext cx="483453" cy="471214"/>
            </a:xfrm>
            <a:prstGeom prst="rect">
              <a:avLst/>
            </a:prstGeom>
          </p:spPr>
        </p:pic>
      </p:grpSp>
      <p:sp>
        <p:nvSpPr>
          <p:cNvPr id="85" name="TextBox 84"/>
          <p:cNvSpPr txBox="1"/>
          <p:nvPr/>
        </p:nvSpPr>
        <p:spPr>
          <a:xfrm rot="16200000">
            <a:off x="5117587" y="4308348"/>
            <a:ext cx="458780" cy="442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75" dirty="0">
                <a:ea typeface="맑은 고딕" panose="020B0503020000020004" pitchFamily="50" charset="-127"/>
              </a:rPr>
              <a:t>∙</a:t>
            </a:r>
            <a:r>
              <a:rPr lang="ko-KR" altLang="en-US" sz="2275" dirty="0"/>
              <a:t>∙</a:t>
            </a:r>
            <a:r>
              <a:rPr lang="ko-KR" altLang="en-US" sz="2275" dirty="0">
                <a:ea typeface="맑은 고딕" panose="020B0503020000020004" pitchFamily="50" charset="-127"/>
              </a:rPr>
              <a:t>∙</a:t>
            </a:r>
            <a:endParaRPr lang="ko-KR" altLang="en-US" sz="2275" dirty="0"/>
          </a:p>
        </p:txBody>
      </p:sp>
      <p:grpSp>
        <p:nvGrpSpPr>
          <p:cNvPr id="10" name="그룹 9"/>
          <p:cNvGrpSpPr/>
          <p:nvPr/>
        </p:nvGrpSpPr>
        <p:grpSpPr>
          <a:xfrm>
            <a:off x="4691100" y="3031641"/>
            <a:ext cx="454753" cy="273287"/>
            <a:chOff x="6233157" y="2927568"/>
            <a:chExt cx="340683" cy="255820"/>
          </a:xfrm>
        </p:grpSpPr>
        <p:cxnSp>
          <p:nvCxnSpPr>
            <p:cNvPr id="86" name="직선 화살표 연결선 85"/>
            <p:cNvCxnSpPr/>
            <p:nvPr/>
          </p:nvCxnSpPr>
          <p:spPr>
            <a:xfrm>
              <a:off x="6233157" y="2927568"/>
              <a:ext cx="340683" cy="0"/>
            </a:xfrm>
            <a:prstGeom prst="straightConnector1">
              <a:avLst/>
            </a:prstGeom>
            <a:ln>
              <a:solidFill>
                <a:schemeClr val="accent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/>
            <p:cNvCxnSpPr/>
            <p:nvPr/>
          </p:nvCxnSpPr>
          <p:spPr>
            <a:xfrm>
              <a:off x="6393840" y="3183388"/>
              <a:ext cx="180000" cy="0"/>
            </a:xfrm>
            <a:prstGeom prst="straightConnector1">
              <a:avLst/>
            </a:prstGeom>
            <a:ln>
              <a:solidFill>
                <a:schemeClr val="accent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>
              <a:off x="6393840" y="2927568"/>
              <a:ext cx="0" cy="255820"/>
            </a:xfrm>
            <a:prstGeom prst="line">
              <a:avLst/>
            </a:prstGeom>
            <a:ln>
              <a:solidFill>
                <a:schemeClr val="accent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직사각형 88"/>
          <p:cNvSpPr/>
          <p:nvPr/>
        </p:nvSpPr>
        <p:spPr>
          <a:xfrm>
            <a:off x="5134419" y="2855232"/>
            <a:ext cx="1829347" cy="55598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Class 1: </a:t>
            </a:r>
            <a:r>
              <a:rPr lang="ko-KR" altLang="en-US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배송 소요시간 관련 검토대상 </a:t>
            </a:r>
            <a:endParaRPr lang="en-US" altLang="ko-KR" sz="813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Class 0: </a:t>
            </a:r>
            <a:r>
              <a:rPr lang="ko-KR" altLang="en-US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배송 소요시간 관련 </a:t>
            </a:r>
            <a:r>
              <a:rPr lang="ko-KR" altLang="en-US" sz="813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미검토대상</a:t>
            </a:r>
            <a:endParaRPr lang="ko-KR" altLang="en-US" sz="813" dirty="0"/>
          </a:p>
        </p:txBody>
      </p:sp>
      <p:grpSp>
        <p:nvGrpSpPr>
          <p:cNvPr id="90" name="그룹 89"/>
          <p:cNvGrpSpPr/>
          <p:nvPr/>
        </p:nvGrpSpPr>
        <p:grpSpPr>
          <a:xfrm>
            <a:off x="4691100" y="3795833"/>
            <a:ext cx="454753" cy="273287"/>
            <a:chOff x="6233157" y="2927568"/>
            <a:chExt cx="340683" cy="255820"/>
          </a:xfrm>
        </p:grpSpPr>
        <p:cxnSp>
          <p:nvCxnSpPr>
            <p:cNvPr id="91" name="직선 화살표 연결선 90"/>
            <p:cNvCxnSpPr/>
            <p:nvPr/>
          </p:nvCxnSpPr>
          <p:spPr>
            <a:xfrm>
              <a:off x="6233157" y="2927568"/>
              <a:ext cx="340683" cy="0"/>
            </a:xfrm>
            <a:prstGeom prst="straightConnector1">
              <a:avLst/>
            </a:prstGeom>
            <a:ln>
              <a:solidFill>
                <a:schemeClr val="accent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/>
            <p:cNvCxnSpPr/>
            <p:nvPr/>
          </p:nvCxnSpPr>
          <p:spPr>
            <a:xfrm>
              <a:off x="6393840" y="3183388"/>
              <a:ext cx="180000" cy="0"/>
            </a:xfrm>
            <a:prstGeom prst="straightConnector1">
              <a:avLst/>
            </a:prstGeom>
            <a:ln>
              <a:solidFill>
                <a:schemeClr val="accent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/>
            <p:cNvCxnSpPr/>
            <p:nvPr/>
          </p:nvCxnSpPr>
          <p:spPr>
            <a:xfrm>
              <a:off x="6393840" y="2927568"/>
              <a:ext cx="0" cy="255820"/>
            </a:xfrm>
            <a:prstGeom prst="line">
              <a:avLst/>
            </a:prstGeom>
            <a:ln>
              <a:solidFill>
                <a:schemeClr val="accent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직사각형 93"/>
          <p:cNvSpPr/>
          <p:nvPr/>
        </p:nvSpPr>
        <p:spPr>
          <a:xfrm>
            <a:off x="5134419" y="3619424"/>
            <a:ext cx="1617751" cy="55598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Class 1: </a:t>
            </a:r>
            <a:r>
              <a:rPr lang="ko-KR" altLang="en-US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결제조건 관련 검토대상 </a:t>
            </a:r>
            <a:endParaRPr lang="en-US" altLang="ko-KR" sz="813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Class 0: </a:t>
            </a:r>
            <a:r>
              <a:rPr lang="ko-KR" altLang="en-US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결제조건</a:t>
            </a:r>
            <a:r>
              <a:rPr lang="en-US" altLang="ko-KR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관련 </a:t>
            </a:r>
            <a:r>
              <a:rPr lang="ko-KR" altLang="en-US" sz="813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미검토대상</a:t>
            </a:r>
            <a:endParaRPr lang="ko-KR" altLang="en-US" sz="813" dirty="0"/>
          </a:p>
        </p:txBody>
      </p:sp>
      <p:grpSp>
        <p:nvGrpSpPr>
          <p:cNvPr id="95" name="그룹 94"/>
          <p:cNvGrpSpPr/>
          <p:nvPr/>
        </p:nvGrpSpPr>
        <p:grpSpPr>
          <a:xfrm>
            <a:off x="4691100" y="5115790"/>
            <a:ext cx="454753" cy="273287"/>
            <a:chOff x="6233157" y="2927568"/>
            <a:chExt cx="340683" cy="255820"/>
          </a:xfrm>
        </p:grpSpPr>
        <p:cxnSp>
          <p:nvCxnSpPr>
            <p:cNvPr id="96" name="직선 화살표 연결선 95"/>
            <p:cNvCxnSpPr/>
            <p:nvPr/>
          </p:nvCxnSpPr>
          <p:spPr>
            <a:xfrm>
              <a:off x="6233157" y="2927568"/>
              <a:ext cx="340683" cy="0"/>
            </a:xfrm>
            <a:prstGeom prst="straightConnector1">
              <a:avLst/>
            </a:prstGeom>
            <a:ln>
              <a:solidFill>
                <a:schemeClr val="accent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/>
            <p:cNvCxnSpPr/>
            <p:nvPr/>
          </p:nvCxnSpPr>
          <p:spPr>
            <a:xfrm>
              <a:off x="6393840" y="3183388"/>
              <a:ext cx="180000" cy="0"/>
            </a:xfrm>
            <a:prstGeom prst="straightConnector1">
              <a:avLst/>
            </a:prstGeom>
            <a:ln>
              <a:solidFill>
                <a:schemeClr val="accent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/>
            <p:nvPr/>
          </p:nvCxnSpPr>
          <p:spPr>
            <a:xfrm>
              <a:off x="6393840" y="2927568"/>
              <a:ext cx="0" cy="255820"/>
            </a:xfrm>
            <a:prstGeom prst="line">
              <a:avLst/>
            </a:prstGeom>
            <a:ln>
              <a:solidFill>
                <a:schemeClr val="accent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직사각형 98"/>
          <p:cNvSpPr/>
          <p:nvPr/>
        </p:nvSpPr>
        <p:spPr>
          <a:xfrm>
            <a:off x="5134419" y="4939381"/>
            <a:ext cx="1617751" cy="555986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Class 1: </a:t>
            </a:r>
            <a:r>
              <a:rPr lang="ko-KR" altLang="en-US" sz="813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익월리턴</a:t>
            </a:r>
            <a:r>
              <a:rPr lang="en-US" altLang="ko-KR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관련 검토대상 </a:t>
            </a:r>
            <a:endParaRPr lang="en-US" altLang="ko-KR" sz="813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Class 0: </a:t>
            </a:r>
            <a:r>
              <a:rPr lang="ko-KR" altLang="en-US" sz="813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익월리턴</a:t>
            </a:r>
            <a:r>
              <a:rPr lang="ko-KR" altLang="en-US" sz="813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관련 </a:t>
            </a:r>
            <a:r>
              <a:rPr lang="ko-KR" altLang="en-US" sz="813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미검토대상</a:t>
            </a:r>
            <a:endParaRPr lang="ko-KR" altLang="en-US" sz="813" dirty="0"/>
          </a:p>
        </p:txBody>
      </p:sp>
      <p:sp>
        <p:nvSpPr>
          <p:cNvPr id="107" name="이등변 삼각형 106"/>
          <p:cNvSpPr/>
          <p:nvPr/>
        </p:nvSpPr>
        <p:spPr>
          <a:xfrm rot="5400000">
            <a:off x="6782947" y="3960463"/>
            <a:ext cx="801702" cy="153702"/>
          </a:xfrm>
          <a:prstGeom prst="triangle">
            <a:avLst/>
          </a:prstGeom>
          <a:solidFill>
            <a:srgbClr val="F54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64523" y="5993956"/>
            <a:ext cx="7417095" cy="1624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1056" baseline="300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 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법인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거래선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6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제품군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매출액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결제조건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배송 구간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배송 소요시간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배송 방식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6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익월리턴액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 각 매출 </a:t>
            </a:r>
            <a:r>
              <a:rPr lang="en-US" altLang="ko-KR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transaction </a:t>
            </a:r>
            <a:r>
              <a:rPr lang="ko-KR" altLang="en-US" sz="105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대한 테이블 데이터</a:t>
            </a:r>
            <a:endParaRPr lang="ko-KR" altLang="en-US" sz="1056" baseline="300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440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564952" y="3129978"/>
            <a:ext cx="4000178" cy="2387685"/>
          </a:xfrm>
          <a:prstGeom prst="roundRect">
            <a:avLst>
              <a:gd name="adj" fmla="val 7218"/>
            </a:avLst>
          </a:prstGeom>
          <a:noFill/>
          <a:ln>
            <a:solidFill>
              <a:srgbClr val="F549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47096" y="3129978"/>
            <a:ext cx="4023619" cy="2387685"/>
          </a:xfrm>
          <a:prstGeom prst="roundRect">
            <a:avLst>
              <a:gd name="adj" fmla="val 7218"/>
            </a:avLst>
          </a:prstGeom>
          <a:noFill/>
          <a:ln>
            <a:solidFill>
              <a:srgbClr val="F549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6" name="Picture 2" descr="Cloud Computing - Google Logo Background - CleanPNG / Kiss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73" y="2616621"/>
            <a:ext cx="541847" cy="54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 Web Services png images | PNGEg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068" y="2653380"/>
            <a:ext cx="613266" cy="45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232690" y="2767765"/>
            <a:ext cx="1651414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38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Google Cloud Platform</a:t>
            </a:r>
            <a:endParaRPr lang="ko-KR" altLang="en-US" sz="11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7620" y="2767765"/>
            <a:ext cx="1619354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38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Amazon Web Services</a:t>
            </a:r>
            <a:endParaRPr lang="ko-KR" altLang="en-US" sz="11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4952" y="1380728"/>
            <a:ext cx="7736413" cy="676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Key feature #2. </a:t>
            </a:r>
            <a:r>
              <a:rPr lang="ko-KR" altLang="en-US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데이터 보안을 유지하기 위한 </a:t>
            </a:r>
            <a:r>
              <a:rPr lang="en-US" altLang="ko-KR" sz="1625" dirty="0" err="1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MLOps</a:t>
            </a:r>
            <a:r>
              <a:rPr lang="en-US" altLang="ko-KR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ko-KR" altLang="en-US" sz="1625" dirty="0">
                <a:solidFill>
                  <a:srgbClr val="F5493C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구조</a:t>
            </a:r>
            <a:endParaRPr lang="en-US" altLang="ko-KR" sz="1625" dirty="0">
              <a:solidFill>
                <a:schemeClr val="bg1"/>
              </a:solidFill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‘AI </a:t>
            </a:r>
            <a:r>
              <a:rPr lang="ko-KR" altLang="en-US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기반 진단</a:t>
            </a:r>
            <a:r>
              <a:rPr lang="en-US" altLang="ko-KR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</a:t>
            </a:r>
            <a:r>
              <a:rPr lang="ko-KR" altLang="en-US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솔루션</a:t>
            </a:r>
            <a:r>
              <a:rPr lang="en-US" altLang="ko-KR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’</a:t>
            </a:r>
            <a:r>
              <a:rPr lang="ko-KR" altLang="en-US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은 민감한 사내 데이터를 활용하므로</a:t>
            </a:r>
            <a:r>
              <a:rPr lang="en-US" altLang="ko-KR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</a:t>
            </a:r>
            <a:r>
              <a:rPr lang="ko-KR" altLang="en-US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데이터 보안이 매우 중요합니다</a:t>
            </a:r>
            <a:r>
              <a:rPr lang="en-US" altLang="ko-KR" sz="1625" dirty="0"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.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E55EBB7F-D0BC-462A-A60F-0D1EC8C666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206" y="5791767"/>
            <a:ext cx="514976" cy="27905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5" t="2221" r="16389" b="17223"/>
          <a:stretch/>
        </p:blipFill>
        <p:spPr>
          <a:xfrm>
            <a:off x="790264" y="3467918"/>
            <a:ext cx="477476" cy="55609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718471" y="3560182"/>
            <a:ext cx="505670" cy="37156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ETL</a:t>
            </a:r>
            <a:endParaRPr lang="ko-KR" altLang="en-US">
              <a:solidFill>
                <a:schemeClr val="tx1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500599" y="4020071"/>
            <a:ext cx="1912068" cy="1159648"/>
          </a:xfrm>
          <a:prstGeom prst="roundRect">
            <a:avLst>
              <a:gd name="adj" fmla="val 7218"/>
            </a:avLst>
          </a:prstGeom>
          <a:noFill/>
          <a:ln>
            <a:solidFill>
              <a:srgbClr val="F549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62877" y="4055299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Edge Apps</a:t>
            </a:r>
            <a:endParaRPr lang="ko-KR" altLang="en-US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1252261" y="3745966"/>
            <a:ext cx="468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3" idx="3"/>
          </p:cNvCxnSpPr>
          <p:nvPr/>
        </p:nvCxnSpPr>
        <p:spPr>
          <a:xfrm>
            <a:off x="2224141" y="3745965"/>
            <a:ext cx="348075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2575" y="4059756"/>
            <a:ext cx="521298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75" dirty="0" err="1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민감</a:t>
            </a:r>
            <a:br>
              <a:rPr lang="en-US" altLang="ko-KR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</a:br>
            <a:r>
              <a:rPr lang="ko-KR" altLang="en-US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데이터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899274" y="3467917"/>
            <a:ext cx="1912068" cy="556097"/>
          </a:xfrm>
          <a:prstGeom prst="roundRect">
            <a:avLst>
              <a:gd name="adj" fmla="val 7218"/>
            </a:avLst>
          </a:prstGeom>
          <a:noFill/>
          <a:ln>
            <a:solidFill>
              <a:srgbClr val="F549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15027" y="3590717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AI Conductor</a:t>
            </a:r>
            <a:endParaRPr lang="ko-KR" altLang="en-US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6903170" y="4357399"/>
            <a:ext cx="2067908" cy="556097"/>
            <a:chOff x="8496209" y="4891684"/>
            <a:chExt cx="2545118" cy="684427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8496209" y="4891684"/>
              <a:ext cx="2353315" cy="684427"/>
            </a:xfrm>
            <a:prstGeom prst="roundRect">
              <a:avLst>
                <a:gd name="adj" fmla="val 7218"/>
              </a:avLst>
            </a:prstGeom>
            <a:noFill/>
            <a:ln>
              <a:solidFill>
                <a:srgbClr val="F549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736552" y="5050443"/>
              <a:ext cx="2304775" cy="454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Edge Conductor</a:t>
              </a:r>
              <a:endParaRPr lang="ko-KR" altLang="en-US"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</p:grp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5" t="2221" r="16389" b="17223"/>
          <a:stretch/>
        </p:blipFill>
        <p:spPr>
          <a:xfrm>
            <a:off x="5679825" y="3531318"/>
            <a:ext cx="364432" cy="4244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94367" y="3980278"/>
            <a:ext cx="335349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S3</a:t>
            </a:r>
            <a:endParaRPr lang="ko-KR" altLang="en-US" sz="975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6037620" y="3745965"/>
            <a:ext cx="8482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7881461" y="4035153"/>
            <a:ext cx="0" cy="2925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5" t="2221" r="16389" b="17223"/>
          <a:stretch/>
        </p:blipFill>
        <p:spPr>
          <a:xfrm>
            <a:off x="1789089" y="4396794"/>
            <a:ext cx="364432" cy="4244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756343" y="4845754"/>
            <a:ext cx="429926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GCS</a:t>
            </a:r>
            <a:endParaRPr lang="ko-KR" altLang="en-US" sz="975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1971305" y="3931748"/>
            <a:ext cx="0" cy="4533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 flipV="1">
            <a:off x="2121654" y="4599894"/>
            <a:ext cx="351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H="1" flipV="1">
            <a:off x="4402286" y="4599046"/>
            <a:ext cx="24905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863698" y="4060341"/>
            <a:ext cx="66877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모델 배포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6147" y="4611361"/>
            <a:ext cx="66877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모델 배포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6146" y="3518475"/>
            <a:ext cx="7809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학습 데이터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5528" y="4028155"/>
            <a:ext cx="521298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추론</a:t>
            </a:r>
            <a:br>
              <a:rPr lang="en-US" altLang="ko-KR" sz="97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</a:br>
            <a:r>
              <a:rPr lang="ko-KR" altLang="en-US" sz="975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데이터</a:t>
            </a:r>
            <a:endParaRPr lang="ko-KR" altLang="en-US" sz="975" dirty="0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4952" y="2087849"/>
            <a:ext cx="8292655" cy="655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19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Mellerikat</a:t>
            </a:r>
            <a:r>
              <a:rPr lang="ko-KR" altLang="en-US" sz="1219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은 데이터 이동이 빈번한 </a:t>
            </a:r>
            <a:r>
              <a:rPr lang="ko-KR" altLang="en-US" sz="1219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추론부</a:t>
            </a:r>
            <a:r>
              <a:rPr lang="en-US" altLang="ko-KR" sz="1219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(Edge App)</a:t>
            </a:r>
            <a:r>
              <a:rPr lang="ko-KR" altLang="en-US" sz="1219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는 데이터 환경에 배치하고</a:t>
            </a:r>
            <a:r>
              <a:rPr lang="en-US" altLang="ko-KR" sz="1219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r>
              <a:rPr lang="ko-KR" altLang="en-US" sz="1219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최소한의 학습 데이터를 학습 환경으로 전송하여 </a:t>
            </a:r>
            <a:br>
              <a:rPr lang="en-US" altLang="ko-KR" sz="1219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219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높은 데이터 보안 수준을 유지할 수 있습니다</a:t>
            </a:r>
            <a:r>
              <a:rPr lang="en-US" altLang="ko-KR" sz="1219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</a:p>
          <a:p>
            <a:endParaRPr lang="ko-KR" altLang="en-US" sz="1219" dirty="0"/>
          </a:p>
        </p:txBody>
      </p:sp>
      <p:sp>
        <p:nvSpPr>
          <p:cNvPr id="39" name="TextBox 38"/>
          <p:cNvSpPr txBox="1"/>
          <p:nvPr/>
        </p:nvSpPr>
        <p:spPr>
          <a:xfrm>
            <a:off x="1784098" y="5626414"/>
            <a:ext cx="1603324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38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환경 </a:t>
            </a:r>
            <a:r>
              <a:rPr lang="en-US" altLang="ko-KR" sz="1138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= </a:t>
            </a:r>
            <a:r>
              <a:rPr lang="ko-KR" altLang="en-US" sz="1138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추론 환경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03209" y="5565921"/>
            <a:ext cx="744114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38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환경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2555892" y="4359583"/>
            <a:ext cx="566181" cy="841850"/>
            <a:chOff x="4875263" y="3828972"/>
            <a:chExt cx="696838" cy="1036124"/>
          </a:xfrm>
        </p:grpSpPr>
        <p:grpSp>
          <p:nvGrpSpPr>
            <p:cNvPr id="51" name="그룹 50"/>
            <p:cNvGrpSpPr/>
            <p:nvPr/>
          </p:nvGrpSpPr>
          <p:grpSpPr>
            <a:xfrm>
              <a:off x="4945109" y="3862581"/>
              <a:ext cx="557146" cy="252000"/>
              <a:chOff x="7514881" y="5394445"/>
              <a:chExt cx="557146" cy="252000"/>
            </a:xfrm>
          </p:grpSpPr>
          <p:pic>
            <p:nvPicPr>
              <p:cNvPr id="52" name="그림 51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514881" y="5394445"/>
                <a:ext cx="252000" cy="252000"/>
              </a:xfrm>
              <a:prstGeom prst="rect">
                <a:avLst/>
              </a:prstGeom>
            </p:spPr>
          </p:pic>
          <p:pic>
            <p:nvPicPr>
              <p:cNvPr id="54" name="그림 53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820027" y="5394445"/>
                <a:ext cx="252000" cy="252000"/>
              </a:xfrm>
              <a:prstGeom prst="rect">
                <a:avLst/>
              </a:prstGeom>
            </p:spPr>
          </p:pic>
        </p:grpSp>
        <p:sp>
          <p:nvSpPr>
            <p:cNvPr id="55" name="직사각형 54"/>
            <p:cNvSpPr/>
            <p:nvPr/>
          </p:nvSpPr>
          <p:spPr>
            <a:xfrm>
              <a:off x="4924063" y="3828972"/>
              <a:ext cx="599239" cy="645644"/>
            </a:xfrm>
            <a:prstGeom prst="rect">
              <a:avLst/>
            </a:prstGeom>
            <a:noFill/>
            <a:ln w="3175">
              <a:solidFill>
                <a:srgbClr val="F61B1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875263" y="4474615"/>
              <a:ext cx="696838" cy="390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3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리스크</a:t>
              </a:r>
              <a:r>
                <a:rPr lang="ko-KR" altLang="en-US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</a:t>
              </a:r>
              <a:b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Edge app</a:t>
              </a:r>
              <a:endParaRPr lang="ko-KR" altLang="en-US" sz="73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grpSp>
          <p:nvGrpSpPr>
            <p:cNvPr id="57" name="그룹 56"/>
            <p:cNvGrpSpPr/>
            <p:nvPr/>
          </p:nvGrpSpPr>
          <p:grpSpPr>
            <a:xfrm>
              <a:off x="4945109" y="4174037"/>
              <a:ext cx="557146" cy="252000"/>
              <a:chOff x="7519726" y="5705901"/>
              <a:chExt cx="557146" cy="252000"/>
            </a:xfrm>
          </p:grpSpPr>
          <p:pic>
            <p:nvPicPr>
              <p:cNvPr id="58" name="그림 57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519726" y="5705901"/>
                <a:ext cx="252000" cy="252000"/>
              </a:xfrm>
              <a:prstGeom prst="rect">
                <a:avLst/>
              </a:prstGeom>
            </p:spPr>
          </p:pic>
          <p:pic>
            <p:nvPicPr>
              <p:cNvPr id="59" name="그림 58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824872" y="5705901"/>
                <a:ext cx="252000" cy="252000"/>
              </a:xfrm>
              <a:prstGeom prst="rect">
                <a:avLst/>
              </a:prstGeom>
            </p:spPr>
          </p:pic>
        </p:grpSp>
      </p:grpSp>
      <p:grpSp>
        <p:nvGrpSpPr>
          <p:cNvPr id="60" name="그룹 59"/>
          <p:cNvGrpSpPr/>
          <p:nvPr/>
        </p:nvGrpSpPr>
        <p:grpSpPr>
          <a:xfrm>
            <a:off x="3167218" y="4359583"/>
            <a:ext cx="566181" cy="841850"/>
            <a:chOff x="4875263" y="3828972"/>
            <a:chExt cx="696838" cy="1036124"/>
          </a:xfrm>
        </p:grpSpPr>
        <p:grpSp>
          <p:nvGrpSpPr>
            <p:cNvPr id="61" name="그룹 60"/>
            <p:cNvGrpSpPr/>
            <p:nvPr/>
          </p:nvGrpSpPr>
          <p:grpSpPr>
            <a:xfrm>
              <a:off x="4945109" y="3862581"/>
              <a:ext cx="557146" cy="252000"/>
              <a:chOff x="7514881" y="5394445"/>
              <a:chExt cx="557146" cy="252000"/>
            </a:xfrm>
          </p:grpSpPr>
          <p:pic>
            <p:nvPicPr>
              <p:cNvPr id="67" name="그림 66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514881" y="5394445"/>
                <a:ext cx="252000" cy="252000"/>
              </a:xfrm>
              <a:prstGeom prst="rect">
                <a:avLst/>
              </a:prstGeom>
            </p:spPr>
          </p:pic>
          <p:pic>
            <p:nvPicPr>
              <p:cNvPr id="68" name="그림 67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820027" y="5394445"/>
                <a:ext cx="252000" cy="252000"/>
              </a:xfrm>
              <a:prstGeom prst="rect">
                <a:avLst/>
              </a:prstGeom>
            </p:spPr>
          </p:pic>
        </p:grpSp>
        <p:sp>
          <p:nvSpPr>
            <p:cNvPr id="62" name="직사각형 61"/>
            <p:cNvSpPr/>
            <p:nvPr/>
          </p:nvSpPr>
          <p:spPr>
            <a:xfrm>
              <a:off x="4924063" y="3828972"/>
              <a:ext cx="599239" cy="645644"/>
            </a:xfrm>
            <a:prstGeom prst="rect">
              <a:avLst/>
            </a:prstGeom>
            <a:noFill/>
            <a:ln w="3175">
              <a:solidFill>
                <a:srgbClr val="F61B1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875263" y="4474615"/>
              <a:ext cx="696838" cy="390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3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리스크</a:t>
              </a:r>
              <a:r>
                <a:rPr lang="ko-KR" altLang="en-US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B</a:t>
              </a:r>
              <a:b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Edge app</a:t>
              </a:r>
              <a:endParaRPr lang="ko-KR" altLang="en-US" sz="73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4945109" y="4174037"/>
              <a:ext cx="557146" cy="252000"/>
              <a:chOff x="7519726" y="5705901"/>
              <a:chExt cx="557146" cy="252000"/>
            </a:xfrm>
          </p:grpSpPr>
          <p:pic>
            <p:nvPicPr>
              <p:cNvPr id="65" name="그림 64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519726" y="5705901"/>
                <a:ext cx="252000" cy="252000"/>
              </a:xfrm>
              <a:prstGeom prst="rect">
                <a:avLst/>
              </a:prstGeom>
            </p:spPr>
          </p:pic>
          <p:pic>
            <p:nvPicPr>
              <p:cNvPr id="66" name="그림 65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824872" y="5705901"/>
                <a:ext cx="252000" cy="252000"/>
              </a:xfrm>
              <a:prstGeom prst="rect">
                <a:avLst/>
              </a:prstGeom>
            </p:spPr>
          </p:pic>
        </p:grpSp>
      </p:grpSp>
      <p:grpSp>
        <p:nvGrpSpPr>
          <p:cNvPr id="69" name="그룹 68"/>
          <p:cNvGrpSpPr/>
          <p:nvPr/>
        </p:nvGrpSpPr>
        <p:grpSpPr>
          <a:xfrm>
            <a:off x="3778544" y="4359583"/>
            <a:ext cx="566181" cy="841850"/>
            <a:chOff x="4875263" y="3828972"/>
            <a:chExt cx="696838" cy="1036124"/>
          </a:xfrm>
        </p:grpSpPr>
        <p:grpSp>
          <p:nvGrpSpPr>
            <p:cNvPr id="70" name="그룹 69"/>
            <p:cNvGrpSpPr/>
            <p:nvPr/>
          </p:nvGrpSpPr>
          <p:grpSpPr>
            <a:xfrm>
              <a:off x="4945109" y="3862581"/>
              <a:ext cx="557146" cy="252000"/>
              <a:chOff x="7514881" y="5394445"/>
              <a:chExt cx="557146" cy="252000"/>
            </a:xfrm>
          </p:grpSpPr>
          <p:pic>
            <p:nvPicPr>
              <p:cNvPr id="76" name="그림 75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514881" y="5394445"/>
                <a:ext cx="252000" cy="252000"/>
              </a:xfrm>
              <a:prstGeom prst="rect">
                <a:avLst/>
              </a:prstGeom>
            </p:spPr>
          </p:pic>
          <p:pic>
            <p:nvPicPr>
              <p:cNvPr id="77" name="그림 76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820027" y="5394445"/>
                <a:ext cx="252000" cy="252000"/>
              </a:xfrm>
              <a:prstGeom prst="rect">
                <a:avLst/>
              </a:prstGeom>
            </p:spPr>
          </p:pic>
        </p:grpSp>
        <p:sp>
          <p:nvSpPr>
            <p:cNvPr id="71" name="직사각형 70"/>
            <p:cNvSpPr/>
            <p:nvPr/>
          </p:nvSpPr>
          <p:spPr>
            <a:xfrm>
              <a:off x="4924063" y="3828972"/>
              <a:ext cx="599239" cy="645644"/>
            </a:xfrm>
            <a:prstGeom prst="rect">
              <a:avLst/>
            </a:prstGeom>
            <a:noFill/>
            <a:ln w="3175">
              <a:solidFill>
                <a:srgbClr val="F61B1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875263" y="4474615"/>
              <a:ext cx="696838" cy="390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3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리스크</a:t>
              </a:r>
              <a:r>
                <a:rPr lang="ko-KR" altLang="en-US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C</a:t>
              </a:r>
              <a:b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73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Edge app</a:t>
              </a:r>
              <a:endParaRPr lang="ko-KR" altLang="en-US" sz="73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>
              <a:off x="4945109" y="4174037"/>
              <a:ext cx="557146" cy="252000"/>
              <a:chOff x="7519726" y="5705901"/>
              <a:chExt cx="557146" cy="252000"/>
            </a:xfrm>
          </p:grpSpPr>
          <p:pic>
            <p:nvPicPr>
              <p:cNvPr id="74" name="그림 73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519726" y="5705901"/>
                <a:ext cx="252000" cy="252000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 preferRelativeResize="0">
                <a:picLocks/>
              </p:cNvPicPr>
              <p:nvPr/>
            </p:nvPicPr>
            <p:blipFill rotWithShape="1">
              <a:blip r:embed="rId7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80" t="1401" r="7880" b="15441"/>
              <a:stretch/>
            </p:blipFill>
            <p:spPr>
              <a:xfrm>
                <a:off x="7824872" y="5705901"/>
                <a:ext cx="252000" cy="252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2665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529265" y="7773322"/>
            <a:ext cx="126188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Google </a:t>
            </a:r>
            <a:br>
              <a:rPr lang="en-US" altLang="ko-KR" sz="13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13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Cloud Platform</a:t>
            </a:r>
            <a:endParaRPr lang="ko-KR" altLang="en-US" sz="13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4952" y="1380728"/>
            <a:ext cx="5442516" cy="676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25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Key feature #3. </a:t>
            </a:r>
            <a:r>
              <a:rPr lang="ko-KR" altLang="en-US" sz="1625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범용적 구조 기반의 높은 </a:t>
            </a:r>
            <a:r>
              <a:rPr lang="ko-KR" altLang="en-US" sz="1625" dirty="0" err="1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확장성</a:t>
            </a:r>
            <a:endParaRPr lang="en-US" altLang="ko-KR" sz="1625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2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본 솔루션은 다양한 </a:t>
            </a:r>
            <a:r>
              <a:rPr lang="ko-KR" altLang="en-US" sz="1625" dirty="0" err="1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리스크</a:t>
            </a:r>
            <a:r>
              <a:rPr lang="ko-KR" altLang="en-US" sz="162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및</a:t>
            </a:r>
            <a:r>
              <a:rPr lang="en-US" altLang="ko-KR" sz="162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</a:t>
            </a:r>
            <a:r>
              <a:rPr lang="ko-KR" altLang="en-US" sz="162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법인에 확대 적용할 수 있습니다</a:t>
            </a:r>
            <a:r>
              <a:rPr lang="en-US" altLang="ko-KR" sz="1625" dirty="0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.</a:t>
            </a:r>
          </a:p>
        </p:txBody>
      </p:sp>
      <p:grpSp>
        <p:nvGrpSpPr>
          <p:cNvPr id="33" name="그룹 32"/>
          <p:cNvGrpSpPr/>
          <p:nvPr/>
        </p:nvGrpSpPr>
        <p:grpSpPr>
          <a:xfrm>
            <a:off x="1736933" y="2847986"/>
            <a:ext cx="6482645" cy="2847537"/>
            <a:chOff x="1041400" y="2534024"/>
            <a:chExt cx="7978640" cy="3504661"/>
          </a:xfrm>
        </p:grpSpPr>
        <p:grpSp>
          <p:nvGrpSpPr>
            <p:cNvPr id="34" name="그룹 33"/>
            <p:cNvGrpSpPr/>
            <p:nvPr/>
          </p:nvGrpSpPr>
          <p:grpSpPr>
            <a:xfrm>
              <a:off x="1041400" y="5445732"/>
              <a:ext cx="7922718" cy="592953"/>
              <a:chOff x="3848100" y="4951823"/>
              <a:chExt cx="4419600" cy="592953"/>
            </a:xfrm>
          </p:grpSpPr>
          <p:sp>
            <p:nvSpPr>
              <p:cNvPr id="91" name="직사각형 90"/>
              <p:cNvSpPr/>
              <p:nvPr/>
            </p:nvSpPr>
            <p:spPr>
              <a:xfrm>
                <a:off x="4935263" y="4975310"/>
                <a:ext cx="2245275" cy="569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b="0" i="0" dirty="0">
                    <a:effectLst/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AI </a:t>
                </a:r>
                <a:r>
                  <a:rPr lang="ko-KR" altLang="en-US" b="0" i="0" dirty="0">
                    <a:effectLst/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기반 진단</a:t>
                </a:r>
                <a:r>
                  <a:rPr lang="en-US" altLang="ko-KR" b="0" i="0" dirty="0">
                    <a:effectLst/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 </a:t>
                </a:r>
                <a:r>
                  <a:rPr lang="ko-KR" altLang="en-US" b="0" i="0" dirty="0">
                    <a:effectLst/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솔루션</a:t>
                </a:r>
                <a:endParaRPr lang="ko-KR" altLang="en-US" dirty="0"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92" name="모서리가 둥근 직사각형 91"/>
              <p:cNvSpPr/>
              <p:nvPr/>
            </p:nvSpPr>
            <p:spPr>
              <a:xfrm>
                <a:off x="3848100" y="4951823"/>
                <a:ext cx="4419600" cy="554804"/>
              </a:xfrm>
              <a:prstGeom prst="roundRect">
                <a:avLst>
                  <a:gd name="adj" fmla="val 10443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모서리가 둥근 직사각형 34"/>
            <p:cNvSpPr/>
            <p:nvPr/>
          </p:nvSpPr>
          <p:spPr>
            <a:xfrm>
              <a:off x="1074737" y="2552689"/>
              <a:ext cx="2197074" cy="2676536"/>
            </a:xfrm>
            <a:prstGeom prst="roundRect">
              <a:avLst/>
            </a:prstGeom>
            <a:noFill/>
            <a:ln>
              <a:solidFill>
                <a:srgbClr val="F549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443094" y="2611674"/>
              <a:ext cx="1460361" cy="575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19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리스크</a:t>
              </a:r>
              <a:r>
                <a:rPr lang="ko-KR" altLang="en-US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영역 </a:t>
              </a:r>
              <a:r>
                <a:rPr lang="en-US" altLang="ko-KR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#1.</a:t>
              </a:r>
              <a:br>
                <a:rPr lang="en-US" altLang="ko-KR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219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선매출</a:t>
              </a:r>
              <a:endParaRPr lang="ko-KR" altLang="en-US" sz="1219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grpSp>
          <p:nvGrpSpPr>
            <p:cNvPr id="43" name="그룹 42"/>
            <p:cNvGrpSpPr/>
            <p:nvPr/>
          </p:nvGrpSpPr>
          <p:grpSpPr>
            <a:xfrm>
              <a:off x="1271524" y="3302941"/>
              <a:ext cx="602137" cy="872780"/>
              <a:chOff x="1143000" y="3304514"/>
              <a:chExt cx="602137" cy="872780"/>
            </a:xfrm>
          </p:grpSpPr>
          <p:pic>
            <p:nvPicPr>
              <p:cNvPr id="89" name="그림 88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90" name="TextBox 89"/>
              <p:cNvSpPr txBox="1"/>
              <p:nvPr/>
            </p:nvSpPr>
            <p:spPr>
              <a:xfrm>
                <a:off x="1143000" y="3878988"/>
                <a:ext cx="602137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A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44" name="그룹 43"/>
            <p:cNvGrpSpPr/>
            <p:nvPr/>
          </p:nvGrpSpPr>
          <p:grpSpPr>
            <a:xfrm>
              <a:off x="1273929" y="4266083"/>
              <a:ext cx="598191" cy="872780"/>
              <a:chOff x="1143000" y="3304514"/>
              <a:chExt cx="598191" cy="872780"/>
            </a:xfrm>
          </p:grpSpPr>
          <p:pic>
            <p:nvPicPr>
              <p:cNvPr id="87" name="그림 86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88" name="TextBox 87"/>
              <p:cNvSpPr txBox="1"/>
              <p:nvPr/>
            </p:nvSpPr>
            <p:spPr>
              <a:xfrm>
                <a:off x="1143000" y="3878988"/>
                <a:ext cx="598191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C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2707775" y="3964408"/>
              <a:ext cx="420665" cy="298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∙∙∙</a:t>
              </a:r>
            </a:p>
          </p:txBody>
        </p:sp>
        <p:grpSp>
          <p:nvGrpSpPr>
            <p:cNvPr id="46" name="그룹 45"/>
            <p:cNvGrpSpPr/>
            <p:nvPr/>
          </p:nvGrpSpPr>
          <p:grpSpPr>
            <a:xfrm>
              <a:off x="1997161" y="3297818"/>
              <a:ext cx="596219" cy="872780"/>
              <a:chOff x="1143000" y="3304514"/>
              <a:chExt cx="596219" cy="872780"/>
            </a:xfrm>
          </p:grpSpPr>
          <p:pic>
            <p:nvPicPr>
              <p:cNvPr id="85" name="그림 84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86" name="TextBox 85"/>
              <p:cNvSpPr txBox="1"/>
              <p:nvPr/>
            </p:nvSpPr>
            <p:spPr>
              <a:xfrm>
                <a:off x="1143000" y="3878988"/>
                <a:ext cx="596219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B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51" name="그룹 50"/>
            <p:cNvGrpSpPr/>
            <p:nvPr/>
          </p:nvGrpSpPr>
          <p:grpSpPr>
            <a:xfrm>
              <a:off x="1999566" y="4260960"/>
              <a:ext cx="604111" cy="872780"/>
              <a:chOff x="1143000" y="3304514"/>
              <a:chExt cx="604111" cy="872780"/>
            </a:xfrm>
          </p:grpSpPr>
          <p:pic>
            <p:nvPicPr>
              <p:cNvPr id="83" name="그림 82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84" name="TextBox 83"/>
              <p:cNvSpPr txBox="1"/>
              <p:nvPr/>
            </p:nvSpPr>
            <p:spPr>
              <a:xfrm>
                <a:off x="1143000" y="3878988"/>
                <a:ext cx="604111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D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52" name="모서리가 둥근 직사각형 51"/>
            <p:cNvSpPr/>
            <p:nvPr/>
          </p:nvSpPr>
          <p:spPr>
            <a:xfrm>
              <a:off x="3466737" y="2534024"/>
              <a:ext cx="2197074" cy="2676536"/>
            </a:xfrm>
            <a:prstGeom prst="roundRect">
              <a:avLst/>
            </a:prstGeom>
            <a:noFill/>
            <a:ln>
              <a:solidFill>
                <a:srgbClr val="F549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835092" y="2593010"/>
              <a:ext cx="1460361" cy="575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19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리스크</a:t>
              </a:r>
              <a:r>
                <a:rPr lang="ko-KR" altLang="en-US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영역 </a:t>
              </a:r>
              <a:r>
                <a:rPr lang="en-US" altLang="ko-KR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#2.</a:t>
              </a:r>
              <a:br>
                <a:rPr lang="en-US" altLang="ko-KR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매출 차감</a:t>
              </a:r>
            </a:p>
          </p:txBody>
        </p:sp>
        <p:grpSp>
          <p:nvGrpSpPr>
            <p:cNvPr id="54" name="그룹 53"/>
            <p:cNvGrpSpPr/>
            <p:nvPr/>
          </p:nvGrpSpPr>
          <p:grpSpPr>
            <a:xfrm>
              <a:off x="3663524" y="3284276"/>
              <a:ext cx="602137" cy="872780"/>
              <a:chOff x="1143000" y="3304514"/>
              <a:chExt cx="602137" cy="872780"/>
            </a:xfrm>
          </p:grpSpPr>
          <p:pic>
            <p:nvPicPr>
              <p:cNvPr id="81" name="그림 80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82" name="TextBox 81"/>
              <p:cNvSpPr txBox="1"/>
              <p:nvPr/>
            </p:nvSpPr>
            <p:spPr>
              <a:xfrm>
                <a:off x="1143000" y="3878988"/>
                <a:ext cx="602137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A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>
              <a:off x="3665929" y="4247418"/>
              <a:ext cx="598191" cy="872780"/>
              <a:chOff x="1143000" y="3304514"/>
              <a:chExt cx="598191" cy="872780"/>
            </a:xfrm>
          </p:grpSpPr>
          <p:pic>
            <p:nvPicPr>
              <p:cNvPr id="79" name="그림 78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80" name="TextBox 79"/>
              <p:cNvSpPr txBox="1"/>
              <p:nvPr/>
            </p:nvSpPr>
            <p:spPr>
              <a:xfrm>
                <a:off x="1143000" y="3878988"/>
                <a:ext cx="598191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C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56" name="TextBox 55"/>
            <p:cNvSpPr txBox="1"/>
            <p:nvPr/>
          </p:nvSpPr>
          <p:spPr>
            <a:xfrm>
              <a:off x="5099776" y="3945743"/>
              <a:ext cx="420665" cy="298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∙∙∙</a:t>
              </a:r>
            </a:p>
          </p:txBody>
        </p:sp>
        <p:grpSp>
          <p:nvGrpSpPr>
            <p:cNvPr id="57" name="그룹 56"/>
            <p:cNvGrpSpPr/>
            <p:nvPr/>
          </p:nvGrpSpPr>
          <p:grpSpPr>
            <a:xfrm>
              <a:off x="4389161" y="3279153"/>
              <a:ext cx="596219" cy="872780"/>
              <a:chOff x="1143000" y="3304514"/>
              <a:chExt cx="596219" cy="872780"/>
            </a:xfrm>
          </p:grpSpPr>
          <p:pic>
            <p:nvPicPr>
              <p:cNvPr id="77" name="그림 76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78" name="TextBox 77"/>
              <p:cNvSpPr txBox="1"/>
              <p:nvPr/>
            </p:nvSpPr>
            <p:spPr>
              <a:xfrm>
                <a:off x="1143000" y="3878988"/>
                <a:ext cx="596219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B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58" name="그룹 57"/>
            <p:cNvGrpSpPr/>
            <p:nvPr/>
          </p:nvGrpSpPr>
          <p:grpSpPr>
            <a:xfrm>
              <a:off x="4391566" y="4242295"/>
              <a:ext cx="604111" cy="872780"/>
              <a:chOff x="1143000" y="3304514"/>
              <a:chExt cx="604111" cy="872780"/>
            </a:xfrm>
          </p:grpSpPr>
          <p:pic>
            <p:nvPicPr>
              <p:cNvPr id="75" name="그림 74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76" name="TextBox 75"/>
              <p:cNvSpPr txBox="1"/>
              <p:nvPr/>
            </p:nvSpPr>
            <p:spPr>
              <a:xfrm>
                <a:off x="1143000" y="3878988"/>
                <a:ext cx="604111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D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59" name="모서리가 둥근 직사각형 58"/>
            <p:cNvSpPr/>
            <p:nvPr/>
          </p:nvSpPr>
          <p:spPr>
            <a:xfrm>
              <a:off x="5858737" y="2552689"/>
              <a:ext cx="2197074" cy="2676536"/>
            </a:xfrm>
            <a:prstGeom prst="roundRect">
              <a:avLst/>
            </a:prstGeom>
            <a:noFill/>
            <a:ln>
              <a:solidFill>
                <a:srgbClr val="F549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227095" y="2611674"/>
              <a:ext cx="1460361" cy="575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19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리스크</a:t>
              </a:r>
              <a:r>
                <a:rPr lang="ko-KR" altLang="en-US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영역 </a:t>
              </a:r>
              <a:r>
                <a:rPr lang="en-US" altLang="ko-KR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#3.</a:t>
              </a:r>
              <a:br>
                <a:rPr lang="en-US" altLang="ko-KR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219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광고성</a:t>
              </a:r>
              <a:r>
                <a:rPr lang="ko-KR" altLang="en-US" sz="1219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판촉</a:t>
              </a:r>
            </a:p>
          </p:txBody>
        </p:sp>
        <p:grpSp>
          <p:nvGrpSpPr>
            <p:cNvPr id="61" name="그룹 60"/>
            <p:cNvGrpSpPr/>
            <p:nvPr/>
          </p:nvGrpSpPr>
          <p:grpSpPr>
            <a:xfrm>
              <a:off x="6055524" y="3302941"/>
              <a:ext cx="602137" cy="872780"/>
              <a:chOff x="1143000" y="3304514"/>
              <a:chExt cx="602137" cy="872780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74" name="TextBox 73"/>
              <p:cNvSpPr txBox="1"/>
              <p:nvPr/>
            </p:nvSpPr>
            <p:spPr>
              <a:xfrm>
                <a:off x="1143000" y="3878988"/>
                <a:ext cx="602137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A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62" name="그룹 61"/>
            <p:cNvGrpSpPr/>
            <p:nvPr/>
          </p:nvGrpSpPr>
          <p:grpSpPr>
            <a:xfrm>
              <a:off x="6057929" y="4266083"/>
              <a:ext cx="598191" cy="872780"/>
              <a:chOff x="1143000" y="3304514"/>
              <a:chExt cx="598191" cy="872780"/>
            </a:xfrm>
          </p:grpSpPr>
          <p:pic>
            <p:nvPicPr>
              <p:cNvPr id="71" name="그림 70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72" name="TextBox 71"/>
              <p:cNvSpPr txBox="1"/>
              <p:nvPr/>
            </p:nvSpPr>
            <p:spPr>
              <a:xfrm>
                <a:off x="1143000" y="3878988"/>
                <a:ext cx="598191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C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63" name="TextBox 62"/>
            <p:cNvSpPr txBox="1"/>
            <p:nvPr/>
          </p:nvSpPr>
          <p:spPr>
            <a:xfrm>
              <a:off x="7491776" y="3964408"/>
              <a:ext cx="420665" cy="298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∙∙∙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>
              <a:off x="6781161" y="3297818"/>
              <a:ext cx="596219" cy="872780"/>
              <a:chOff x="1143000" y="3304514"/>
              <a:chExt cx="596219" cy="872780"/>
            </a:xfrm>
          </p:grpSpPr>
          <p:pic>
            <p:nvPicPr>
              <p:cNvPr id="69" name="그림 68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70" name="TextBox 69"/>
              <p:cNvSpPr txBox="1"/>
              <p:nvPr/>
            </p:nvSpPr>
            <p:spPr>
              <a:xfrm>
                <a:off x="1143000" y="3878988"/>
                <a:ext cx="596219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B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6783566" y="4260960"/>
              <a:ext cx="604111" cy="872780"/>
              <a:chOff x="1143000" y="3304514"/>
              <a:chExt cx="604111" cy="872780"/>
            </a:xfrm>
          </p:grpSpPr>
          <p:pic>
            <p:nvPicPr>
              <p:cNvPr id="67" name="그림 66"/>
              <p:cNvPicPr>
                <a:picLocks noChangeAspect="1"/>
              </p:cNvPicPr>
              <p:nvPr/>
            </p:nvPicPr>
            <p:blipFill rotWithShape="1"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1" t="3715" r="20857" b="16000"/>
              <a:stretch/>
            </p:blipFill>
            <p:spPr>
              <a:xfrm>
                <a:off x="1215739" y="3304514"/>
                <a:ext cx="419100" cy="574474"/>
              </a:xfrm>
              <a:prstGeom prst="rect">
                <a:avLst/>
              </a:prstGeom>
            </p:spPr>
          </p:pic>
          <p:sp>
            <p:nvSpPr>
              <p:cNvPr id="68" name="TextBox 67"/>
              <p:cNvSpPr txBox="1"/>
              <p:nvPr/>
            </p:nvSpPr>
            <p:spPr>
              <a:xfrm>
                <a:off x="1143000" y="3878988"/>
                <a:ext cx="604111" cy="29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법인</a:t>
                </a:r>
                <a:r>
                  <a:rPr lang="en-US" altLang="ko-KR" sz="975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D</a:t>
                </a:r>
                <a:endParaRPr lang="ko-KR" altLang="en-US" sz="975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8526413" y="3622794"/>
              <a:ext cx="493627" cy="454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∙∙∙</a:t>
              </a:r>
            </a:p>
          </p:txBody>
        </p:sp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E55EBB7F-D0BC-462A-A60F-0D1EC8C666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468" y="5477272"/>
            <a:ext cx="514976" cy="27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4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05F9-3D1F-1AD2-E597-2EC353B6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5D333E-7EF5-728B-AFA2-54000B97510E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진단 </a:t>
            </a:r>
            <a:r>
              <a:rPr kumimoji="0" lang="en-US" altLang="ko-KR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DX</a:t>
            </a:r>
            <a:endParaRPr kumimoji="0" lang="ko-KR" altLang="en-US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BF4C56-6626-19E4-31E5-D377D4F91992}"/>
              </a:ext>
            </a:extLst>
          </p:cNvPr>
          <p:cNvSpPr txBox="1"/>
          <p:nvPr/>
        </p:nvSpPr>
        <p:spPr>
          <a:xfrm>
            <a:off x="5803188" y="1133745"/>
            <a:ext cx="3951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진단 방식 성숙도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진단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오퍼레이션 모니터링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리스크 예측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분석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91BCBD2E-399C-EDB8-ECAA-3C09AFE7172F}"/>
              </a:ext>
            </a:extLst>
          </p:cNvPr>
          <p:cNvGrpSpPr/>
          <p:nvPr/>
        </p:nvGrpSpPr>
        <p:grpSpPr>
          <a:xfrm>
            <a:off x="1085552" y="1769811"/>
            <a:ext cx="5488788" cy="1658596"/>
            <a:chOff x="1085552" y="1769811"/>
            <a:chExt cx="5488788" cy="1658596"/>
          </a:xfrm>
        </p:grpSpPr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52D5712D-F21B-B699-99FA-EE7478885B15}"/>
                </a:ext>
              </a:extLst>
            </p:cNvPr>
            <p:cNvSpPr/>
            <p:nvPr/>
          </p:nvSpPr>
          <p:spPr bwMode="auto">
            <a:xfrm>
              <a:off x="1085552" y="2836475"/>
              <a:ext cx="1154483" cy="400107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연간계획</a:t>
              </a: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EC476BAF-3831-FC6E-E02B-774A29066B26}"/>
                </a:ext>
              </a:extLst>
            </p:cNvPr>
            <p:cNvSpPr/>
            <p:nvPr/>
          </p:nvSpPr>
          <p:spPr bwMode="auto">
            <a:xfrm>
              <a:off x="2237837" y="2836475"/>
              <a:ext cx="1154483" cy="400107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진단계획</a:t>
              </a:r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12A03D27-8B21-9C72-0981-11F8FF5484D0}"/>
                </a:ext>
              </a:extLst>
            </p:cNvPr>
            <p:cNvSpPr/>
            <p:nvPr/>
          </p:nvSpPr>
          <p:spPr bwMode="auto">
            <a:xfrm>
              <a:off x="4809536" y="2822939"/>
              <a:ext cx="1764804" cy="412465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324000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050" b="1" dirty="0">
                  <a:solidFill>
                    <a:srgbClr val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보고</a:t>
              </a:r>
              <a:endParaRPr kumimoji="1" lang="ko-KR" altLang="en-US" sz="105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8" name="화살표: 원형 17">
              <a:extLst>
                <a:ext uri="{FF2B5EF4-FFF2-40B4-BE49-F238E27FC236}">
                  <a16:creationId xmlns:a16="http://schemas.microsoft.com/office/drawing/2014/main" id="{2C35D050-049E-33B6-7CA8-18E712776EE1}"/>
                </a:ext>
              </a:extLst>
            </p:cNvPr>
            <p:cNvSpPr/>
            <p:nvPr/>
          </p:nvSpPr>
          <p:spPr bwMode="auto">
            <a:xfrm rot="15860516" flipH="1">
              <a:off x="3082911" y="1831254"/>
              <a:ext cx="1398504" cy="1393794"/>
            </a:xfrm>
            <a:prstGeom prst="circularArrow">
              <a:avLst>
                <a:gd name="adj1" fmla="val 14431"/>
                <a:gd name="adj2" fmla="val 911623"/>
                <a:gd name="adj3" fmla="val 20243655"/>
                <a:gd name="adj4" fmla="val 21532886"/>
                <a:gd name="adj5" fmla="val 13391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19" name="화살표: 원형 18">
              <a:extLst>
                <a:ext uri="{FF2B5EF4-FFF2-40B4-BE49-F238E27FC236}">
                  <a16:creationId xmlns:a16="http://schemas.microsoft.com/office/drawing/2014/main" id="{F5848175-42FF-6E6C-158C-5741782B01CC}"/>
                </a:ext>
              </a:extLst>
            </p:cNvPr>
            <p:cNvSpPr/>
            <p:nvPr/>
          </p:nvSpPr>
          <p:spPr bwMode="auto">
            <a:xfrm rot="8673185">
              <a:off x="4174023" y="1769811"/>
              <a:ext cx="580620" cy="610725"/>
            </a:xfrm>
            <a:prstGeom prst="circularArrow">
              <a:avLst>
                <a:gd name="adj1" fmla="val 14431"/>
                <a:gd name="adj2" fmla="val 911623"/>
                <a:gd name="adj3" fmla="val 20243655"/>
                <a:gd name="adj4" fmla="val 1022611"/>
                <a:gd name="adj5" fmla="val 13391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154AA53-4127-38E0-793F-F7D5A93BB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8346" y="2571957"/>
              <a:ext cx="652429" cy="56209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DC042B28-0909-DDF3-37DC-651DF00A6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0128" y="2571957"/>
              <a:ext cx="652429" cy="56209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EC18072-C433-B95F-55A9-778BBFD4DC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226" t="41320" r="63522" b="36619"/>
            <a:stretch/>
          </p:blipFill>
          <p:spPr>
            <a:xfrm>
              <a:off x="1264316" y="2372005"/>
              <a:ext cx="1875496" cy="41988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AD68317-3FAD-D11D-0AFE-E080BACCB58D}"/>
                </a:ext>
              </a:extLst>
            </p:cNvPr>
            <p:cNvSpPr txBox="1"/>
            <p:nvPr/>
          </p:nvSpPr>
          <p:spPr>
            <a:xfrm>
              <a:off x="1134057" y="2123637"/>
              <a:ext cx="2114681" cy="3236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900"/>
                </a:lnSpc>
              </a:pPr>
              <a:r>
                <a:rPr lang="ko-KR" altLang="en-US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진단이력  진단사례    </a:t>
              </a:r>
              <a:r>
                <a:rPr lang="ko-KR" altLang="en-US" sz="900" dirty="0">
                  <a:solidFill>
                    <a:srgbClr val="C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자료수집</a:t>
              </a:r>
              <a:r>
                <a:rPr lang="ko-KR" altLang="en-US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조사항목</a:t>
              </a:r>
              <a:br>
                <a:rPr lang="en-US" altLang="ko-KR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                           (</a:t>
              </a:r>
              <a:r>
                <a:rPr lang="ko-KR" altLang="en-US" sz="8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과거 </a:t>
              </a:r>
              <a:r>
                <a:rPr lang="en-US" altLang="ko-KR" sz="8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2~3</a:t>
              </a:r>
              <a:r>
                <a:rPr lang="ko-KR" altLang="en-US" sz="8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년</a:t>
              </a:r>
              <a:r>
                <a:rPr lang="en-US" altLang="ko-KR" sz="8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B7B4763-12B4-0EE6-CC54-6FCF3449AD1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94603" y="3199270"/>
              <a:ext cx="0" cy="212068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24A8063-F75C-B4B0-AA85-2D3207D7B51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55150" y="3199270"/>
              <a:ext cx="0" cy="212068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61B6A4-5221-9C89-3833-014597903A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36718" y="3293590"/>
              <a:ext cx="963476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E27AFF3A-2B9B-6C8C-BC7C-E3D260D234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08659" y="3202922"/>
              <a:ext cx="0" cy="208416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EB42864A-BFBA-D3DF-89EF-5D81EF6E82B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33302" y="3211800"/>
              <a:ext cx="0" cy="199538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B0924E4-908E-6060-F3E3-CC512293321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59400" y="3297242"/>
              <a:ext cx="1810520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6245E3AF-0447-D54E-4C83-70F6CBCF8B15}"/>
                </a:ext>
              </a:extLst>
            </p:cNvPr>
            <p:cNvSpPr/>
            <p:nvPr/>
          </p:nvSpPr>
          <p:spPr bwMode="auto">
            <a:xfrm>
              <a:off x="3816564" y="2825575"/>
              <a:ext cx="913131" cy="400107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4F849DB-BC93-0467-2E9B-FFD6C1046CF9}"/>
                </a:ext>
              </a:extLst>
            </p:cNvPr>
            <p:cNvSpPr txBox="1"/>
            <p:nvPr/>
          </p:nvSpPr>
          <p:spPr>
            <a:xfrm>
              <a:off x="2495276" y="3165117"/>
              <a:ext cx="49494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r>
                <a:rPr lang="ko-KR" altLang="en-US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개월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4EE1585-AD45-C8A4-18D4-BB8CEA5D5331}"/>
                </a:ext>
              </a:extLst>
            </p:cNvPr>
            <p:cNvSpPr txBox="1"/>
            <p:nvPr/>
          </p:nvSpPr>
          <p:spPr>
            <a:xfrm>
              <a:off x="3528393" y="2302925"/>
              <a:ext cx="4949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현장진단</a:t>
              </a: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5C91E6F8-560C-8546-731B-985D7CC4CC0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98280" y="3296853"/>
              <a:ext cx="1254951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56F7DBF-F1F6-4981-CDFB-F2957A4E889D}"/>
                </a:ext>
              </a:extLst>
            </p:cNvPr>
            <p:cNvSpPr txBox="1"/>
            <p:nvPr/>
          </p:nvSpPr>
          <p:spPr>
            <a:xfrm>
              <a:off x="3661803" y="3173742"/>
              <a:ext cx="49494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r>
                <a:rPr lang="ko-KR" altLang="en-US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개월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9E74A16-EE3E-3F65-CFA1-A988087C5F62}"/>
                </a:ext>
              </a:extLst>
            </p:cNvPr>
            <p:cNvSpPr txBox="1"/>
            <p:nvPr/>
          </p:nvSpPr>
          <p:spPr>
            <a:xfrm>
              <a:off x="5277789" y="3182186"/>
              <a:ext cx="49494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r>
                <a:rPr lang="ko-KR" altLang="en-US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개월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9E7E5D-2F46-0F69-66FE-75D9C57935BD}"/>
                </a:ext>
              </a:extLst>
            </p:cNvPr>
            <p:cNvSpPr txBox="1"/>
            <p:nvPr/>
          </p:nvSpPr>
          <p:spPr>
            <a:xfrm>
              <a:off x="4036864" y="2389652"/>
              <a:ext cx="49494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자료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57065E-4D53-E2A5-2710-C4146E4942D2}"/>
                </a:ext>
              </a:extLst>
            </p:cNvPr>
            <p:cNvSpPr txBox="1"/>
            <p:nvPr/>
          </p:nvSpPr>
          <p:spPr>
            <a:xfrm>
              <a:off x="3160891" y="2082599"/>
              <a:ext cx="45482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조사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1A8AD10-0F16-5A96-E097-32FD1DF3C99F}"/>
                </a:ext>
              </a:extLst>
            </p:cNvPr>
            <p:cNvSpPr txBox="1"/>
            <p:nvPr/>
          </p:nvSpPr>
          <p:spPr>
            <a:xfrm>
              <a:off x="3635527" y="1926365"/>
              <a:ext cx="49494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분석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C687465-3CD7-207C-E38D-148F0F770176}"/>
                </a:ext>
              </a:extLst>
            </p:cNvPr>
            <p:cNvSpPr txBox="1"/>
            <p:nvPr/>
          </p:nvSpPr>
          <p:spPr>
            <a:xfrm>
              <a:off x="3981608" y="2901112"/>
              <a:ext cx="4949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리뷰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54BD373-16B9-F93B-FC2B-07DA396DD7F5}"/>
                </a:ext>
              </a:extLst>
            </p:cNvPr>
            <p:cNvSpPr txBox="1"/>
            <p:nvPr/>
          </p:nvSpPr>
          <p:spPr>
            <a:xfrm>
              <a:off x="4216324" y="1939179"/>
              <a:ext cx="49494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Daily</a:t>
              </a:r>
              <a:endPara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EB2B37D-B652-7264-F05F-9569DD62A8E3}"/>
                </a:ext>
              </a:extLst>
            </p:cNvPr>
            <p:cNvSpPr txBox="1"/>
            <p:nvPr/>
          </p:nvSpPr>
          <p:spPr>
            <a:xfrm>
              <a:off x="4686710" y="2727318"/>
              <a:ext cx="5413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재확인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BB8E698-433D-6BD8-9E4F-ECD521CB2392}"/>
                </a:ext>
              </a:extLst>
            </p:cNvPr>
            <p:cNvSpPr txBox="1"/>
            <p:nvPr/>
          </p:nvSpPr>
          <p:spPr>
            <a:xfrm>
              <a:off x="2990219" y="2584317"/>
              <a:ext cx="6031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확인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7E53EA7-0407-B2CA-0B80-BB51FFD081C3}"/>
                </a:ext>
              </a:extLst>
            </p:cNvPr>
            <p:cNvSpPr txBox="1"/>
            <p:nvPr/>
          </p:nvSpPr>
          <p:spPr>
            <a:xfrm>
              <a:off x="1104537" y="3099453"/>
              <a:ext cx="10310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진단대상법인 선정</a:t>
              </a:r>
              <a:endPara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BB6D93A-666F-418C-92FE-9B42D10B9167}"/>
                </a:ext>
              </a:extLst>
            </p:cNvPr>
            <p:cNvSpPr txBox="1"/>
            <p:nvPr/>
          </p:nvSpPr>
          <p:spPr>
            <a:xfrm>
              <a:off x="5359037" y="2658068"/>
              <a:ext cx="541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개선</a:t>
              </a:r>
              <a:endPara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ko-KR" altLang="en-US" sz="9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사항</a:t>
              </a: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7609BEE8-7FE4-ED56-25D1-68241CA4177F}"/>
                </a:ext>
              </a:extLst>
            </p:cNvPr>
            <p:cNvCxnSpPr/>
            <p:nvPr/>
          </p:nvCxnSpPr>
          <p:spPr bwMode="auto">
            <a:xfrm>
              <a:off x="2432720" y="2020650"/>
              <a:ext cx="0" cy="138499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9" name="Text Box 64">
            <a:extLst>
              <a:ext uri="{FF2B5EF4-FFF2-40B4-BE49-F238E27FC236}">
                <a16:creationId xmlns:a16="http://schemas.microsoft.com/office/drawing/2014/main" id="{7D6128E7-16A5-C8E2-06D0-2069A4DE3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선행관리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64BAEB3-6091-5998-DE35-FCF3BBAA607B}"/>
              </a:ext>
            </a:extLst>
          </p:cNvPr>
          <p:cNvCxnSpPr>
            <a:cxnSpLocks/>
          </p:cNvCxnSpPr>
          <p:nvPr/>
        </p:nvCxnSpPr>
        <p:spPr bwMode="auto">
          <a:xfrm>
            <a:off x="588233" y="4047438"/>
            <a:ext cx="8866625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2E08F6D8-A12D-0E26-0F63-63B109943541}"/>
              </a:ext>
            </a:extLst>
          </p:cNvPr>
          <p:cNvGrpSpPr/>
          <p:nvPr/>
        </p:nvGrpSpPr>
        <p:grpSpPr>
          <a:xfrm>
            <a:off x="1089144" y="4099288"/>
            <a:ext cx="5485196" cy="2141218"/>
            <a:chOff x="1089144" y="4099288"/>
            <a:chExt cx="5485196" cy="2141218"/>
          </a:xfrm>
        </p:grpSpPr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31CEBB1C-CAD6-F781-6AB9-A4A4AB0723E8}"/>
                </a:ext>
              </a:extLst>
            </p:cNvPr>
            <p:cNvSpPr/>
            <p:nvPr/>
          </p:nvSpPr>
          <p:spPr bwMode="auto">
            <a:xfrm>
              <a:off x="2900697" y="4775209"/>
              <a:ext cx="3671229" cy="400107"/>
            </a:xfrm>
            <a:prstGeom prst="rightArrow">
              <a:avLst>
                <a:gd name="adj1" fmla="val 50000"/>
                <a:gd name="adj2" fmla="val 51843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상시점검       </a:t>
              </a:r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542B4C62-2E0A-ED15-CAEB-09906E1961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29175" y="4368111"/>
              <a:ext cx="3671230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CB6AC73-33AF-6E8D-8711-A86D1E8C928C}"/>
                </a:ext>
              </a:extLst>
            </p:cNvPr>
            <p:cNvSpPr txBox="1"/>
            <p:nvPr/>
          </p:nvSpPr>
          <p:spPr>
            <a:xfrm>
              <a:off x="3175717" y="4099288"/>
              <a:ext cx="16979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빅데이터 기반 상시 점검</a:t>
              </a: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752EFF91-EB13-DECD-F53D-562A98D6520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90039" y="5514256"/>
              <a:ext cx="0" cy="530397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8857BB24-6C74-C0DF-D661-8B4BF15920D9}"/>
                </a:ext>
              </a:extLst>
            </p:cNvPr>
            <p:cNvCxnSpPr>
              <a:cxnSpLocks/>
              <a:stCxn id="79" idx="1"/>
            </p:cNvCxnSpPr>
            <p:nvPr/>
          </p:nvCxnSpPr>
          <p:spPr bwMode="auto">
            <a:xfrm>
              <a:off x="4724363" y="5391420"/>
              <a:ext cx="12613" cy="501894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73C4AC0D-FBE3-DDDB-6714-753161E8C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18658" y="5904275"/>
              <a:ext cx="359260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0DC4805-A79E-EF69-408E-C772931D96DC}"/>
                </a:ext>
              </a:extLst>
            </p:cNvPr>
            <p:cNvSpPr txBox="1"/>
            <p:nvPr/>
          </p:nvSpPr>
          <p:spPr>
            <a:xfrm>
              <a:off x="2549645" y="5769260"/>
              <a:ext cx="80764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실시간</a:t>
              </a:r>
            </a:p>
          </p:txBody>
        </p: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8FF685D4-C39A-6653-DFFB-BC126F1EF288}"/>
                </a:ext>
              </a:extLst>
            </p:cNvPr>
            <p:cNvGrpSpPr/>
            <p:nvPr/>
          </p:nvGrpSpPr>
          <p:grpSpPr>
            <a:xfrm>
              <a:off x="1089144" y="5272330"/>
              <a:ext cx="5485196" cy="241926"/>
              <a:chOff x="1089143" y="5583449"/>
              <a:chExt cx="6677575" cy="241926"/>
            </a:xfrm>
          </p:grpSpPr>
          <p:sp>
            <p:nvSpPr>
              <p:cNvPr id="75" name="화살표: 오른쪽 74">
                <a:extLst>
                  <a:ext uri="{FF2B5EF4-FFF2-40B4-BE49-F238E27FC236}">
                    <a16:creationId xmlns:a16="http://schemas.microsoft.com/office/drawing/2014/main" id="{10C65D60-9456-DFEE-A732-762CBF5F989B}"/>
                  </a:ext>
                </a:extLst>
              </p:cNvPr>
              <p:cNvSpPr/>
              <p:nvPr/>
            </p:nvSpPr>
            <p:spPr bwMode="auto">
              <a:xfrm>
                <a:off x="1089143" y="5598778"/>
                <a:ext cx="1154483" cy="226597"/>
              </a:xfrm>
              <a:prstGeom prst="rightArrow">
                <a:avLst>
                  <a:gd name="adj1" fmla="val 97919"/>
                  <a:gd name="adj2" fmla="val 50000"/>
                </a:avLst>
              </a:prstGeom>
              <a:gradFill flip="none" rotWithShape="1">
                <a:gsLst>
                  <a:gs pos="0">
                    <a:schemeClr val="bg1">
                      <a:lumMod val="75000"/>
                      <a:shade val="30000"/>
                      <a:satMod val="115000"/>
                    </a:schemeClr>
                  </a:gs>
                  <a:gs pos="50000">
                    <a:schemeClr val="bg1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75000"/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1050" b="1" i="0" strike="noStrike" cap="none" normalizeH="0" baseline="0" dirty="0">
                    <a:ln>
                      <a:noFill/>
                    </a:ln>
                    <a:effectLst/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데이터수집</a:t>
                </a:r>
              </a:p>
            </p:txBody>
          </p:sp>
          <p:sp>
            <p:nvSpPr>
              <p:cNvPr id="76" name="화살표: 오른쪽 75">
                <a:extLst>
                  <a:ext uri="{FF2B5EF4-FFF2-40B4-BE49-F238E27FC236}">
                    <a16:creationId xmlns:a16="http://schemas.microsoft.com/office/drawing/2014/main" id="{1F3055D1-3971-2589-388B-6476306767EA}"/>
                  </a:ext>
                </a:extLst>
              </p:cNvPr>
              <p:cNvSpPr/>
              <p:nvPr/>
            </p:nvSpPr>
            <p:spPr bwMode="auto">
              <a:xfrm>
                <a:off x="2188365" y="5589240"/>
                <a:ext cx="1154483" cy="226597"/>
              </a:xfrm>
              <a:prstGeom prst="rightArrow">
                <a:avLst>
                  <a:gd name="adj1" fmla="val 97919"/>
                  <a:gd name="adj2" fmla="val 50000"/>
                </a:avLst>
              </a:prstGeom>
              <a:gradFill flip="none" rotWithShape="1">
                <a:gsLst>
                  <a:gs pos="0">
                    <a:schemeClr val="bg1">
                      <a:lumMod val="75000"/>
                      <a:shade val="30000"/>
                      <a:satMod val="115000"/>
                    </a:schemeClr>
                  </a:gs>
                  <a:gs pos="50000">
                    <a:schemeClr val="bg1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75000"/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1050" b="1" i="0" strike="noStrike" cap="none" normalizeH="0" baseline="0" dirty="0">
                    <a:ln>
                      <a:noFill/>
                    </a:ln>
                    <a:effectLst/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분석</a:t>
                </a:r>
              </a:p>
            </p:txBody>
          </p:sp>
          <p:sp>
            <p:nvSpPr>
              <p:cNvPr id="77" name="화살표: 오른쪽 76">
                <a:extLst>
                  <a:ext uri="{FF2B5EF4-FFF2-40B4-BE49-F238E27FC236}">
                    <a16:creationId xmlns:a16="http://schemas.microsoft.com/office/drawing/2014/main" id="{AAD8C19F-0B8A-B918-39A7-AB4D48955F43}"/>
                  </a:ext>
                </a:extLst>
              </p:cNvPr>
              <p:cNvSpPr/>
              <p:nvPr/>
            </p:nvSpPr>
            <p:spPr bwMode="auto">
              <a:xfrm>
                <a:off x="3294494" y="5589240"/>
                <a:ext cx="1154483" cy="226597"/>
              </a:xfrm>
              <a:prstGeom prst="rightArrow">
                <a:avLst>
                  <a:gd name="adj1" fmla="val 97919"/>
                  <a:gd name="adj2" fmla="val 50000"/>
                </a:avLst>
              </a:prstGeom>
              <a:gradFill flip="none" rotWithShape="1">
                <a:gsLst>
                  <a:gs pos="0">
                    <a:schemeClr val="bg1">
                      <a:lumMod val="75000"/>
                      <a:shade val="30000"/>
                      <a:satMod val="115000"/>
                    </a:schemeClr>
                  </a:gs>
                  <a:gs pos="50000">
                    <a:schemeClr val="bg1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75000"/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1050" b="1" i="0" strike="noStrike" cap="none" normalizeH="0" baseline="0" dirty="0">
                    <a:ln>
                      <a:noFill/>
                    </a:ln>
                    <a:effectLst/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분석결과</a:t>
                </a:r>
              </a:p>
            </p:txBody>
          </p:sp>
          <p:sp>
            <p:nvSpPr>
              <p:cNvPr id="78" name="화살표: 오른쪽 77">
                <a:extLst>
                  <a:ext uri="{FF2B5EF4-FFF2-40B4-BE49-F238E27FC236}">
                    <a16:creationId xmlns:a16="http://schemas.microsoft.com/office/drawing/2014/main" id="{6DA23C3C-8721-92BE-023A-3CF9D4B02B27}"/>
                  </a:ext>
                </a:extLst>
              </p:cNvPr>
              <p:cNvSpPr/>
              <p:nvPr/>
            </p:nvSpPr>
            <p:spPr bwMode="auto">
              <a:xfrm>
                <a:off x="4408462" y="5589240"/>
                <a:ext cx="1154483" cy="226597"/>
              </a:xfrm>
              <a:prstGeom prst="rightArrow">
                <a:avLst>
                  <a:gd name="adj1" fmla="val 97919"/>
                  <a:gd name="adj2" fmla="val 50000"/>
                </a:avLst>
              </a:prstGeom>
              <a:gradFill flip="none" rotWithShape="1">
                <a:gsLst>
                  <a:gs pos="0">
                    <a:schemeClr val="bg1">
                      <a:lumMod val="75000"/>
                      <a:shade val="30000"/>
                      <a:satMod val="115000"/>
                    </a:schemeClr>
                  </a:gs>
                  <a:gs pos="50000">
                    <a:schemeClr val="bg1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75000"/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1050" b="1" i="0" strike="noStrike" cap="none" normalizeH="0" baseline="0" dirty="0">
                    <a:ln>
                      <a:noFill/>
                    </a:ln>
                    <a:effectLst/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시각화</a:t>
                </a:r>
              </a:p>
            </p:txBody>
          </p:sp>
          <p:sp>
            <p:nvSpPr>
              <p:cNvPr id="79" name="화살표: 오른쪽 78">
                <a:extLst>
                  <a:ext uri="{FF2B5EF4-FFF2-40B4-BE49-F238E27FC236}">
                    <a16:creationId xmlns:a16="http://schemas.microsoft.com/office/drawing/2014/main" id="{2450515E-1CB1-C8E7-9690-1D21ED054929}"/>
                  </a:ext>
                </a:extLst>
              </p:cNvPr>
              <p:cNvSpPr/>
              <p:nvPr/>
            </p:nvSpPr>
            <p:spPr bwMode="auto">
              <a:xfrm>
                <a:off x="5514591" y="5589240"/>
                <a:ext cx="1154483" cy="226597"/>
              </a:xfrm>
              <a:prstGeom prst="rightArrow">
                <a:avLst>
                  <a:gd name="adj1" fmla="val 97919"/>
                  <a:gd name="adj2" fmla="val 50000"/>
                </a:avLst>
              </a:prstGeom>
              <a:gradFill flip="none" rotWithShape="1">
                <a:gsLst>
                  <a:gs pos="0">
                    <a:schemeClr val="bg1">
                      <a:lumMod val="75000"/>
                      <a:shade val="30000"/>
                      <a:satMod val="115000"/>
                    </a:schemeClr>
                  </a:gs>
                  <a:gs pos="50000">
                    <a:schemeClr val="bg1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75000"/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1050" b="1" i="0" strike="noStrike" cap="none" normalizeH="0" baseline="0" dirty="0">
                    <a:ln>
                      <a:noFill/>
                    </a:ln>
                    <a:effectLst/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점검</a:t>
                </a:r>
              </a:p>
            </p:txBody>
          </p:sp>
          <p:sp>
            <p:nvSpPr>
              <p:cNvPr id="80" name="화살표: 오른쪽 79">
                <a:extLst>
                  <a:ext uri="{FF2B5EF4-FFF2-40B4-BE49-F238E27FC236}">
                    <a16:creationId xmlns:a16="http://schemas.microsoft.com/office/drawing/2014/main" id="{4791CC0F-FD51-6EB3-D9EC-AB6A9694D9B6}"/>
                  </a:ext>
                </a:extLst>
              </p:cNvPr>
              <p:cNvSpPr/>
              <p:nvPr/>
            </p:nvSpPr>
            <p:spPr bwMode="auto">
              <a:xfrm>
                <a:off x="6612235" y="5583449"/>
                <a:ext cx="1154483" cy="226597"/>
              </a:xfrm>
              <a:prstGeom prst="rightArrow">
                <a:avLst>
                  <a:gd name="adj1" fmla="val 97919"/>
                  <a:gd name="adj2" fmla="val 50000"/>
                </a:avLst>
              </a:prstGeom>
              <a:gradFill flip="none" rotWithShape="1">
                <a:gsLst>
                  <a:gs pos="0">
                    <a:schemeClr val="bg1">
                      <a:lumMod val="75000"/>
                      <a:shade val="30000"/>
                      <a:satMod val="115000"/>
                    </a:schemeClr>
                  </a:gs>
                  <a:gs pos="50000">
                    <a:schemeClr val="bg1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75000"/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89585" tIns="44791" rIns="89585" bIns="44791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2813" rtl="0" eaLnBrk="1" fontAlgn="base" latinLnBrk="1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1050" b="1" i="0" strike="noStrike" cap="none" normalizeH="0" baseline="0" dirty="0">
                    <a:ln>
                      <a:noFill/>
                    </a:ln>
                    <a:effectLst/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판단</a:t>
                </a:r>
              </a:p>
            </p:txBody>
          </p:sp>
        </p:grp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73769605-4E38-7DBD-2E25-FD1A4A057B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02536" y="5498927"/>
              <a:ext cx="0" cy="560838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0A80840A-B2B0-55DD-62DE-0364D04F86D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34057" y="6129300"/>
              <a:ext cx="5410176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F933C4-4E69-F7A5-2B0A-2CCBE9EF99F9}"/>
                </a:ext>
              </a:extLst>
            </p:cNvPr>
            <p:cNvSpPr txBox="1"/>
            <p:nvPr/>
          </p:nvSpPr>
          <p:spPr>
            <a:xfrm>
              <a:off x="3552039" y="5994285"/>
              <a:ext cx="80764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</a:t>
              </a:r>
              <a:r>
                <a:rPr lang="ko-KR" altLang="en-US" sz="1000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개월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107FF3B-3DF6-7327-7F4E-E1702F2ABED5}"/>
                </a:ext>
              </a:extLst>
            </p:cNvPr>
            <p:cNvSpPr txBox="1"/>
            <p:nvPr/>
          </p:nvSpPr>
          <p:spPr>
            <a:xfrm>
              <a:off x="1937845" y="5516387"/>
              <a:ext cx="18540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시나리오 설계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개발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2A12AB4-8C3B-25DF-1D91-569AB652BD04}"/>
                </a:ext>
              </a:extLst>
            </p:cNvPr>
            <p:cNvSpPr txBox="1"/>
            <p:nvPr/>
          </p:nvSpPr>
          <p:spPr>
            <a:xfrm>
              <a:off x="3913704" y="5516195"/>
              <a:ext cx="7469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리포트 개발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6FC666C-80BE-6E5C-8585-D6B400D7994E}"/>
                </a:ext>
              </a:extLst>
            </p:cNvPr>
            <p:cNvSpPr txBox="1"/>
            <p:nvPr/>
          </p:nvSpPr>
          <p:spPr>
            <a:xfrm>
              <a:off x="1101682" y="5508811"/>
              <a:ext cx="8119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본부 데이터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F38830E-9460-BC3B-42DD-5E770975D142}"/>
                </a:ext>
              </a:extLst>
            </p:cNvPr>
            <p:cNvSpPr txBox="1"/>
            <p:nvPr/>
          </p:nvSpPr>
          <p:spPr>
            <a:xfrm>
              <a:off x="4659400" y="5522509"/>
              <a:ext cx="18540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대시보드 및 커뮤니케이션 플랫폼 개발</a:t>
              </a:r>
            </a:p>
          </p:txBody>
        </p:sp>
        <p:sp>
          <p:nvSpPr>
            <p:cNvPr id="89" name="화살표: 원형 88">
              <a:extLst>
                <a:ext uri="{FF2B5EF4-FFF2-40B4-BE49-F238E27FC236}">
                  <a16:creationId xmlns:a16="http://schemas.microsoft.com/office/drawing/2014/main" id="{3403B38A-4CAC-DD27-02D0-7FDE356CFE71}"/>
                </a:ext>
              </a:extLst>
            </p:cNvPr>
            <p:cNvSpPr/>
            <p:nvPr/>
          </p:nvSpPr>
          <p:spPr bwMode="auto">
            <a:xfrm rot="15860516" flipH="1">
              <a:off x="3159139" y="4653634"/>
              <a:ext cx="628582" cy="679147"/>
            </a:xfrm>
            <a:prstGeom prst="circularArrow">
              <a:avLst>
                <a:gd name="adj1" fmla="val 14431"/>
                <a:gd name="adj2" fmla="val 911623"/>
                <a:gd name="adj3" fmla="val 20243655"/>
                <a:gd name="adj4" fmla="val 21532886"/>
                <a:gd name="adj5" fmla="val 13391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90" name="화살표: 원형 89">
              <a:extLst>
                <a:ext uri="{FF2B5EF4-FFF2-40B4-BE49-F238E27FC236}">
                  <a16:creationId xmlns:a16="http://schemas.microsoft.com/office/drawing/2014/main" id="{E59FD661-A512-3C7F-F838-45E75774BAE9}"/>
                </a:ext>
              </a:extLst>
            </p:cNvPr>
            <p:cNvSpPr/>
            <p:nvPr/>
          </p:nvSpPr>
          <p:spPr bwMode="auto">
            <a:xfrm rot="15860516" flipH="1">
              <a:off x="3992599" y="4654761"/>
              <a:ext cx="628582" cy="679147"/>
            </a:xfrm>
            <a:prstGeom prst="circularArrow">
              <a:avLst>
                <a:gd name="adj1" fmla="val 14431"/>
                <a:gd name="adj2" fmla="val 911623"/>
                <a:gd name="adj3" fmla="val 20243655"/>
                <a:gd name="adj4" fmla="val 21532886"/>
                <a:gd name="adj5" fmla="val 13391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91" name="화살표: 원형 90">
              <a:extLst>
                <a:ext uri="{FF2B5EF4-FFF2-40B4-BE49-F238E27FC236}">
                  <a16:creationId xmlns:a16="http://schemas.microsoft.com/office/drawing/2014/main" id="{021A4DED-BAD4-272D-A286-402556E0648B}"/>
                </a:ext>
              </a:extLst>
            </p:cNvPr>
            <p:cNvSpPr/>
            <p:nvPr/>
          </p:nvSpPr>
          <p:spPr bwMode="auto">
            <a:xfrm rot="15860516" flipH="1">
              <a:off x="4826059" y="4654760"/>
              <a:ext cx="628582" cy="679147"/>
            </a:xfrm>
            <a:prstGeom prst="circularArrow">
              <a:avLst>
                <a:gd name="adj1" fmla="val 14431"/>
                <a:gd name="adj2" fmla="val 911623"/>
                <a:gd name="adj3" fmla="val 20243655"/>
                <a:gd name="adj4" fmla="val 21532886"/>
                <a:gd name="adj5" fmla="val 13391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2F35482-D508-B753-0041-0B62710DF5AF}"/>
                </a:ext>
              </a:extLst>
            </p:cNvPr>
            <p:cNvSpPr txBox="1"/>
            <p:nvPr/>
          </p:nvSpPr>
          <p:spPr>
            <a:xfrm>
              <a:off x="3255150" y="4842460"/>
              <a:ext cx="4122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현업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72DC430-35F3-8802-3055-C9BDF93BBBB7}"/>
                </a:ext>
              </a:extLst>
            </p:cNvPr>
            <p:cNvSpPr txBox="1"/>
            <p:nvPr/>
          </p:nvSpPr>
          <p:spPr>
            <a:xfrm>
              <a:off x="3992962" y="4855969"/>
              <a:ext cx="6399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주관부서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1A7D141-E19A-B878-8F97-533950DC390B}"/>
                </a:ext>
              </a:extLst>
            </p:cNvPr>
            <p:cNvSpPr txBox="1"/>
            <p:nvPr/>
          </p:nvSpPr>
          <p:spPr>
            <a:xfrm>
              <a:off x="4943157" y="4855968"/>
              <a:ext cx="4122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진단</a:t>
              </a:r>
              <a:endPara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95" name="자유형: 도형 94">
              <a:extLst>
                <a:ext uri="{FF2B5EF4-FFF2-40B4-BE49-F238E27FC236}">
                  <a16:creationId xmlns:a16="http://schemas.microsoft.com/office/drawing/2014/main" id="{46D52E50-3CA1-55BC-A373-E31B5E8A9445}"/>
                </a:ext>
              </a:extLst>
            </p:cNvPr>
            <p:cNvSpPr/>
            <p:nvPr/>
          </p:nvSpPr>
          <p:spPr bwMode="auto">
            <a:xfrm>
              <a:off x="4233737" y="4621754"/>
              <a:ext cx="973393" cy="148202"/>
            </a:xfrm>
            <a:custGeom>
              <a:avLst/>
              <a:gdLst>
                <a:gd name="connsiteX0" fmla="*/ 973393 w 973393"/>
                <a:gd name="connsiteY0" fmla="*/ 317210 h 317210"/>
                <a:gd name="connsiteX1" fmla="*/ 435077 w 973393"/>
                <a:gd name="connsiteY1" fmla="*/ 120 h 317210"/>
                <a:gd name="connsiteX2" fmla="*/ 0 w 973393"/>
                <a:gd name="connsiteY2" fmla="*/ 287713 h 31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3393" h="317210">
                  <a:moveTo>
                    <a:pt x="973393" y="317210"/>
                  </a:moveTo>
                  <a:cubicBezTo>
                    <a:pt x="785351" y="161123"/>
                    <a:pt x="597309" y="5036"/>
                    <a:pt x="435077" y="120"/>
                  </a:cubicBezTo>
                  <a:cubicBezTo>
                    <a:pt x="272845" y="-4796"/>
                    <a:pt x="136422" y="141458"/>
                    <a:pt x="0" y="287713"/>
                  </a:cubicBezTo>
                </a:path>
              </a:pathLst>
            </a:custGeom>
            <a:noFill/>
            <a:ln w="3175" cap="flat" cmpd="sng" algn="ctr">
              <a:solidFill>
                <a:srgbClr val="0066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528134B5-8F1A-4857-5249-DAAC090E5D09}"/>
                </a:ext>
              </a:extLst>
            </p:cNvPr>
            <p:cNvSpPr/>
            <p:nvPr/>
          </p:nvSpPr>
          <p:spPr bwMode="auto">
            <a:xfrm>
              <a:off x="3352448" y="4606671"/>
              <a:ext cx="973393" cy="148202"/>
            </a:xfrm>
            <a:custGeom>
              <a:avLst/>
              <a:gdLst>
                <a:gd name="connsiteX0" fmla="*/ 973393 w 973393"/>
                <a:gd name="connsiteY0" fmla="*/ 317210 h 317210"/>
                <a:gd name="connsiteX1" fmla="*/ 435077 w 973393"/>
                <a:gd name="connsiteY1" fmla="*/ 120 h 317210"/>
                <a:gd name="connsiteX2" fmla="*/ 0 w 973393"/>
                <a:gd name="connsiteY2" fmla="*/ 287713 h 31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3393" h="317210">
                  <a:moveTo>
                    <a:pt x="973393" y="317210"/>
                  </a:moveTo>
                  <a:cubicBezTo>
                    <a:pt x="785351" y="161123"/>
                    <a:pt x="597309" y="5036"/>
                    <a:pt x="435077" y="120"/>
                  </a:cubicBezTo>
                  <a:cubicBezTo>
                    <a:pt x="272845" y="-4796"/>
                    <a:pt x="136422" y="141458"/>
                    <a:pt x="0" y="287713"/>
                  </a:cubicBezTo>
                </a:path>
              </a:pathLst>
            </a:custGeom>
            <a:noFill/>
            <a:ln w="3175" cap="flat" cmpd="sng" algn="ctr">
              <a:solidFill>
                <a:srgbClr val="0066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D29B26A5-2ED3-FC06-3A14-23490481EAC7}"/>
                </a:ext>
              </a:extLst>
            </p:cNvPr>
            <p:cNvSpPr/>
            <p:nvPr/>
          </p:nvSpPr>
          <p:spPr bwMode="auto">
            <a:xfrm>
              <a:off x="3392320" y="4527230"/>
              <a:ext cx="1697098" cy="173623"/>
            </a:xfrm>
            <a:custGeom>
              <a:avLst/>
              <a:gdLst>
                <a:gd name="connsiteX0" fmla="*/ 973393 w 973393"/>
                <a:gd name="connsiteY0" fmla="*/ 317210 h 317210"/>
                <a:gd name="connsiteX1" fmla="*/ 435077 w 973393"/>
                <a:gd name="connsiteY1" fmla="*/ 120 h 317210"/>
                <a:gd name="connsiteX2" fmla="*/ 0 w 973393"/>
                <a:gd name="connsiteY2" fmla="*/ 287713 h 31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3393" h="317210">
                  <a:moveTo>
                    <a:pt x="973393" y="317210"/>
                  </a:moveTo>
                  <a:cubicBezTo>
                    <a:pt x="785351" y="161123"/>
                    <a:pt x="597309" y="5036"/>
                    <a:pt x="435077" y="120"/>
                  </a:cubicBezTo>
                  <a:cubicBezTo>
                    <a:pt x="272845" y="-4796"/>
                    <a:pt x="136422" y="141458"/>
                    <a:pt x="0" y="287713"/>
                  </a:cubicBezTo>
                </a:path>
              </a:pathLst>
            </a:custGeom>
            <a:noFill/>
            <a:ln w="3175" cap="flat" cmpd="sng" algn="ctr">
              <a:solidFill>
                <a:srgbClr val="0066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Dotum" pitchFamily="50" charset="-127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D784A2A-E905-4A02-3065-1FA88FC166DD}"/>
                </a:ext>
              </a:extLst>
            </p:cNvPr>
            <p:cNvSpPr txBox="1"/>
            <p:nvPr/>
          </p:nvSpPr>
          <p:spPr>
            <a:xfrm>
              <a:off x="4285919" y="4411416"/>
              <a:ext cx="175174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점검 과정</a:t>
              </a:r>
              <a:r>
                <a:rPr lang="en-US" altLang="ko-KR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8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결과 커뮤니케이션</a:t>
              </a: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7A40D545-21E7-30EB-E0E2-5D63F72C3269}"/>
                </a:ext>
              </a:extLst>
            </p:cNvPr>
            <p:cNvSpPr/>
            <p:nvPr/>
          </p:nvSpPr>
          <p:spPr>
            <a:xfrm>
              <a:off x="1928764" y="5172075"/>
              <a:ext cx="1890761" cy="538928"/>
            </a:xfrm>
            <a:prstGeom prst="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270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861FB-63E8-5158-F579-A88F888A6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27" y="651645"/>
            <a:ext cx="6477992" cy="396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</a:pPr>
            <a:r>
              <a:rPr lang="en-US" altLang="ko-KR" sz="1800" b="1" dirty="0">
                <a:solidFill>
                  <a:srgbClr val="000000"/>
                </a:solidFill>
                <a:latin typeface="바탕체" panose="02030609000101010101" pitchFamily="17" charset="-127"/>
                <a:ea typeface="LG스마트체 Regular" panose="020B0600000101010101" pitchFamily="50" charset="-127"/>
                <a:sym typeface="Wingdings" pitchFamily="2" charset="2"/>
              </a:rPr>
              <a:t>Ⅱ</a:t>
            </a:r>
            <a:r>
              <a:rPr lang="en-US" altLang="ko-KR" sz="1800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. ML </a:t>
            </a:r>
            <a:r>
              <a:rPr lang="ko-KR" altLang="en-US" sz="1800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기반 진단</a:t>
            </a:r>
            <a:r>
              <a:rPr lang="en-US" altLang="ko-KR" sz="1800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– </a:t>
            </a:r>
            <a:r>
              <a:rPr lang="ko-KR" altLang="en-US" sz="1800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기술 제안 </a:t>
            </a:r>
            <a:r>
              <a:rPr lang="en-US" altLang="ko-KR" sz="1800" dirty="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(ML </a:t>
            </a:r>
            <a:r>
              <a:rPr lang="ko-KR" altLang="en-US" sz="180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기반 진단을 위한 데이터 준비 예시</a:t>
            </a:r>
            <a:r>
              <a:rPr lang="en-US" altLang="ko-KR" sz="1800" dirty="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)</a:t>
            </a:r>
            <a:endParaRPr lang="ko-KR" altLang="en-US" sz="1463" dirty="0">
              <a:solidFill>
                <a:srgbClr val="000000"/>
              </a:solidFill>
              <a:ea typeface="LG스마트체 Regular" panose="020B0600000101010101" pitchFamily="50" charset="-127"/>
            </a:endParaRPr>
          </a:p>
        </p:txBody>
      </p:sp>
      <p:sp>
        <p:nvSpPr>
          <p:cNvPr id="5" name="오른쪽 중괄호 4">
            <a:extLst>
              <a:ext uri="{FF2B5EF4-FFF2-40B4-BE49-F238E27FC236}">
                <a16:creationId xmlns:a16="http://schemas.microsoft.com/office/drawing/2014/main" id="{AE0A1926-1174-0987-8669-F48BB01F4FFE}"/>
              </a:ext>
            </a:extLst>
          </p:cNvPr>
          <p:cNvSpPr/>
          <p:nvPr/>
        </p:nvSpPr>
        <p:spPr>
          <a:xfrm rot="16200000">
            <a:off x="3206363" y="863090"/>
            <a:ext cx="175519" cy="3083731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A3761-D8CB-B657-C10B-ABC07883DCB6}"/>
              </a:ext>
            </a:extLst>
          </p:cNvPr>
          <p:cNvSpPr txBox="1"/>
          <p:nvPr/>
        </p:nvSpPr>
        <p:spPr>
          <a:xfrm>
            <a:off x="2844388" y="2092315"/>
            <a:ext cx="92365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Features</a:t>
            </a:r>
            <a:endParaRPr lang="ko-KR" alt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4B430388-F880-43FF-3446-9ABE0D2A2EA4}"/>
              </a:ext>
            </a:extLst>
          </p:cNvPr>
          <p:cNvSpPr/>
          <p:nvPr/>
        </p:nvSpPr>
        <p:spPr>
          <a:xfrm rot="16200000">
            <a:off x="6327905" y="882596"/>
            <a:ext cx="175519" cy="3042338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DBCA8-2886-24FB-32CE-E6FAF4EDF6D1}"/>
              </a:ext>
            </a:extLst>
          </p:cNvPr>
          <p:cNvSpPr txBox="1"/>
          <p:nvPr/>
        </p:nvSpPr>
        <p:spPr>
          <a:xfrm>
            <a:off x="5203868" y="2091123"/>
            <a:ext cx="2427268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 Engineering</a:t>
            </a:r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통한 신규 인자 생성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A8AC087-B958-9169-D139-1CE42F679316}"/>
              </a:ext>
            </a:extLst>
          </p:cNvPr>
          <p:cNvCxnSpPr/>
          <p:nvPr/>
        </p:nvCxnSpPr>
        <p:spPr bwMode="auto">
          <a:xfrm>
            <a:off x="0" y="1088740"/>
            <a:ext cx="9906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오른쪽 중괄호 9">
            <a:extLst>
              <a:ext uri="{FF2B5EF4-FFF2-40B4-BE49-F238E27FC236}">
                <a16:creationId xmlns:a16="http://schemas.microsoft.com/office/drawing/2014/main" id="{85595257-77ED-F6AA-96F5-E3458D0C4B85}"/>
              </a:ext>
            </a:extLst>
          </p:cNvPr>
          <p:cNvSpPr/>
          <p:nvPr/>
        </p:nvSpPr>
        <p:spPr>
          <a:xfrm rot="16200000">
            <a:off x="8072128" y="2201348"/>
            <a:ext cx="175519" cy="404834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513C7-F53D-033D-C080-EE5C163EEEA9}"/>
              </a:ext>
            </a:extLst>
          </p:cNvPr>
          <p:cNvSpPr txBox="1"/>
          <p:nvPr/>
        </p:nvSpPr>
        <p:spPr>
          <a:xfrm>
            <a:off x="7845630" y="2092315"/>
            <a:ext cx="168187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75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② </a:t>
            </a:r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지도 학습을 위한 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Y</a:t>
            </a:r>
            <a:endParaRPr lang="ko-KR" alt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E069EAE-3854-F9AB-B072-0B7F6711A76B}"/>
              </a:ext>
            </a:extLst>
          </p:cNvPr>
          <p:cNvGraphicFramePr>
            <a:graphicFrameLocks noGrp="1"/>
          </p:cNvGraphicFramePr>
          <p:nvPr/>
        </p:nvGraphicFramePr>
        <p:xfrm>
          <a:off x="876842" y="3504520"/>
          <a:ext cx="3116728" cy="23698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9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0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4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4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2,535,274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4763862-D43B-DA8F-6949-53641DBC471A}"/>
              </a:ext>
            </a:extLst>
          </p:cNvPr>
          <p:cNvGraphicFramePr>
            <a:graphicFrameLocks noGrp="1"/>
          </p:cNvGraphicFramePr>
          <p:nvPr/>
        </p:nvGraphicFramePr>
        <p:xfrm>
          <a:off x="1297199" y="3078599"/>
          <a:ext cx="3116728" cy="23698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9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0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4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4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5,225,273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AEE2556-E857-3FC0-5AEF-66E1C08A7DF2}"/>
              </a:ext>
            </a:extLst>
          </p:cNvPr>
          <p:cNvGraphicFramePr>
            <a:graphicFrameLocks noGrp="1"/>
          </p:cNvGraphicFramePr>
          <p:nvPr/>
        </p:nvGraphicFramePr>
        <p:xfrm>
          <a:off x="1740174" y="2504791"/>
          <a:ext cx="6623048" cy="258770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9591">
                  <a:extLst>
                    <a:ext uri="{9D8B030D-6E8A-4147-A177-3AD203B41FA5}">
                      <a16:colId xmlns:a16="http://schemas.microsoft.com/office/drawing/2014/main" val="1872165449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525056143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3043520346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552460527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1814740686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601147300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3879617901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631365039"/>
                    </a:ext>
                  </a:extLst>
                </a:gridCol>
                <a:gridCol w="779183">
                  <a:extLst>
                    <a:ext uri="{9D8B030D-6E8A-4147-A177-3AD203B41FA5}">
                      <a16:colId xmlns:a16="http://schemas.microsoft.com/office/drawing/2014/main" val="3751986453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46476098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344340000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3607070926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3042810527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2802524446"/>
                    </a:ext>
                  </a:extLst>
                </a:gridCol>
                <a:gridCol w="389591">
                  <a:extLst>
                    <a:ext uri="{9D8B030D-6E8A-4147-A177-3AD203B41FA5}">
                      <a16:colId xmlns:a16="http://schemas.microsoft.com/office/drawing/2014/main" val="1160544846"/>
                    </a:ext>
                  </a:extLst>
                </a:gridCol>
              </a:tblGrid>
              <a:tr h="648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통계적 수치 데이터</a:t>
                      </a:r>
                    </a:p>
                    <a:p>
                      <a:pPr algn="ctr" latinLnBrk="1"/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(Min, Max, </a:t>
                      </a:r>
                      <a:b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Mean, …)</a:t>
                      </a:r>
                    </a:p>
                  </a:txBody>
                  <a:tcPr marL="0" marR="0" marT="14625" marB="14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Google Map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기반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운송거리 및 소요시간</a:t>
                      </a: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월중 리드타임과 월말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 리드타임</a:t>
                      </a: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동일 구간의 타제품 운송 리드타임</a:t>
                      </a: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과거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개월 </a:t>
                      </a:r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Google Map</a:t>
                      </a:r>
                      <a:r>
                        <a:rPr lang="ko-KR" altLang="en-US" sz="80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기준 자사 운송 시 가능여부</a:t>
                      </a: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 Y</a:t>
                      </a:r>
                      <a:endParaRPr lang="ko-KR" altLang="en-US" sz="80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370345"/>
                  </a:ext>
                </a:extLst>
              </a:tr>
              <a:tr h="4304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382843"/>
                  </a:ext>
                </a:extLst>
              </a:tr>
              <a:tr h="4304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094817"/>
                  </a:ext>
                </a:extLst>
              </a:tr>
              <a:tr h="40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15320"/>
                  </a:ext>
                </a:extLst>
              </a:tr>
              <a:tr h="4007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018934"/>
                  </a:ext>
                </a:extLst>
              </a:tr>
              <a:tr h="27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7,525,271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8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4625" marB="14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061135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A9ABB25-3D26-8F73-967B-8D2A23012D01}"/>
              </a:ext>
            </a:extLst>
          </p:cNvPr>
          <p:cNvCxnSpPr/>
          <p:nvPr/>
        </p:nvCxnSpPr>
        <p:spPr>
          <a:xfrm>
            <a:off x="3993572" y="5710754"/>
            <a:ext cx="23635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8115867-227B-CD5B-3992-ABF323722264}"/>
              </a:ext>
            </a:extLst>
          </p:cNvPr>
          <p:cNvCxnSpPr/>
          <p:nvPr/>
        </p:nvCxnSpPr>
        <p:spPr>
          <a:xfrm flipV="1">
            <a:off x="6357156" y="5092500"/>
            <a:ext cx="0" cy="6182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1B2841-789A-4DA8-3E5F-431D7F65DACB}"/>
              </a:ext>
            </a:extLst>
          </p:cNvPr>
          <p:cNvCxnSpPr/>
          <p:nvPr/>
        </p:nvCxnSpPr>
        <p:spPr>
          <a:xfrm flipV="1">
            <a:off x="876842" y="2559562"/>
            <a:ext cx="710448" cy="658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6AB948-27E3-7172-BB1B-A98941F9B91A}"/>
              </a:ext>
            </a:extLst>
          </p:cNvPr>
          <p:cNvSpPr txBox="1"/>
          <p:nvPr/>
        </p:nvSpPr>
        <p:spPr>
          <a:xfrm>
            <a:off x="6409406" y="5565852"/>
            <a:ext cx="2707793" cy="542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75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① </a:t>
            </a:r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진단 경험 및 </a:t>
            </a:r>
            <a:r>
              <a:rPr lang="ko-KR" altLang="en-US" sz="975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인사이트</a:t>
            </a:r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기반의 유용한 </a:t>
            </a:r>
            <a:b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발굴 필요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과거 데이터에서 해당 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b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추출하여 모델링에 반영 </a:t>
            </a:r>
            <a:endParaRPr lang="ko-KR" alt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02B424A-244F-EE0B-5F98-C4E2A2C18A68}"/>
              </a:ext>
            </a:extLst>
          </p:cNvPr>
          <p:cNvSpPr/>
          <p:nvPr/>
        </p:nvSpPr>
        <p:spPr>
          <a:xfrm>
            <a:off x="7845630" y="2086922"/>
            <a:ext cx="1658266" cy="24985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FB5B3B-BE8F-4257-FC2A-DD218ACF5E56}"/>
              </a:ext>
            </a:extLst>
          </p:cNvPr>
          <p:cNvSpPr/>
          <p:nvPr/>
        </p:nvSpPr>
        <p:spPr>
          <a:xfrm>
            <a:off x="6405011" y="5547938"/>
            <a:ext cx="2643444" cy="54305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90AD98-9BD4-493B-95C5-877EF4605F7E}"/>
              </a:ext>
            </a:extLst>
          </p:cNvPr>
          <p:cNvSpPr txBox="1"/>
          <p:nvPr/>
        </p:nvSpPr>
        <p:spPr>
          <a:xfrm rot="19010242">
            <a:off x="949882" y="2707391"/>
            <a:ext cx="40588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75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시간</a:t>
            </a:r>
            <a:endParaRPr lang="ko-KR" altLang="en-US" sz="975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15122-37E0-D85A-E2CB-AC139AF46B91}"/>
              </a:ext>
            </a:extLst>
          </p:cNvPr>
          <p:cNvSpPr txBox="1"/>
          <p:nvPr/>
        </p:nvSpPr>
        <p:spPr>
          <a:xfrm>
            <a:off x="4894494" y="3345029"/>
            <a:ext cx="702000" cy="4128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894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월중</a:t>
            </a:r>
            <a:r>
              <a:rPr lang="ko-KR" altLang="en-US" sz="894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리드타임 </a:t>
            </a:r>
            <a:r>
              <a:rPr lang="en-US" altLang="ko-KR" sz="894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Min, Max, Mean</a:t>
            </a:r>
            <a:endParaRPr lang="ko-KR" altLang="en-US" sz="894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B884A5-AFDE-FE56-0880-97507DA13D58}"/>
              </a:ext>
            </a:extLst>
          </p:cNvPr>
          <p:cNvSpPr txBox="1"/>
          <p:nvPr/>
        </p:nvSpPr>
        <p:spPr>
          <a:xfrm>
            <a:off x="4894494" y="4483126"/>
            <a:ext cx="702000" cy="4128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894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매출액</a:t>
            </a:r>
            <a:br>
              <a:rPr lang="en-US" altLang="ko-KR" sz="894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894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Min, Max, Mean</a:t>
            </a:r>
            <a:endParaRPr lang="ko-KR" altLang="en-US" sz="894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49DB51-0BCA-AA4C-5754-A9AE69A13B83}"/>
              </a:ext>
            </a:extLst>
          </p:cNvPr>
          <p:cNvSpPr txBox="1"/>
          <p:nvPr/>
        </p:nvSpPr>
        <p:spPr>
          <a:xfrm>
            <a:off x="6179449" y="3331271"/>
            <a:ext cx="879785" cy="3924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리드타임 관련</a:t>
            </a:r>
            <a:endParaRPr lang="en-US" altLang="ko-KR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 인자들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9AC79D-CD6F-A662-5E1D-5457226C62FB}"/>
              </a:ext>
            </a:extLst>
          </p:cNvPr>
          <p:cNvSpPr txBox="1"/>
          <p:nvPr/>
        </p:nvSpPr>
        <p:spPr>
          <a:xfrm>
            <a:off x="7195049" y="4015479"/>
            <a:ext cx="650581" cy="6924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운송 타입 관련 신규 인자들</a:t>
            </a:r>
          </a:p>
        </p:txBody>
      </p:sp>
    </p:spTree>
    <p:extLst>
      <p:ext uri="{BB962C8B-B14F-4D97-AF65-F5344CB8AC3E}">
        <p14:creationId xmlns:p14="http://schemas.microsoft.com/office/powerpoint/2010/main" val="80772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10035B4-9867-A7A4-AC78-58F3A7CDB01D}"/>
              </a:ext>
            </a:extLst>
          </p:cNvPr>
          <p:cNvSpPr/>
          <p:nvPr/>
        </p:nvSpPr>
        <p:spPr>
          <a:xfrm>
            <a:off x="966739" y="2985680"/>
            <a:ext cx="3958386" cy="9567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ko-KR" altLang="en-US" sz="975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B9387B-FF49-6AE0-D205-3F63FE202FAA}"/>
              </a:ext>
            </a:extLst>
          </p:cNvPr>
          <p:cNvSpPr/>
          <p:nvPr/>
        </p:nvSpPr>
        <p:spPr>
          <a:xfrm>
            <a:off x="3421695" y="3278212"/>
            <a:ext cx="1140877" cy="5850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 진단 가설을 제공하기 위한 모델</a:t>
            </a:r>
            <a:br>
              <a:rPr lang="en-US" altLang="ko-KR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731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731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</a:t>
            </a:r>
            <a:r>
              <a:rPr lang="en-US" altLang="ko-KR" sz="731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Shapley Additive </a:t>
            </a:r>
            <a:r>
              <a:rPr lang="en-US" altLang="ko-KR" sz="731" dirty="0" err="1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exPlanations</a:t>
            </a:r>
            <a:r>
              <a:rPr lang="en-US" altLang="ko-KR" sz="731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)</a:t>
            </a:r>
            <a:endParaRPr lang="ko-KR" altLang="en-US" sz="731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E5D24-1E4C-7DB8-41A7-1DF3CCD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27" y="651645"/>
            <a:ext cx="2776658" cy="396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</a:pPr>
            <a:r>
              <a:rPr lang="en-US" altLang="ko-KR" sz="1800" b="1" dirty="0">
                <a:solidFill>
                  <a:srgbClr val="000000"/>
                </a:solidFill>
                <a:latin typeface="바탕체" panose="02030609000101010101" pitchFamily="17" charset="-127"/>
                <a:ea typeface="LG스마트체 Regular" panose="020B0600000101010101" pitchFamily="50" charset="-127"/>
                <a:sym typeface="Wingdings" pitchFamily="2" charset="2"/>
              </a:rPr>
              <a:t>Ⅱ</a:t>
            </a:r>
            <a:r>
              <a:rPr lang="en-US" altLang="ko-KR" sz="1800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. ML </a:t>
            </a:r>
            <a:r>
              <a:rPr lang="ko-KR" altLang="en-US" sz="1800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기반 진단 </a:t>
            </a:r>
            <a:r>
              <a:rPr lang="en-US" altLang="ko-KR" sz="1800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– </a:t>
            </a:r>
            <a:r>
              <a:rPr lang="ko-KR" altLang="en-US" sz="1800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기술 제안</a:t>
            </a:r>
            <a:endParaRPr lang="ko-KR" altLang="en-US" sz="1463" dirty="0">
              <a:solidFill>
                <a:srgbClr val="000000"/>
              </a:solidFill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E01CA12-275B-26E8-7BAB-F8E15DC47817}"/>
              </a:ext>
            </a:extLst>
          </p:cNvPr>
          <p:cNvCxnSpPr/>
          <p:nvPr/>
        </p:nvCxnSpPr>
        <p:spPr bwMode="auto">
          <a:xfrm>
            <a:off x="0" y="1088740"/>
            <a:ext cx="9906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F74C7F-6133-0912-0E5F-EC071C2DD153}"/>
              </a:ext>
            </a:extLst>
          </p:cNvPr>
          <p:cNvSpPr/>
          <p:nvPr/>
        </p:nvSpPr>
        <p:spPr>
          <a:xfrm>
            <a:off x="974558" y="1932563"/>
            <a:ext cx="643572" cy="2813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배송</a:t>
            </a:r>
            <a:br>
              <a:rPr lang="en-US" altLang="ko-KR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813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리드타임</a:t>
            </a:r>
            <a:endParaRPr lang="ko-KR" altLang="en-US" sz="813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5A3542-0943-531E-6F04-B50A7CA81C6F}"/>
              </a:ext>
            </a:extLst>
          </p:cNvPr>
          <p:cNvSpPr/>
          <p:nvPr/>
        </p:nvSpPr>
        <p:spPr>
          <a:xfrm>
            <a:off x="1676636" y="1932563"/>
            <a:ext cx="643572" cy="2813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월말매출</a:t>
            </a:r>
            <a:br>
              <a:rPr lang="en-US" altLang="ko-KR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813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집중도</a:t>
            </a:r>
            <a:endParaRPr lang="ko-KR" altLang="en-US" sz="813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1EE4B4-F24F-65C2-9420-154956FBCA78}"/>
              </a:ext>
            </a:extLst>
          </p:cNvPr>
          <p:cNvSpPr/>
          <p:nvPr/>
        </p:nvSpPr>
        <p:spPr>
          <a:xfrm>
            <a:off x="2378714" y="1932563"/>
            <a:ext cx="643572" cy="2813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매출액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6A110E-9F2A-ADDF-5ED2-7A655FA13F95}"/>
              </a:ext>
            </a:extLst>
          </p:cNvPr>
          <p:cNvSpPr/>
          <p:nvPr/>
        </p:nvSpPr>
        <p:spPr>
          <a:xfrm>
            <a:off x="3086126" y="1932563"/>
            <a:ext cx="643572" cy="2813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운송타입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69D1C4-586C-9B4C-8E83-99088CC9E9D4}"/>
              </a:ext>
            </a:extLst>
          </p:cNvPr>
          <p:cNvSpPr/>
          <p:nvPr/>
        </p:nvSpPr>
        <p:spPr>
          <a:xfrm>
            <a:off x="4289373" y="1935163"/>
            <a:ext cx="643572" cy="28137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유통재고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219D0-2163-E757-5CB5-53D2AD05B370}"/>
              </a:ext>
            </a:extLst>
          </p:cNvPr>
          <p:cNvSpPr txBox="1"/>
          <p:nvPr/>
        </p:nvSpPr>
        <p:spPr>
          <a:xfrm>
            <a:off x="3864833" y="190504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…</a:t>
            </a:r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BB50E1-5560-61F6-D6F5-43D8C21DD4F8}"/>
              </a:ext>
            </a:extLst>
          </p:cNvPr>
          <p:cNvSpPr/>
          <p:nvPr/>
        </p:nvSpPr>
        <p:spPr>
          <a:xfrm>
            <a:off x="974558" y="2503868"/>
            <a:ext cx="3958386" cy="234027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975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엔지니어링</a:t>
            </a:r>
          </a:p>
        </p:txBody>
      </p:sp>
      <p:sp>
        <p:nvSpPr>
          <p:cNvPr id="15" name="아래쪽 화살표 3">
            <a:extLst>
              <a:ext uri="{FF2B5EF4-FFF2-40B4-BE49-F238E27FC236}">
                <a16:creationId xmlns:a16="http://schemas.microsoft.com/office/drawing/2014/main" id="{05EA2B3C-B7C7-597F-4A78-CD8C3D85BA47}"/>
              </a:ext>
            </a:extLst>
          </p:cNvPr>
          <p:cNvSpPr/>
          <p:nvPr/>
        </p:nvSpPr>
        <p:spPr>
          <a:xfrm>
            <a:off x="2378714" y="2278768"/>
            <a:ext cx="1228637" cy="159094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아래쪽 화살표 64">
            <a:extLst>
              <a:ext uri="{FF2B5EF4-FFF2-40B4-BE49-F238E27FC236}">
                <a16:creationId xmlns:a16="http://schemas.microsoft.com/office/drawing/2014/main" id="{EF8E1D43-1FB4-5DC3-84FF-4F7E5FBADAF4}"/>
              </a:ext>
            </a:extLst>
          </p:cNvPr>
          <p:cNvSpPr/>
          <p:nvPr/>
        </p:nvSpPr>
        <p:spPr>
          <a:xfrm>
            <a:off x="2378714" y="2788717"/>
            <a:ext cx="1228637" cy="159094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아래쪽 화살표 66">
            <a:extLst>
              <a:ext uri="{FF2B5EF4-FFF2-40B4-BE49-F238E27FC236}">
                <a16:creationId xmlns:a16="http://schemas.microsoft.com/office/drawing/2014/main" id="{8CB5156A-002B-5A5D-F067-C082CB6D99A5}"/>
              </a:ext>
            </a:extLst>
          </p:cNvPr>
          <p:cNvSpPr/>
          <p:nvPr/>
        </p:nvSpPr>
        <p:spPr>
          <a:xfrm>
            <a:off x="2394021" y="4192874"/>
            <a:ext cx="1228637" cy="159094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939EAF-A7D5-D422-DC86-0E8D47606117}"/>
              </a:ext>
            </a:extLst>
          </p:cNvPr>
          <p:cNvSpPr/>
          <p:nvPr/>
        </p:nvSpPr>
        <p:spPr>
          <a:xfrm>
            <a:off x="966739" y="4389835"/>
            <a:ext cx="3958386" cy="2340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75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 검출대상 피드백 및 </a:t>
            </a:r>
            <a:r>
              <a:rPr lang="ko-KR" altLang="en-US" sz="975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라벨링</a:t>
            </a:r>
            <a:r>
              <a:rPr lang="ko-KR" altLang="en-US" sz="975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검수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F44608-9404-CCD1-3A23-CD2682E7E6DD}"/>
              </a:ext>
            </a:extLst>
          </p:cNvPr>
          <p:cNvSpPr/>
          <p:nvPr/>
        </p:nvSpPr>
        <p:spPr>
          <a:xfrm>
            <a:off x="1322827" y="3278212"/>
            <a:ext cx="1249987" cy="5850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높은 정확도로</a:t>
            </a:r>
            <a:br>
              <a:rPr lang="en-US" altLang="ko-KR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813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기존 유형을 검출하기 </a:t>
            </a:r>
            <a:br>
              <a:rPr lang="en-US" altLang="ko-KR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813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위한 모델</a:t>
            </a:r>
            <a:br>
              <a:rPr lang="en-US" altLang="ko-KR" sz="813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731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731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</a:t>
            </a:r>
            <a:r>
              <a:rPr lang="en-US" altLang="ko-KR" sz="731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Tabular Classification)</a:t>
            </a:r>
            <a:r>
              <a:rPr lang="ko-KR" altLang="en-US" sz="813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  </a:t>
            </a:r>
            <a:endParaRPr lang="ko-KR" altLang="en-US" sz="813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41015C-31E0-23D5-4DF6-71F309D3E9F2}"/>
              </a:ext>
            </a:extLst>
          </p:cNvPr>
          <p:cNvSpPr txBox="1"/>
          <p:nvPr/>
        </p:nvSpPr>
        <p:spPr>
          <a:xfrm>
            <a:off x="2599352" y="3005735"/>
            <a:ext cx="723275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모델링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C27F652-B196-F199-159F-4FD55513D7DF}"/>
              </a:ext>
            </a:extLst>
          </p:cNvPr>
          <p:cNvGrpSpPr/>
          <p:nvPr/>
        </p:nvGrpSpPr>
        <p:grpSpPr>
          <a:xfrm>
            <a:off x="801819" y="3492427"/>
            <a:ext cx="253676" cy="1020690"/>
            <a:chOff x="554806" y="2972569"/>
            <a:chExt cx="312217" cy="1256234"/>
          </a:xfrm>
        </p:grpSpPr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38D364D-3B16-B9CA-E569-10A59A8C2A04}"/>
                </a:ext>
              </a:extLst>
            </p:cNvPr>
            <p:cNvCxnSpPr/>
            <p:nvPr/>
          </p:nvCxnSpPr>
          <p:spPr>
            <a:xfrm>
              <a:off x="554807" y="2972569"/>
              <a:ext cx="312216" cy="2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0080263-A8A7-AF95-84E6-2D9520B14585}"/>
                </a:ext>
              </a:extLst>
            </p:cNvPr>
            <p:cNvCxnSpPr/>
            <p:nvPr/>
          </p:nvCxnSpPr>
          <p:spPr>
            <a:xfrm flipH="1">
              <a:off x="554806" y="2977901"/>
              <a:ext cx="5045" cy="12509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C2DD01B-C8D7-1635-B705-AF7CA57DF552}"/>
                </a:ext>
              </a:extLst>
            </p:cNvPr>
            <p:cNvCxnSpPr/>
            <p:nvPr/>
          </p:nvCxnSpPr>
          <p:spPr>
            <a:xfrm flipV="1">
              <a:off x="556147" y="4216622"/>
              <a:ext cx="205334" cy="29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9705B89-6C75-363E-F450-60A31E344B36}"/>
              </a:ext>
            </a:extLst>
          </p:cNvPr>
          <p:cNvSpPr txBox="1"/>
          <p:nvPr/>
        </p:nvSpPr>
        <p:spPr>
          <a:xfrm>
            <a:off x="337264" y="3870943"/>
            <a:ext cx="518092" cy="317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3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 </a:t>
            </a:r>
            <a:br>
              <a:rPr lang="en-US" altLang="ko-KR" sz="73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73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업데이트</a:t>
            </a:r>
            <a:endParaRPr lang="ko-KR" altLang="en-US" sz="73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5599E3-6626-67DF-105C-1DD8E3CD5A56}"/>
              </a:ext>
            </a:extLst>
          </p:cNvPr>
          <p:cNvSpPr/>
          <p:nvPr/>
        </p:nvSpPr>
        <p:spPr>
          <a:xfrm>
            <a:off x="233550" y="1556792"/>
            <a:ext cx="4953476" cy="3180610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079B2F-88E5-ECDA-32BF-D8377F529D18}"/>
              </a:ext>
            </a:extLst>
          </p:cNvPr>
          <p:cNvSpPr txBox="1"/>
          <p:nvPr/>
        </p:nvSpPr>
        <p:spPr>
          <a:xfrm>
            <a:off x="5245533" y="1673805"/>
            <a:ext cx="4446494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다양한 </a:t>
            </a:r>
            <a:r>
              <a:rPr lang="ko-KR" altLang="en-US" sz="975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제공 및 </a:t>
            </a:r>
            <a:r>
              <a:rPr lang="ko-KR" altLang="en-US" sz="975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엔지니어링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Domain knowledge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기반의 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모델에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제공하고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로부터 유용한 패턴들을 자동 생성하여 모델이 다양한 패턴에 대해 학습할 수 있도록 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CE6144-9828-B539-A369-CD6E40740DAD}"/>
              </a:ext>
            </a:extLst>
          </p:cNvPr>
          <p:cNvSpPr txBox="1"/>
          <p:nvPr/>
        </p:nvSpPr>
        <p:spPr>
          <a:xfrm>
            <a:off x="5243125" y="2490851"/>
            <a:ext cx="4446494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높은 정확도로 기존 유형을 검출하기 위한 모델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룰 기반 과다 검출로 인한 </a:t>
            </a:r>
            <a:r>
              <a:rPr lang="ko-KR" altLang="en-US" sz="975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진단팀</a:t>
            </a:r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법인의 고충을 해결하기 위해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라벨링된 데이터를 기반으로 기존 유형에 대한 패턴을 학습 후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이를 검출함</a:t>
            </a:r>
            <a:endParaRPr lang="ko-KR" alt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752E39-AA17-2B07-5875-93BE342B8090}"/>
              </a:ext>
            </a:extLst>
          </p:cNvPr>
          <p:cNvSpPr txBox="1"/>
          <p:nvPr/>
        </p:nvSpPr>
        <p:spPr>
          <a:xfrm>
            <a:off x="5243125" y="3307897"/>
            <a:ext cx="444649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 진단 가설을 제공하기 위한 모델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검출 결과에 대한 주요 인자를 식별하고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이를 기반으로 진단 </a:t>
            </a:r>
            <a:r>
              <a:rPr lang="ko-KR" alt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가설 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어떤 특징으로 인해 리스크로 검출되었는지에 대한 가설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제공하는 모델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향후 사람이 검출 대상에 대해 피드백 작성시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참고할 수 있음</a:t>
            </a:r>
            <a:endParaRPr lang="ko-KR" alt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EA330A-BB77-C312-E66A-3A8EC7B03A4F}"/>
              </a:ext>
            </a:extLst>
          </p:cNvPr>
          <p:cNvSpPr txBox="1"/>
          <p:nvPr/>
        </p:nvSpPr>
        <p:spPr>
          <a:xfrm>
            <a:off x="1208585" y="4783614"/>
            <a:ext cx="3244799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그림 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2] ML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진단에 대한 기술 제안 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</a:t>
            </a:r>
            <a:r>
              <a:rPr lang="en-US" altLang="ko-KR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975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선매출 리스크</a:t>
            </a:r>
            <a:endParaRPr lang="ko-KR" alt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D101178-2052-37B3-855E-C473F280D67E}"/>
              </a:ext>
            </a:extLst>
          </p:cNvPr>
          <p:cNvCxnSpPr/>
          <p:nvPr/>
        </p:nvCxnSpPr>
        <p:spPr>
          <a:xfrm>
            <a:off x="1892660" y="3863277"/>
            <a:ext cx="0" cy="1661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234DEC7-54D4-F00C-5155-441E73AE9915}"/>
              </a:ext>
            </a:extLst>
          </p:cNvPr>
          <p:cNvCxnSpPr/>
          <p:nvPr/>
        </p:nvCxnSpPr>
        <p:spPr>
          <a:xfrm>
            <a:off x="4007895" y="3863277"/>
            <a:ext cx="0" cy="1661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3D8BDF8-C3E2-2E10-6852-E2F5EDC120F4}"/>
              </a:ext>
            </a:extLst>
          </p:cNvPr>
          <p:cNvCxnSpPr>
            <a:cxnSpLocks/>
          </p:cNvCxnSpPr>
          <p:nvPr/>
        </p:nvCxnSpPr>
        <p:spPr>
          <a:xfrm>
            <a:off x="1892660" y="4029385"/>
            <a:ext cx="21251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FCC9C64-92A6-A498-F311-ED2E317FC2B0}"/>
              </a:ext>
            </a:extLst>
          </p:cNvPr>
          <p:cNvCxnSpPr>
            <a:endCxn id="17" idx="0"/>
          </p:cNvCxnSpPr>
          <p:nvPr/>
        </p:nvCxnSpPr>
        <p:spPr>
          <a:xfrm flipH="1">
            <a:off x="3008340" y="4030131"/>
            <a:ext cx="2156" cy="162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154051C6-ABA4-B6E4-2B84-6547D69271B7}"/>
              </a:ext>
            </a:extLst>
          </p:cNvPr>
          <p:cNvSpPr/>
          <p:nvPr/>
        </p:nvSpPr>
        <p:spPr>
          <a:xfrm>
            <a:off x="2949840" y="3962478"/>
            <a:ext cx="117000" cy="117013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264D4A-E17A-9138-6D28-81C0BF1DA9CD}"/>
              </a:ext>
            </a:extLst>
          </p:cNvPr>
          <p:cNvSpPr txBox="1"/>
          <p:nvPr/>
        </p:nvSpPr>
        <p:spPr>
          <a:xfrm>
            <a:off x="2885743" y="3890907"/>
            <a:ext cx="2872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</a:t>
            </a:r>
            <a:endParaRPr lang="ko-KR" altLang="en-US" sz="13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5F808C-2154-D259-7167-F7D5DD95FBE9}"/>
              </a:ext>
            </a:extLst>
          </p:cNvPr>
          <p:cNvSpPr txBox="1"/>
          <p:nvPr/>
        </p:nvSpPr>
        <p:spPr>
          <a:xfrm>
            <a:off x="2313347" y="2505052"/>
            <a:ext cx="29367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AD9B54-812A-2FBF-9162-7491864AEC21}"/>
              </a:ext>
            </a:extLst>
          </p:cNvPr>
          <p:cNvSpPr txBox="1"/>
          <p:nvPr/>
        </p:nvSpPr>
        <p:spPr>
          <a:xfrm>
            <a:off x="1453053" y="3267377"/>
            <a:ext cx="29367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9F091A-8C0C-C21E-F3D7-A6D74D01122C}"/>
              </a:ext>
            </a:extLst>
          </p:cNvPr>
          <p:cNvSpPr txBox="1"/>
          <p:nvPr/>
        </p:nvSpPr>
        <p:spPr>
          <a:xfrm>
            <a:off x="3359288" y="3267377"/>
            <a:ext cx="29367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AB05F4-5B94-05DD-9E93-EE677A093A55}"/>
              </a:ext>
            </a:extLst>
          </p:cNvPr>
          <p:cNvSpPr txBox="1"/>
          <p:nvPr/>
        </p:nvSpPr>
        <p:spPr>
          <a:xfrm>
            <a:off x="2309858" y="1588951"/>
            <a:ext cx="1095173" cy="2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3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다양한 </a:t>
            </a:r>
            <a:r>
              <a:rPr lang="ko-KR" altLang="en-US" sz="73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73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데이터 제공</a:t>
            </a:r>
          </a:p>
        </p:txBody>
      </p:sp>
      <p:sp>
        <p:nvSpPr>
          <p:cNvPr id="44" name="오른쪽 중괄호 43">
            <a:extLst>
              <a:ext uri="{FF2B5EF4-FFF2-40B4-BE49-F238E27FC236}">
                <a16:creationId xmlns:a16="http://schemas.microsoft.com/office/drawing/2014/main" id="{A4799424-BE0A-24DA-67AA-144799123695}"/>
              </a:ext>
            </a:extLst>
          </p:cNvPr>
          <p:cNvSpPr/>
          <p:nvPr/>
        </p:nvSpPr>
        <p:spPr>
          <a:xfrm rot="16200000">
            <a:off x="2891562" y="-69715"/>
            <a:ext cx="118639" cy="3790770"/>
          </a:xfrm>
          <a:prstGeom prst="rightBrac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E588395-4C6B-9106-0AE3-A08B63EEB4BE}"/>
              </a:ext>
            </a:extLst>
          </p:cNvPr>
          <p:cNvSpPr/>
          <p:nvPr/>
        </p:nvSpPr>
        <p:spPr>
          <a:xfrm>
            <a:off x="9361923" y="5881359"/>
            <a:ext cx="4411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  / 5</a:t>
            </a:r>
            <a:endParaRPr lang="ko-KR" altLang="en-US" sz="110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62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1F613-096E-4C5E-711F-228A0A41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BD534-E3B9-A2F1-ED9C-80F1683A1CE1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진단 </a:t>
            </a:r>
            <a:r>
              <a:rPr kumimoji="0" lang="en-US" altLang="ko-KR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DX</a:t>
            </a:r>
            <a:endParaRPr kumimoji="0" lang="ko-KR" altLang="en-US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07D035-50AD-8F73-9D20-1FE89563ACBA}"/>
              </a:ext>
            </a:extLst>
          </p:cNvPr>
          <p:cNvSpPr/>
          <p:nvPr/>
        </p:nvSpPr>
        <p:spPr bwMode="auto">
          <a:xfrm>
            <a:off x="229593" y="1245106"/>
            <a:ext cx="612820" cy="141881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8CC1DA-14DD-62E6-607F-27AF551225CB}"/>
              </a:ext>
            </a:extLst>
          </p:cNvPr>
          <p:cNvSpPr/>
          <p:nvPr/>
        </p:nvSpPr>
        <p:spPr bwMode="auto">
          <a:xfrm>
            <a:off x="223349" y="2810562"/>
            <a:ext cx="612820" cy="113407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b="1" u="sng" dirty="0">
              <a:solidFill>
                <a:srgbClr val="000000"/>
              </a:solidFill>
              <a:latin typeface="Arial" charset="0"/>
              <a:ea typeface="Dotum" pitchFamily="50" charset="-127"/>
            </a:endParaRPr>
          </a:p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3ED62-FFEE-F56D-BBD4-AA44D465AAA5}"/>
              </a:ext>
            </a:extLst>
          </p:cNvPr>
          <p:cNvSpPr txBox="1"/>
          <p:nvPr/>
        </p:nvSpPr>
        <p:spPr>
          <a:xfrm>
            <a:off x="290356" y="1472431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latin typeface="Arial Narrow" panose="020B0606020202030204" pitchFamily="34" charset="0"/>
              </a:rPr>
              <a:t>As-is</a:t>
            </a:r>
            <a:endParaRPr lang="ko-KR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204FB-911B-F83B-D99D-0C6F95724A80}"/>
              </a:ext>
            </a:extLst>
          </p:cNvPr>
          <p:cNvSpPr txBox="1"/>
          <p:nvPr/>
        </p:nvSpPr>
        <p:spPr>
          <a:xfrm>
            <a:off x="290356" y="2886014"/>
            <a:ext cx="516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latin typeface="Arial Narrow" panose="020B0606020202030204" pitchFamily="34" charset="0"/>
              </a:rPr>
              <a:t>To-be</a:t>
            </a:r>
            <a:endParaRPr lang="ko-KR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5DE3B8-62BC-418F-54F8-61AF97F7227C}"/>
              </a:ext>
            </a:extLst>
          </p:cNvPr>
          <p:cNvSpPr/>
          <p:nvPr/>
        </p:nvSpPr>
        <p:spPr>
          <a:xfrm>
            <a:off x="198247" y="1836133"/>
            <a:ext cx="67839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현장진단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위주</a:t>
            </a:r>
            <a:b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정기진단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87F9EC-F45A-9B2C-46E5-ACD8DB25E5AB}"/>
              </a:ext>
            </a:extLst>
          </p:cNvPr>
          <p:cNvSpPr/>
          <p:nvPr/>
        </p:nvSpPr>
        <p:spPr>
          <a:xfrm>
            <a:off x="190563" y="3297880"/>
            <a:ext cx="678391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평상시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리스크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선행관리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D6E410-714F-AB59-B95A-AFD1D354EED2}"/>
              </a:ext>
            </a:extLst>
          </p:cNvPr>
          <p:cNvSpPr txBox="1"/>
          <p:nvPr/>
        </p:nvSpPr>
        <p:spPr>
          <a:xfrm>
            <a:off x="6123130" y="2080032"/>
            <a:ext cx="18133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 커버리지가 제한적임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E6CB47-3EA2-BF2C-5B29-8E6F428921ED}"/>
              </a:ext>
            </a:extLst>
          </p:cNvPr>
          <p:cNvSpPr txBox="1"/>
          <p:nvPr/>
        </p:nvSpPr>
        <p:spPr>
          <a:xfrm>
            <a:off x="5803188" y="1133745"/>
            <a:ext cx="3951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진단 방식 성숙도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진단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오퍼레이션 모니터링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리스크 예측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분석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AB0C2B6-5952-3842-50F6-7697EB323CC3}"/>
              </a:ext>
            </a:extLst>
          </p:cNvPr>
          <p:cNvCxnSpPr/>
          <p:nvPr/>
        </p:nvCxnSpPr>
        <p:spPr bwMode="auto">
          <a:xfrm>
            <a:off x="6685702" y="2014530"/>
            <a:ext cx="2219769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C483F6-F0FD-4FF2-22BB-D7D17FF65FEF}"/>
              </a:ext>
            </a:extLst>
          </p:cNvPr>
          <p:cNvSpPr txBox="1"/>
          <p:nvPr/>
        </p:nvSpPr>
        <p:spPr>
          <a:xfrm>
            <a:off x="6131278" y="2747372"/>
            <a:ext cx="3225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진단인 개인 역량</a:t>
            </a:r>
            <a:r>
              <a:rPr lang="en-US" altLang="ko-KR" dirty="0"/>
              <a:t>/</a:t>
            </a:r>
            <a:r>
              <a:rPr lang="ko-KR" altLang="en-US" dirty="0"/>
              <a:t>경험에 의존하여 리스크 점검이</a:t>
            </a:r>
            <a:br>
              <a:rPr lang="en-US" altLang="ko-KR" dirty="0"/>
            </a:br>
            <a:r>
              <a:rPr lang="ko-KR" altLang="en-US" dirty="0"/>
              <a:t>누락</a:t>
            </a:r>
            <a:r>
              <a:rPr lang="en-US" altLang="ko-KR" dirty="0"/>
              <a:t>/</a:t>
            </a:r>
            <a:r>
              <a:rPr lang="ko-KR" altLang="en-US" dirty="0"/>
              <a:t>부실할 수 있음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965DD39-D47E-FF31-A607-3A5BB4F169A3}"/>
              </a:ext>
            </a:extLst>
          </p:cNvPr>
          <p:cNvSpPr/>
          <p:nvPr/>
        </p:nvSpPr>
        <p:spPr>
          <a:xfrm>
            <a:off x="7795587" y="2107283"/>
            <a:ext cx="1418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법인 진단에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 소요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D08B04-EA1A-FC36-C121-1FA9DDBD8339}"/>
              </a:ext>
            </a:extLst>
          </p:cNvPr>
          <p:cNvSpPr txBox="1"/>
          <p:nvPr/>
        </p:nvSpPr>
        <p:spPr>
          <a:xfrm>
            <a:off x="6123130" y="2341202"/>
            <a:ext cx="2864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 데이터 수집 및 분석에 과다한 시간 투입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058337-F7A3-11D2-053C-31ABAAB9182F}"/>
              </a:ext>
            </a:extLst>
          </p:cNvPr>
          <p:cNvSpPr txBox="1"/>
          <p:nvPr/>
        </p:nvSpPr>
        <p:spPr>
          <a:xfrm>
            <a:off x="6123130" y="3188070"/>
            <a:ext cx="30914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과다검출로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소명 제대로 이뤄지지 못하고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정기 진단과 연계되지 못함 → 발생 원인 파악 및 재발 방지 개선안 도출에 어려움 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83F6A12-C350-59C5-8514-C021E3FCBF9B}"/>
              </a:ext>
            </a:extLst>
          </p:cNvPr>
          <p:cNvSpPr/>
          <p:nvPr/>
        </p:nvSpPr>
        <p:spPr>
          <a:xfrm>
            <a:off x="6313301" y="2507312"/>
            <a:ext cx="27238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분석하지 못허가나 잘못 분석한 데이터 발생 가능성 있음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605F6E-36C1-4F34-4DB8-9427A281C186}"/>
              </a:ext>
            </a:extLst>
          </p:cNvPr>
          <p:cNvSpPr txBox="1"/>
          <p:nvPr/>
        </p:nvSpPr>
        <p:spPr>
          <a:xfrm>
            <a:off x="7345783" y="1745707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 포인트</a:t>
            </a:r>
          </a:p>
        </p:txBody>
      </p:sp>
      <p:sp>
        <p:nvSpPr>
          <p:cNvPr id="59" name="Text Box 64">
            <a:extLst>
              <a:ext uri="{FF2B5EF4-FFF2-40B4-BE49-F238E27FC236}">
                <a16:creationId xmlns:a16="http://schemas.microsoft.com/office/drawing/2014/main" id="{6837DBA8-3978-62F3-ADAB-B9AD1E5C0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선행관리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pic>
        <p:nvPicPr>
          <p:cNvPr id="126" name="그림 125">
            <a:extLst>
              <a:ext uri="{FF2B5EF4-FFF2-40B4-BE49-F238E27FC236}">
                <a16:creationId xmlns:a16="http://schemas.microsoft.com/office/drawing/2014/main" id="{14710B2B-6B6F-AD36-6F17-CAB48B74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37" y="1287500"/>
            <a:ext cx="4074260" cy="1235859"/>
          </a:xfrm>
          <a:prstGeom prst="rect">
            <a:avLst/>
          </a:prstGeom>
        </p:spPr>
      </p:pic>
      <p:pic>
        <p:nvPicPr>
          <p:cNvPr id="195" name="그림 194">
            <a:extLst>
              <a:ext uri="{FF2B5EF4-FFF2-40B4-BE49-F238E27FC236}">
                <a16:creationId xmlns:a16="http://schemas.microsoft.com/office/drawing/2014/main" id="{328D606E-3330-BF11-E108-69EE626F5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725" y="2622728"/>
            <a:ext cx="3957982" cy="1673007"/>
          </a:xfrm>
          <a:prstGeom prst="rect">
            <a:avLst/>
          </a:prstGeom>
        </p:spPr>
      </p:pic>
      <p:sp>
        <p:nvSpPr>
          <p:cNvPr id="196" name="Text Box 64">
            <a:extLst>
              <a:ext uri="{FF2B5EF4-FFF2-40B4-BE49-F238E27FC236}">
                <a16:creationId xmlns:a16="http://schemas.microsoft.com/office/drawing/2014/main" id="{2CFDD3A0-A009-D7C4-41C1-472E70990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4260891"/>
            <a:ext cx="955423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 err="1">
                <a:solidFill>
                  <a:srgbClr val="000000"/>
                </a:solidFill>
              </a:rPr>
              <a:t>선매출</a:t>
            </a:r>
            <a:r>
              <a:rPr lang="ko-KR" altLang="en-US" sz="1400" b="1" dirty="0">
                <a:solidFill>
                  <a:srgbClr val="000000"/>
                </a:solidFill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</a:rPr>
              <a:t>(Early Sales)</a:t>
            </a:r>
            <a:r>
              <a:rPr lang="ko-KR" altLang="en-US" sz="1400" b="1">
                <a:solidFill>
                  <a:srgbClr val="000000"/>
                </a:solidFill>
              </a:rPr>
              <a:t>란 회계 기준에서 정한 매출 인식 가능 시점보다 앞서 매출을 인식하는 것을 의미</a:t>
            </a:r>
            <a:r>
              <a:rPr lang="en-US" altLang="ko-KR" sz="1400" b="1" dirty="0">
                <a:solidFill>
                  <a:srgbClr val="000000"/>
                </a:solidFill>
              </a:rPr>
              <a:t>. </a:t>
            </a:r>
            <a:r>
              <a:rPr lang="ko-KR" altLang="en-US" sz="1400" b="1">
                <a:solidFill>
                  <a:srgbClr val="000000"/>
                </a:solidFill>
              </a:rPr>
              <a:t>선매출이 발생할 경우 재무제표에 영향을 미쳐 경영 상태 왜곡을 초래</a:t>
            </a:r>
            <a:r>
              <a:rPr lang="en-US" altLang="ko-KR" sz="1400" b="1" dirty="0">
                <a:solidFill>
                  <a:srgbClr val="000000"/>
                </a:solidFill>
              </a:rPr>
              <a:t>. </a:t>
            </a:r>
            <a:r>
              <a:rPr lang="ko-KR" altLang="en-US" sz="1400" b="1">
                <a:solidFill>
                  <a:srgbClr val="000000"/>
                </a:solidFill>
              </a:rPr>
              <a:t>월 매출 목표 달성이나 월말 배송 집중에 따른 배송</a:t>
            </a:r>
            <a:r>
              <a:rPr lang="en-US" altLang="ko-KR" sz="1400" b="1" dirty="0">
                <a:solidFill>
                  <a:srgbClr val="000000"/>
                </a:solidFill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</a:rPr>
              <a:t>Capa</a:t>
            </a:r>
            <a:r>
              <a:rPr lang="en-US" altLang="ko-KR" sz="1400" b="1" dirty="0">
                <a:solidFill>
                  <a:srgbClr val="000000"/>
                </a:solidFill>
              </a:rPr>
              <a:t>. </a:t>
            </a:r>
            <a:r>
              <a:rPr lang="ko-KR" altLang="en-US" sz="1400" b="1">
                <a:solidFill>
                  <a:srgbClr val="000000"/>
                </a:solidFill>
              </a:rPr>
              <a:t>부족을 회피하고자 하는 특수 목적으로 의도 되기도 함</a:t>
            </a:r>
            <a:r>
              <a:rPr lang="en-US" altLang="ko-KR" sz="1400" b="1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4F40CC3-A472-8EB5-600B-DF8A57BC8788}"/>
              </a:ext>
            </a:extLst>
          </p:cNvPr>
          <p:cNvSpPr txBox="1"/>
          <p:nvPr/>
        </p:nvSpPr>
        <p:spPr>
          <a:xfrm>
            <a:off x="2448957" y="5359544"/>
            <a:ext cx="18934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통계적 지식 및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경험 기반의</a:t>
            </a:r>
            <a:b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 Engineering</a:t>
            </a:r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BFB3AF47-891D-15CC-7CC0-897CB4AB6D99}"/>
              </a:ext>
            </a:extLst>
          </p:cNvPr>
          <p:cNvCxnSpPr/>
          <p:nvPr/>
        </p:nvCxnSpPr>
        <p:spPr bwMode="auto">
          <a:xfrm>
            <a:off x="2559666" y="5294042"/>
            <a:ext cx="2219769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4BAF49C2-99A3-4BDB-23DA-690CA0E02AF7}"/>
              </a:ext>
            </a:extLst>
          </p:cNvPr>
          <p:cNvSpPr txBox="1"/>
          <p:nvPr/>
        </p:nvSpPr>
        <p:spPr>
          <a:xfrm>
            <a:off x="2448957" y="5811214"/>
            <a:ext cx="25923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지도 학습을 위해 법인 및</a:t>
            </a:r>
            <a:b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현업 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담당자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Feedback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Target Y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 생성</a:t>
            </a:r>
            <a:endParaRPr lang="ko-KR" alt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1872CE3-FDBE-B205-5B65-E4927EC15CF4}"/>
              </a:ext>
            </a:extLst>
          </p:cNvPr>
          <p:cNvSpPr txBox="1"/>
          <p:nvPr/>
        </p:nvSpPr>
        <p:spPr>
          <a:xfrm>
            <a:off x="3219747" y="5025219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진단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방법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829944B-C9F0-FD6C-4856-EA05FA0E6A93}"/>
              </a:ext>
            </a:extLst>
          </p:cNvPr>
          <p:cNvSpPr txBox="1"/>
          <p:nvPr/>
        </p:nvSpPr>
        <p:spPr>
          <a:xfrm>
            <a:off x="179530" y="5359544"/>
            <a:ext cx="18069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비정상적 매출인식</a:t>
            </a:r>
            <a:b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출하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배송완료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리드타임</a:t>
            </a: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A69D7B36-6D1C-AB2A-C206-711FBF9B8F69}"/>
              </a:ext>
            </a:extLst>
          </p:cNvPr>
          <p:cNvCxnSpPr>
            <a:cxnSpLocks/>
          </p:cNvCxnSpPr>
          <p:nvPr/>
        </p:nvCxnSpPr>
        <p:spPr bwMode="auto">
          <a:xfrm>
            <a:off x="256327" y="5294042"/>
            <a:ext cx="1962998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253AA001-BB25-C227-A7E7-A679F12AD641}"/>
              </a:ext>
            </a:extLst>
          </p:cNvPr>
          <p:cNvSpPr txBox="1"/>
          <p:nvPr/>
        </p:nvSpPr>
        <p:spPr>
          <a:xfrm>
            <a:off x="179530" y="5782639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월말 매출 집중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CA65903-D8D8-B5F2-2D9D-666049490573}"/>
              </a:ext>
            </a:extLst>
          </p:cNvPr>
          <p:cNvSpPr txBox="1"/>
          <p:nvPr/>
        </p:nvSpPr>
        <p:spPr>
          <a:xfrm>
            <a:off x="916408" y="5025219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선매출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징후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33DBEAC-AAAB-8DE9-55DC-40D85E4D9D5F}"/>
              </a:ext>
            </a:extLst>
          </p:cNvPr>
          <p:cNvSpPr txBox="1"/>
          <p:nvPr/>
        </p:nvSpPr>
        <p:spPr>
          <a:xfrm>
            <a:off x="179530" y="6039814"/>
            <a:ext cx="17876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월말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Customer pickup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증가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9BAF00F-1593-8708-EFE3-75B60E61C201}"/>
              </a:ext>
            </a:extLst>
          </p:cNvPr>
          <p:cNvSpPr txBox="1"/>
          <p:nvPr/>
        </p:nvSpPr>
        <p:spPr>
          <a:xfrm>
            <a:off x="179530" y="6316039"/>
            <a:ext cx="1047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반품 증가 등</a:t>
            </a:r>
          </a:p>
        </p:txBody>
      </p:sp>
      <p:pic>
        <p:nvPicPr>
          <p:cNvPr id="234" name="그림 233">
            <a:extLst>
              <a:ext uri="{FF2B5EF4-FFF2-40B4-BE49-F238E27FC236}">
                <a16:creationId xmlns:a16="http://schemas.microsoft.com/office/drawing/2014/main" id="{2B6D76F1-467C-3AB0-6576-BB814145B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896" y="4927030"/>
            <a:ext cx="3773047" cy="176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FD53-98C2-3FA9-2935-7F7EE749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18617F-EC0C-C2FA-6D9F-321ABBB4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32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51A08F-EDB1-55D5-3749-9A81DEC953B4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진단 </a:t>
            </a:r>
            <a:r>
              <a:rPr kumimoji="0" lang="en-US" altLang="ko-KR" sz="2000" b="1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DX</a:t>
            </a:r>
            <a:endParaRPr kumimoji="0" lang="ko-KR" altLang="en-US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FF1CA783-925F-8C96-F1BF-A8382A1C7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861566"/>
            <a:ext cx="95542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앙상블 트리 계열의 </a:t>
            </a:r>
            <a:r>
              <a:rPr lang="ko-KR" altLang="en-US" sz="1400" b="1" dirty="0" err="1">
                <a:solidFill>
                  <a:srgbClr val="000000"/>
                </a:solidFill>
              </a:rPr>
              <a:t>머신러닝</a:t>
            </a:r>
            <a:r>
              <a:rPr lang="ko-KR" altLang="en-US" sz="1400" b="1" dirty="0">
                <a:solidFill>
                  <a:srgbClr val="000000"/>
                </a:solidFill>
              </a:rPr>
              <a:t> 모델들 </a:t>
            </a:r>
            <a:r>
              <a:rPr lang="en-US" altLang="ko-KR" sz="1400" b="1" dirty="0">
                <a:solidFill>
                  <a:srgbClr val="000000"/>
                </a:solidFill>
              </a:rPr>
              <a:t>(</a:t>
            </a:r>
            <a:r>
              <a:rPr lang="en-US" altLang="ko-KR" sz="1400" b="1" dirty="0" err="1">
                <a:solidFill>
                  <a:srgbClr val="000000"/>
                </a:solidFill>
              </a:rPr>
              <a:t>LightGBM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en-US" altLang="ko-KR" sz="1400" b="1" dirty="0" err="1">
                <a:solidFill>
                  <a:srgbClr val="000000"/>
                </a:solidFill>
              </a:rPr>
              <a:t>CatBoost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en-US" altLang="ko-KR" sz="1400" b="1" dirty="0" err="1">
                <a:solidFill>
                  <a:srgbClr val="000000"/>
                </a:solidFill>
              </a:rPr>
              <a:t>XGBoost</a:t>
            </a:r>
            <a:r>
              <a:rPr lang="en-US" altLang="ko-KR" sz="1400" b="1" dirty="0">
                <a:solidFill>
                  <a:srgbClr val="000000"/>
                </a:solidFill>
              </a:rPr>
              <a:t>, GBM, Random Forest) </a:t>
            </a:r>
            <a:r>
              <a:rPr lang="ko-KR" altLang="en-US" sz="1400" b="1">
                <a:solidFill>
                  <a:srgbClr val="000000"/>
                </a:solidFill>
              </a:rPr>
              <a:t>기반 </a:t>
            </a:r>
            <a:r>
              <a:rPr lang="en-US" altLang="ko-KR" sz="1400" b="1" dirty="0">
                <a:solidFill>
                  <a:srgbClr val="000000"/>
                </a:solidFill>
              </a:rPr>
              <a:t>Classification </a:t>
            </a:r>
            <a:r>
              <a:rPr lang="ko-KR" altLang="en-US" sz="1400" b="1">
                <a:solidFill>
                  <a:srgbClr val="000000"/>
                </a:solidFill>
              </a:rPr>
              <a:t>모델 개발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A79179A3-A7EF-FA3B-1308-9CB391038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907" y="1442717"/>
            <a:ext cx="3792444" cy="2436668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E6D8E4F-2A78-DC95-4C14-388154C6D717}"/>
              </a:ext>
            </a:extLst>
          </p:cNvPr>
          <p:cNvSpPr txBox="1"/>
          <p:nvPr/>
        </p:nvSpPr>
        <p:spPr>
          <a:xfrm>
            <a:off x="407495" y="2252318"/>
            <a:ext cx="3046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F1-Score 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기준 성능을 비교하여 최적 모델 선택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1359C6DF-E534-CD65-64E3-4EA36F6598E8}"/>
              </a:ext>
            </a:extLst>
          </p:cNvPr>
          <p:cNvCxnSpPr/>
          <p:nvPr/>
        </p:nvCxnSpPr>
        <p:spPr bwMode="auto">
          <a:xfrm>
            <a:off x="970067" y="1584535"/>
            <a:ext cx="2219769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24AA877-6C5B-8B53-35DA-42B7F4B46D79}"/>
              </a:ext>
            </a:extLst>
          </p:cNvPr>
          <p:cNvSpPr txBox="1"/>
          <p:nvPr/>
        </p:nvSpPr>
        <p:spPr>
          <a:xfrm>
            <a:off x="415643" y="1990708"/>
            <a:ext cx="3225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err="1"/>
              <a:t>Crocss</a:t>
            </a:r>
            <a:r>
              <a:rPr lang="en-US" altLang="ko-KR"/>
              <a:t> Validation </a:t>
            </a:r>
            <a:r>
              <a:rPr lang="ko-KR" altLang="en-US"/>
              <a:t>기반 모델 성능 평가</a:t>
            </a:r>
            <a:endParaRPr lang="ko-KR" alt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58C586E-0568-FA20-0B20-E29DEB6B1931}"/>
              </a:ext>
            </a:extLst>
          </p:cNvPr>
          <p:cNvSpPr txBox="1"/>
          <p:nvPr/>
        </p:nvSpPr>
        <p:spPr>
          <a:xfrm>
            <a:off x="407495" y="1656817"/>
            <a:ext cx="3977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Oversampling / </a:t>
            </a:r>
            <a:r>
              <a:rPr lang="en-US" altLang="ko-KR" sz="11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Undersampling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사용하여 클래스 간 </a:t>
            </a:r>
            <a:r>
              <a:rPr lang="ko-KR" altLang="en-US" sz="11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언밸런싱</a:t>
            </a: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완화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1ECBB7D-7042-9DFE-DBA8-0791E2497DD3}"/>
              </a:ext>
            </a:extLst>
          </p:cNvPr>
          <p:cNvSpPr txBox="1"/>
          <p:nvPr/>
        </p:nvSpPr>
        <p:spPr>
          <a:xfrm>
            <a:off x="1630148" y="1315712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r>
              <a:rPr lang="en-US" altLang="ko-KR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방향</a:t>
            </a:r>
            <a:endParaRPr lang="ko-KR" altLang="en-US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6F91092-3E3E-5131-C8E6-2D111BFE3D32}"/>
              </a:ext>
            </a:extLst>
          </p:cNvPr>
          <p:cNvSpPr txBox="1"/>
          <p:nvPr/>
        </p:nvSpPr>
        <p:spPr>
          <a:xfrm>
            <a:off x="260805" y="2528900"/>
            <a:ext cx="4446494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Train </a:t>
            </a:r>
            <a:r>
              <a:rPr lang="en-US" altLang="ko-KR" sz="975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Piepeline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6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asset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9250282-BD97-0749-F993-ECFDD23C15D6}"/>
              </a:ext>
            </a:extLst>
          </p:cNvPr>
          <p:cNvSpPr txBox="1"/>
          <p:nvPr/>
        </p:nvSpPr>
        <p:spPr>
          <a:xfrm>
            <a:off x="258397" y="3103491"/>
            <a:ext cx="4446494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</a:t>
            </a:r>
            <a:r>
              <a:rPr lang="en-US" altLang="ko-KR" sz="975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Inference </a:t>
            </a:r>
            <a:r>
              <a:rPr lang="en-US" altLang="ko-KR" sz="975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Piepeline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975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5</a:t>
            </a:r>
            <a:r>
              <a:rPr lang="ko-KR" altLang="en-US" sz="975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</a:t>
            </a:r>
            <a:r>
              <a:rPr lang="en-US" altLang="ko-KR" sz="975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asset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0FB87ED-4EB8-767B-BEF3-843EB3C88423}"/>
              </a:ext>
            </a:extLst>
          </p:cNvPr>
          <p:cNvSpPr txBox="1"/>
          <p:nvPr/>
        </p:nvSpPr>
        <p:spPr>
          <a:xfrm>
            <a:off x="260805" y="2758844"/>
            <a:ext cx="4446494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Input – Readiness – Preprocess – Sampling – Train - Output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814A54-D5FA-FBCB-EA51-8D3F9A040F51}"/>
              </a:ext>
            </a:extLst>
          </p:cNvPr>
          <p:cNvSpPr txBox="1"/>
          <p:nvPr/>
        </p:nvSpPr>
        <p:spPr>
          <a:xfrm>
            <a:off x="260805" y="3361516"/>
            <a:ext cx="4446494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Input – Readiness – Preprocess – Inference - Output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68E6999-1035-42FA-6FDC-6C63D356B2DE}"/>
              </a:ext>
            </a:extLst>
          </p:cNvPr>
          <p:cNvSpPr txBox="1"/>
          <p:nvPr/>
        </p:nvSpPr>
        <p:spPr>
          <a:xfrm>
            <a:off x="272460" y="3699030"/>
            <a:ext cx="509724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Input asset</a:t>
            </a:r>
          </a:p>
          <a:p>
            <a:r>
              <a:rPr lang="en-US" altLang="ko-KR" sz="975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experimental_plan.yaml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지정한 경로 내 파일을 읽어와 </a:t>
            </a:r>
            <a:r>
              <a:rPr lang="en-US" altLang="ko-KR" sz="975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dataframe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생성 및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config 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저장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Readiness asset​</a:t>
            </a:r>
          </a:p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사용자가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TCR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입력한 데이터가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TCR 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모델링에 적합한지 검사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</a:p>
          <a:p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Preprocess asset​</a:t>
            </a:r>
          </a:p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데이터에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categorical 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컬럼 인코딩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75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결측치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처리 등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TCR 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모델링을 위한 데이터 </a:t>
            </a:r>
            <a:r>
              <a:rPr lang="ko-KR" altLang="en-US" sz="975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전처리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방법 적용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Sampling asset​</a:t>
            </a:r>
          </a:p>
          <a:p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라벨에 불균형이 있는 경우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over sampling 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혹은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under sampling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적용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Train asset​</a:t>
            </a: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TCR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내장 된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모델로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HPO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진행하고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best model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선정하여 모델을 학습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Inference asset​</a:t>
            </a: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Train asset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생성한 모델로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inference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용 데이터를 추론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원인 분석</a:t>
            </a:r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975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Output asset​</a:t>
            </a:r>
          </a:p>
          <a:p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Train 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또는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Inference asset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산출물을 수정하는 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custom asset</a:t>
            </a:r>
            <a:r>
              <a:rPr lang="ko-KR" altLang="en-US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입니다</a:t>
            </a:r>
            <a:r>
              <a:rPr lang="en-US" altLang="ko-KR" sz="975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B0A052-8D9F-75E3-527F-6C62AC29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078" y="4454417"/>
            <a:ext cx="4153480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7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29B2-E96A-F2FF-B487-A9226741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919FE-4AF8-FE70-EEF6-4C79BF74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33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88FAF-D2ED-1834-84C4-40E460CDFAB9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endParaRPr kumimoji="0" lang="ko-KR" altLang="en-US" sz="2000" b="1" dirty="0"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D5A4D4-7F11-CB51-2D80-EE13BFB91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5" y="953725"/>
            <a:ext cx="8871206" cy="1394699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B43EF884-71F9-FEEB-C0F8-A32017252645}"/>
              </a:ext>
            </a:extLst>
          </p:cNvPr>
          <p:cNvGrpSpPr/>
          <p:nvPr/>
        </p:nvGrpSpPr>
        <p:grpSpPr>
          <a:xfrm>
            <a:off x="5925547" y="2745061"/>
            <a:ext cx="2126163" cy="2954278"/>
            <a:chOff x="5925547" y="2748686"/>
            <a:chExt cx="2126163" cy="2954278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94DCCB42-6128-6E9B-4A34-FEAF3D9C4819}"/>
                </a:ext>
              </a:extLst>
            </p:cNvPr>
            <p:cNvSpPr/>
            <p:nvPr/>
          </p:nvSpPr>
          <p:spPr>
            <a:xfrm>
              <a:off x="6033119" y="2748686"/>
              <a:ext cx="955509" cy="31503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질문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96E6FA5C-837D-CA5A-048A-40C788592B44}"/>
                </a:ext>
              </a:extLst>
            </p:cNvPr>
            <p:cNvSpPr/>
            <p:nvPr/>
          </p:nvSpPr>
          <p:spPr>
            <a:xfrm>
              <a:off x="6033119" y="3299192"/>
              <a:ext cx="955509" cy="31503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질문 구체화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7C91101-D769-C422-6DD7-29F17CE2030B}"/>
                </a:ext>
              </a:extLst>
            </p:cNvPr>
            <p:cNvSpPr/>
            <p:nvPr/>
          </p:nvSpPr>
          <p:spPr>
            <a:xfrm>
              <a:off x="6033119" y="3859028"/>
              <a:ext cx="955509" cy="470376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SQL </a:t>
              </a:r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생성 및 실행</a:t>
              </a:r>
            </a:p>
          </p:txBody>
        </p:sp>
        <p:sp>
          <p:nvSpPr>
            <p:cNvPr id="12" name="다이아몬드 11">
              <a:extLst>
                <a:ext uri="{FF2B5EF4-FFF2-40B4-BE49-F238E27FC236}">
                  <a16:creationId xmlns:a16="http://schemas.microsoft.com/office/drawing/2014/main" id="{ABFDD490-9768-4BAE-E52C-E84C8078FE8D}"/>
                </a:ext>
              </a:extLst>
            </p:cNvPr>
            <p:cNvSpPr/>
            <p:nvPr/>
          </p:nvSpPr>
          <p:spPr>
            <a:xfrm>
              <a:off x="5925547" y="4549494"/>
              <a:ext cx="1184447" cy="563077"/>
            </a:xfrm>
            <a:prstGeom prst="diamond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데이터 검증</a:t>
              </a: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38FB8AC-F59B-1594-2678-07E821B33CD1}"/>
                </a:ext>
              </a:extLst>
            </p:cNvPr>
            <p:cNvSpPr/>
            <p:nvPr/>
          </p:nvSpPr>
          <p:spPr>
            <a:xfrm>
              <a:off x="6033119" y="5387929"/>
              <a:ext cx="955509" cy="31503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데이터 분석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57327074-36EE-194D-1F63-2CF3F43A128F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6510874" y="3063721"/>
              <a:ext cx="0" cy="2354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D43459F-3CC2-6958-E403-342E23CA2875}"/>
                </a:ext>
              </a:extLst>
            </p:cNvPr>
            <p:cNvCxnSpPr>
              <a:cxnSpLocks/>
              <a:stCxn id="6" idx="2"/>
              <a:endCxn id="9" idx="0"/>
            </p:cNvCxnSpPr>
            <p:nvPr/>
          </p:nvCxnSpPr>
          <p:spPr>
            <a:xfrm>
              <a:off x="6510874" y="3614227"/>
              <a:ext cx="0" cy="244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A0F3C2BF-E62C-4A1D-F12D-59C331295507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>
            <a:xfrm>
              <a:off x="6510874" y="4329404"/>
              <a:ext cx="6897" cy="2200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28FFEA27-DF17-758A-67D1-DCE694E119C9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 flipH="1">
              <a:off x="6510874" y="5112571"/>
              <a:ext cx="6897" cy="2753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37D46AD6-3370-D0C9-6DD3-FBE7B9A46780}"/>
                </a:ext>
              </a:extLst>
            </p:cNvPr>
            <p:cNvCxnSpPr>
              <a:cxnSpLocks/>
              <a:stCxn id="12" idx="3"/>
              <a:endCxn id="6" idx="3"/>
            </p:cNvCxnSpPr>
            <p:nvPr/>
          </p:nvCxnSpPr>
          <p:spPr>
            <a:xfrm flipH="1" flipV="1">
              <a:off x="6988628" y="3456710"/>
              <a:ext cx="121366" cy="1374323"/>
            </a:xfrm>
            <a:prstGeom prst="bentConnector3">
              <a:avLst>
                <a:gd name="adj1" fmla="val -18835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38CB29-BA96-06EB-6AE9-084B15724DAC}"/>
                </a:ext>
              </a:extLst>
            </p:cNvPr>
            <p:cNvSpPr txBox="1"/>
            <p:nvPr/>
          </p:nvSpPr>
          <p:spPr>
            <a:xfrm>
              <a:off x="7314418" y="4247967"/>
              <a:ext cx="7372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0" indent="0">
                <a:buNone/>
              </a:pPr>
              <a:r>
                <a:rPr lang="en-US" altLang="ko-KR" dirty="0">
                  <a:latin typeface="Arial Narrow" panose="020B0606020202030204" pitchFamily="34" charset="0"/>
                </a:rPr>
                <a:t>Impossible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5033CF-2625-6EAF-EF24-FEE3D2D902B8}"/>
                </a:ext>
              </a:extLst>
            </p:cNvPr>
            <p:cNvSpPr txBox="1"/>
            <p:nvPr/>
          </p:nvSpPr>
          <p:spPr>
            <a:xfrm>
              <a:off x="6614621" y="5067741"/>
              <a:ext cx="9555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0" indent="0">
                <a:buNone/>
              </a:pPr>
              <a:r>
                <a:rPr lang="en-US" altLang="ko-KR" dirty="0">
                  <a:latin typeface="Arial Narrow" panose="020B0606020202030204" pitchFamily="34" charset="0"/>
                </a:rPr>
                <a:t>possible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ECC96C8-E0F1-F077-13B6-1CA21B8E42CD}"/>
              </a:ext>
            </a:extLst>
          </p:cNvPr>
          <p:cNvGrpSpPr/>
          <p:nvPr/>
        </p:nvGrpSpPr>
        <p:grpSpPr>
          <a:xfrm>
            <a:off x="2307826" y="2923063"/>
            <a:ext cx="2000692" cy="2954278"/>
            <a:chOff x="5485618" y="2748686"/>
            <a:chExt cx="2000692" cy="2954278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329C687F-68E0-2E92-07CF-7F8BE57B6AFC}"/>
                </a:ext>
              </a:extLst>
            </p:cNvPr>
            <p:cNvSpPr/>
            <p:nvPr/>
          </p:nvSpPr>
          <p:spPr>
            <a:xfrm>
              <a:off x="6033119" y="2748686"/>
              <a:ext cx="955509" cy="31503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질문</a:t>
              </a: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C862C21-09D2-940F-EE3B-232FC138B2CB}"/>
                </a:ext>
              </a:extLst>
            </p:cNvPr>
            <p:cNvSpPr/>
            <p:nvPr/>
          </p:nvSpPr>
          <p:spPr>
            <a:xfrm>
              <a:off x="6033119" y="3299192"/>
              <a:ext cx="955509" cy="31503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질문 구체화</a:t>
              </a: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5D57C36D-C92E-E888-9A1D-5DB45633A549}"/>
                </a:ext>
              </a:extLst>
            </p:cNvPr>
            <p:cNvSpPr/>
            <p:nvPr/>
          </p:nvSpPr>
          <p:spPr>
            <a:xfrm>
              <a:off x="6033119" y="3859028"/>
              <a:ext cx="955509" cy="470376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SQL </a:t>
              </a:r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생성 및 실행</a:t>
              </a:r>
            </a:p>
          </p:txBody>
        </p:sp>
        <p:sp>
          <p:nvSpPr>
            <p:cNvPr id="47" name="다이아몬드 46">
              <a:extLst>
                <a:ext uri="{FF2B5EF4-FFF2-40B4-BE49-F238E27FC236}">
                  <a16:creationId xmlns:a16="http://schemas.microsoft.com/office/drawing/2014/main" id="{E55E57C3-42BC-9E28-53F2-457EF4279E4D}"/>
                </a:ext>
              </a:extLst>
            </p:cNvPr>
            <p:cNvSpPr/>
            <p:nvPr/>
          </p:nvSpPr>
          <p:spPr>
            <a:xfrm>
              <a:off x="5925547" y="4549494"/>
              <a:ext cx="1184447" cy="563077"/>
            </a:xfrm>
            <a:prstGeom prst="diamond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데이터 검증</a:t>
              </a: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46D9CDE8-3DFA-5034-AC1E-8FCB99B1D0EC}"/>
                </a:ext>
              </a:extLst>
            </p:cNvPr>
            <p:cNvSpPr/>
            <p:nvPr/>
          </p:nvSpPr>
          <p:spPr>
            <a:xfrm>
              <a:off x="6033119" y="5387929"/>
              <a:ext cx="955509" cy="315035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데이터 분석</a:t>
              </a: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FFE74109-A2C5-E242-77FF-5DBA43333C6A}"/>
                </a:ext>
              </a:extLst>
            </p:cNvPr>
            <p:cNvCxnSpPr>
              <a:cxnSpLocks/>
              <a:stCxn id="44" idx="2"/>
              <a:endCxn id="45" idx="0"/>
            </p:cNvCxnSpPr>
            <p:nvPr/>
          </p:nvCxnSpPr>
          <p:spPr>
            <a:xfrm>
              <a:off x="6510874" y="3063721"/>
              <a:ext cx="0" cy="2354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FFC39A6D-5C4C-FC8B-CDCC-6A5367FA54B9}"/>
                </a:ext>
              </a:extLst>
            </p:cNvPr>
            <p:cNvCxnSpPr>
              <a:cxnSpLocks/>
              <a:stCxn id="45" idx="2"/>
              <a:endCxn id="46" idx="0"/>
            </p:cNvCxnSpPr>
            <p:nvPr/>
          </p:nvCxnSpPr>
          <p:spPr>
            <a:xfrm>
              <a:off x="6510874" y="3614227"/>
              <a:ext cx="0" cy="244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7ACFB151-8780-04EA-436B-CD211C056020}"/>
                </a:ext>
              </a:extLst>
            </p:cNvPr>
            <p:cNvCxnSpPr>
              <a:cxnSpLocks/>
              <a:stCxn id="46" idx="2"/>
              <a:endCxn id="47" idx="0"/>
            </p:cNvCxnSpPr>
            <p:nvPr/>
          </p:nvCxnSpPr>
          <p:spPr>
            <a:xfrm>
              <a:off x="6510874" y="4329404"/>
              <a:ext cx="6897" cy="2200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B95C5A85-B827-D455-B482-1BDA62008F79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 flipH="1">
              <a:off x="6510874" y="5112571"/>
              <a:ext cx="6897" cy="2753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8DF18DD3-77BE-E88A-C15E-53DE77F940E0}"/>
                </a:ext>
              </a:extLst>
            </p:cNvPr>
            <p:cNvCxnSpPr>
              <a:cxnSpLocks/>
              <a:stCxn id="47" idx="1"/>
              <a:endCxn id="45" idx="1"/>
            </p:cNvCxnSpPr>
            <p:nvPr/>
          </p:nvCxnSpPr>
          <p:spPr>
            <a:xfrm rot="10800000" flipH="1">
              <a:off x="5925547" y="3456711"/>
              <a:ext cx="107572" cy="1374323"/>
            </a:xfrm>
            <a:prstGeom prst="bentConnector3">
              <a:avLst>
                <a:gd name="adj1" fmla="val -21250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7B310CF-A964-3B7C-0855-4BFF5DD02D4C}"/>
                </a:ext>
              </a:extLst>
            </p:cNvPr>
            <p:cNvSpPr txBox="1"/>
            <p:nvPr/>
          </p:nvSpPr>
          <p:spPr>
            <a:xfrm>
              <a:off x="5485618" y="4880427"/>
              <a:ext cx="7372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0" indent="0">
                <a:buNone/>
              </a:pPr>
              <a:r>
                <a:rPr lang="en-US" altLang="ko-KR" dirty="0">
                  <a:latin typeface="Arial Narrow" panose="020B0606020202030204" pitchFamily="34" charset="0"/>
                </a:rPr>
                <a:t>Impossible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624B0BC-8A50-9E65-A120-EF19247DC89F}"/>
                </a:ext>
              </a:extLst>
            </p:cNvPr>
            <p:cNvSpPr txBox="1"/>
            <p:nvPr/>
          </p:nvSpPr>
          <p:spPr>
            <a:xfrm>
              <a:off x="6530801" y="5060121"/>
              <a:ext cx="9555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0" indent="0">
                <a:buNone/>
              </a:pPr>
              <a:r>
                <a:rPr lang="en-US" altLang="ko-KR" dirty="0">
                  <a:latin typeface="Arial Narrow" panose="020B0606020202030204" pitchFamily="34" charset="0"/>
                </a:rPr>
                <a:t>possible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40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E4A9E-61F2-82C5-BEC7-CC02FAE6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9C4B5D-83B4-544D-D33C-DB1FFD208787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AI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Agent </a:t>
            </a:r>
            <a:r>
              <a:rPr kumimoji="0" lang="ko-KR" altLang="en-US" sz="2000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83ADE111-318E-08E0-3631-9F90DDE4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글로벌 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21</a:t>
            </a: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개국 고객 피드백 데이터를 분석하여 고객 경험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(CX) </a:t>
            </a: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개선 인사이트를 빠르고 편리하게 도출할 수 있도록 돕는 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AI </a:t>
            </a: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기반 고객경험 분석 </a:t>
            </a:r>
            <a:r>
              <a:rPr lang="ko-KR" altLang="en-US" sz="1400" b="0" i="0" dirty="0" err="1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챗봇</a:t>
            </a:r>
            <a:r>
              <a:rPr lang="ko-KR" altLang="en-US" sz="14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 서비스 구축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EA97F6-42C4-157E-55E7-D83BD46CD8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6" r="3649"/>
          <a:stretch/>
        </p:blipFill>
        <p:spPr>
          <a:xfrm>
            <a:off x="4484017" y="1147664"/>
            <a:ext cx="5238481" cy="3134051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DA639E5-5AD0-B8AF-3519-7D8CF93A2BD5}"/>
              </a:ext>
            </a:extLst>
          </p:cNvPr>
          <p:cNvGrpSpPr/>
          <p:nvPr/>
        </p:nvGrpSpPr>
        <p:grpSpPr>
          <a:xfrm>
            <a:off x="233178" y="2617290"/>
            <a:ext cx="4222631" cy="1636500"/>
            <a:chOff x="205187" y="1581592"/>
            <a:chExt cx="4222631" cy="16365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EAAF97-79E8-0573-0F79-73912C7137B7}"/>
                </a:ext>
              </a:extLst>
            </p:cNvPr>
            <p:cNvSpPr txBox="1"/>
            <p:nvPr/>
          </p:nvSpPr>
          <p:spPr>
            <a:xfrm>
              <a:off x="205187" y="1915917"/>
              <a:ext cx="305885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자연어 질의를 통해 편리하게 데이터를 분석하고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구체적인 개선 방안을 효율적으로 도출</a:t>
              </a: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7E47384-7B61-FF20-6A47-8E43AEAB2E03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6DF097-7FA0-ABAD-FC70-75A71D50BE39}"/>
                </a:ext>
              </a:extLst>
            </p:cNvPr>
            <p:cNvSpPr txBox="1"/>
            <p:nvPr/>
          </p:nvSpPr>
          <p:spPr>
            <a:xfrm>
              <a:off x="213335" y="2704555"/>
              <a:ext cx="399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온라인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VOC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데이터를 연계 분석하여 정성적 피드백까지 함께 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F14FB7-A07F-D7F7-0C91-3284F4B29E4B}"/>
                </a:ext>
              </a:extLst>
            </p:cNvPr>
            <p:cNvSpPr txBox="1"/>
            <p:nvPr/>
          </p:nvSpPr>
          <p:spPr>
            <a:xfrm>
              <a:off x="205187" y="2307892"/>
              <a:ext cx="42226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R-NPS (Relationship Net Promoter Score)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조사 결과를 기반으로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국가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제품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여정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터치포인트 별 현황 점검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13E56E-40F8-2CF8-5E7F-0C9A7A9C8E51}"/>
                </a:ext>
              </a:extLst>
            </p:cNvPr>
            <p:cNvSpPr txBox="1"/>
            <p:nvPr/>
          </p:nvSpPr>
          <p:spPr>
            <a:xfrm>
              <a:off x="1427840" y="1581592"/>
              <a:ext cx="8996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서비스 내용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D0E9F3-0512-C733-593D-8791408203E6}"/>
                </a:ext>
              </a:extLst>
            </p:cNvPr>
            <p:cNvSpPr txBox="1"/>
            <p:nvPr/>
          </p:nvSpPr>
          <p:spPr>
            <a:xfrm>
              <a:off x="213335" y="2956482"/>
              <a:ext cx="322533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sz="1100" b="0" i="0" dirty="0" err="1">
                  <a:solidFill>
                    <a:srgbClr val="172B4D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법인별</a:t>
              </a:r>
              <a:r>
                <a:rPr lang="ko-KR" altLang="en-US" sz="1100" b="0" i="0" dirty="0">
                  <a:solidFill>
                    <a:srgbClr val="172B4D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 </a:t>
              </a:r>
              <a:r>
                <a:rPr lang="en-US" altLang="ko-KR" sz="1100" b="0" i="0" dirty="0">
                  <a:solidFill>
                    <a:srgbClr val="172B4D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CX </a:t>
              </a:r>
              <a:r>
                <a:rPr lang="ko-KR" altLang="en-US" sz="1100" b="0" i="0" dirty="0">
                  <a:solidFill>
                    <a:srgbClr val="172B4D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개선 과제 리스트 조회를 지원</a:t>
              </a:r>
              <a:endParaRPr lang="ko-KR" altLang="en-US" dirty="0"/>
            </a:p>
          </p:txBody>
        </p:sp>
      </p:grp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037E5A1-D95F-D896-1314-CEA4079F0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129078"/>
              </p:ext>
            </p:extLst>
          </p:nvPr>
        </p:nvGraphicFramePr>
        <p:xfrm>
          <a:off x="385020" y="4465840"/>
          <a:ext cx="4113314" cy="214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038">
                  <a:extLst>
                    <a:ext uri="{9D8B030D-6E8A-4147-A177-3AD203B41FA5}">
                      <a16:colId xmlns:a16="http://schemas.microsoft.com/office/drawing/2014/main" val="2392993607"/>
                    </a:ext>
                  </a:extLst>
                </a:gridCol>
                <a:gridCol w="2348276">
                  <a:extLst>
                    <a:ext uri="{9D8B030D-6E8A-4147-A177-3AD203B41FA5}">
                      <a16:colId xmlns:a16="http://schemas.microsoft.com/office/drawing/2014/main" val="1226969111"/>
                    </a:ext>
                  </a:extLst>
                </a:gridCol>
              </a:tblGrid>
              <a:tr h="2941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주요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814913"/>
                  </a:ext>
                </a:extLst>
              </a:tr>
              <a:tr h="2941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R-NPS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점수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국가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연도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여정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터치포인트 별 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NPS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568680"/>
                  </a:ext>
                </a:extLst>
              </a:tr>
              <a:tr h="2941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R-NPS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속성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국가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연도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여정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터치포인트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속성 별</a:t>
                      </a:r>
                      <a:endParaRPr lang="en-US" altLang="ko-KR" sz="800" dirty="0">
                        <a:solidFill>
                          <a:sysClr val="windowText" lastClr="0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추천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비추천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응답 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473194"/>
                  </a:ext>
                </a:extLst>
              </a:tr>
              <a:tr h="2941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R-NPS VOC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설문 고객의 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VOC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주과식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추천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비추천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의견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545091"/>
                  </a:ext>
                </a:extLst>
              </a:tr>
              <a:tr h="2941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온라인 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VOC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온라인 고객의 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VOC (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주관식 추천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비추천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의견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841166"/>
                  </a:ext>
                </a:extLst>
              </a:tr>
              <a:tr h="2941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온라인 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VOC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만족도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온라인 고객 만족도 지수</a:t>
                      </a:r>
                      <a:endParaRPr lang="en-US" altLang="ko-KR" sz="800" dirty="0">
                        <a:solidFill>
                          <a:sysClr val="windowText" lastClr="0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긍정 코멘트 비율 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부정 코멘트 비율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724921"/>
                  </a:ext>
                </a:extLst>
              </a:tr>
              <a:tr h="2941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CX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개선과제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각 법인의 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CX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 과제 리스트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532449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EF268EC9-4E75-E1F6-F1F9-76E38C3586E5}"/>
              </a:ext>
            </a:extLst>
          </p:cNvPr>
          <p:cNvGrpSpPr/>
          <p:nvPr/>
        </p:nvGrpSpPr>
        <p:grpSpPr>
          <a:xfrm>
            <a:off x="233178" y="1394980"/>
            <a:ext cx="3233483" cy="1273932"/>
            <a:chOff x="205187" y="1581592"/>
            <a:chExt cx="3233483" cy="12739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3C88DD-F530-7E17-1592-C2A9FDBB28D4}"/>
                </a:ext>
              </a:extLst>
            </p:cNvPr>
            <p:cNvSpPr txBox="1"/>
            <p:nvPr/>
          </p:nvSpPr>
          <p:spPr>
            <a:xfrm>
              <a:off x="205187" y="1915917"/>
              <a:ext cx="31774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R-NPS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기반 상세 원인 분석과 개선과제 도출 원함</a:t>
              </a:r>
              <a:endPara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17604E4-A0F8-5BA0-838A-E9800842FFC9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1C2A3D-3E21-7032-E56D-357DA33EFD91}"/>
                </a:ext>
              </a:extLst>
            </p:cNvPr>
            <p:cNvSpPr txBox="1"/>
            <p:nvPr/>
          </p:nvSpPr>
          <p:spPr>
            <a:xfrm>
              <a:off x="213335" y="2424637"/>
              <a:ext cx="322533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Arial Narrow" panose="020B0606020202030204" pitchFamily="34" charset="0"/>
                  <a:ea typeface="LG스마트체 Regular" panose="020B0600000101010101" pitchFamily="50" charset="-127"/>
                </a:defRPr>
              </a:lvl1pPr>
            </a:lstStyle>
            <a:p>
              <a:r>
                <a:rPr lang="ko-KR" altLang="en-US" dirty="0"/>
                <a:t>연계분석이 필요한 내부 </a:t>
              </a:r>
              <a:r>
                <a:rPr lang="en-US" altLang="ko-KR" dirty="0"/>
                <a:t>Data</a:t>
              </a:r>
              <a:r>
                <a:rPr lang="ko-KR" altLang="en-US" dirty="0"/>
                <a:t>들도 일일이 찾아 확인해야 하는 어려움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FD6372-AA07-5199-8AA3-AAA87B1C1928}"/>
                </a:ext>
              </a:extLst>
            </p:cNvPr>
            <p:cNvSpPr txBox="1"/>
            <p:nvPr/>
          </p:nvSpPr>
          <p:spPr>
            <a:xfrm>
              <a:off x="205187" y="2177264"/>
              <a:ext cx="31085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법인 담당자의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Data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활용 및 분석 역량에 편차가 큼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9CDE8C-020D-D3F9-FDCD-313BF8FBDE58}"/>
                </a:ext>
              </a:extLst>
            </p:cNvPr>
            <p:cNvSpPr txBox="1"/>
            <p:nvPr/>
          </p:nvSpPr>
          <p:spPr>
            <a:xfrm>
              <a:off x="1427840" y="1581592"/>
              <a:ext cx="18181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현업 </a:t>
              </a:r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Needs </a:t>
              </a:r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및 </a:t>
              </a:r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Pain Point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D36A944-37D7-735A-FB9F-98057DD8A684}"/>
              </a:ext>
            </a:extLst>
          </p:cNvPr>
          <p:cNvGrpSpPr/>
          <p:nvPr/>
        </p:nvGrpSpPr>
        <p:grpSpPr>
          <a:xfrm>
            <a:off x="5178025" y="4520965"/>
            <a:ext cx="3998343" cy="1953741"/>
            <a:chOff x="205187" y="1581592"/>
            <a:chExt cx="3998343" cy="19537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869D81-B47A-86A1-56BC-531F6A2FC1F7}"/>
                </a:ext>
              </a:extLst>
            </p:cNvPr>
            <p:cNvSpPr txBox="1"/>
            <p:nvPr/>
          </p:nvSpPr>
          <p:spPr>
            <a:xfrm>
              <a:off x="205187" y="1915917"/>
              <a:ext cx="29145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Supervisor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기반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Multi Agent </a:t>
              </a:r>
              <a:r>
                <a:rPr lang="ko-KR" altLang="en-US" sz="11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아키텍쳐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구축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8BB06D9-88EF-840F-9EC1-8F2A891BCCF5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1E3F87-363C-FCBB-D840-FE5BC0044786}"/>
                </a:ext>
              </a:extLst>
            </p:cNvPr>
            <p:cNvSpPr txBox="1"/>
            <p:nvPr/>
          </p:nvSpPr>
          <p:spPr>
            <a:xfrm>
              <a:off x="213335" y="2695224"/>
              <a:ext cx="399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LangGraph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dirty="0">
                  <a:latin typeface="Arial Narrow" panose="020B0606020202030204" pitchFamily="34" charset="0"/>
                </a:rPr>
                <a:t>진행 사항을 확인하기 위해 </a:t>
              </a:r>
              <a:r>
                <a:rPr lang="en-US" altLang="ko-KR" dirty="0">
                  <a:latin typeface="Arial Narrow" panose="020B0606020202030204" pitchFamily="34" charset="0"/>
                </a:rPr>
                <a:t>Streaming </a:t>
              </a:r>
              <a:r>
                <a:rPr lang="ko-KR" altLang="en-US" dirty="0">
                  <a:latin typeface="Arial Narrow" panose="020B0606020202030204" pitchFamily="34" charset="0"/>
                </a:rPr>
                <a:t>기능 구축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72943F-929A-79A2-5D8C-19CF07A47347}"/>
                </a:ext>
              </a:extLst>
            </p:cNvPr>
            <p:cNvSpPr txBox="1"/>
            <p:nvPr/>
          </p:nvSpPr>
          <p:spPr>
            <a:xfrm>
              <a:off x="205187" y="2419859"/>
              <a:ext cx="398698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RAG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정확도 향상을 위해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Long Context Reordering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기법 사용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79BA09-AA9E-10EF-586F-EA1BB51DCC38}"/>
                </a:ext>
              </a:extLst>
            </p:cNvPr>
            <p:cNvSpPr txBox="1"/>
            <p:nvPr/>
          </p:nvSpPr>
          <p:spPr>
            <a:xfrm>
              <a:off x="882465" y="1581592"/>
              <a:ext cx="21050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Agent </a:t>
              </a:r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구축에 사용된 주요 기능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96AF6C-6B7B-A88F-BEA7-1F72A763F40F}"/>
                </a:ext>
              </a:extLst>
            </p:cNvPr>
            <p:cNvSpPr txBox="1"/>
            <p:nvPr/>
          </p:nvSpPr>
          <p:spPr>
            <a:xfrm>
              <a:off x="213335" y="3273723"/>
              <a:ext cx="38172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r>
                <a:rPr lang="en-US" altLang="ko-KR" dirty="0" err="1"/>
                <a:t>Postgre</a:t>
              </a:r>
              <a:r>
                <a:rPr lang="en-US" altLang="ko-KR" dirty="0"/>
                <a:t> DB</a:t>
              </a:r>
              <a:r>
                <a:rPr lang="ko-KR" altLang="en-US" dirty="0"/>
                <a:t>에 </a:t>
              </a:r>
              <a:r>
                <a:rPr lang="en-US" altLang="ko-KR" dirty="0"/>
                <a:t>Chat history </a:t>
              </a:r>
              <a:r>
                <a:rPr lang="ko-KR" altLang="en-US" dirty="0"/>
                <a:t>저장하여 </a:t>
              </a:r>
              <a:r>
                <a:rPr lang="en-US" altLang="ko-KR" dirty="0"/>
                <a:t>Multi-turn </a:t>
              </a:r>
              <a:r>
                <a:rPr lang="ko-KR" altLang="en-US" dirty="0"/>
                <a:t>기능 구축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EF7943-C332-7C82-3103-820440E94A4C}"/>
                </a:ext>
              </a:extLst>
            </p:cNvPr>
            <p:cNvSpPr txBox="1"/>
            <p:nvPr/>
          </p:nvSpPr>
          <p:spPr>
            <a:xfrm>
              <a:off x="213335" y="2975143"/>
              <a:ext cx="399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LangSmith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연동을 통해 사용자 피드백 수집 및 연계 질문 생성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99D1B3-ED64-4EB8-F67D-9FD02B2D28ED}"/>
                </a:ext>
              </a:extLst>
            </p:cNvPr>
            <p:cNvSpPr txBox="1"/>
            <p:nvPr/>
          </p:nvSpPr>
          <p:spPr>
            <a:xfrm>
              <a:off x="205187" y="2167475"/>
              <a:ext cx="26677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Domain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특화된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NL2SQL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프로세스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052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EE7D-4C59-B87D-0548-F79BF28B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535F8-704D-6725-F59D-59392B272056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AI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Agent </a:t>
            </a:r>
            <a:r>
              <a:rPr kumimoji="0" lang="ko-KR" altLang="en-US" sz="2000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E74C430C-4443-71AB-F321-C20DD5907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다양한 데이터 분석 시 단일 </a:t>
            </a:r>
            <a:r>
              <a:rPr lang="en-US" altLang="ko-KR" sz="1400" b="1" dirty="0">
                <a:solidFill>
                  <a:srgbClr val="000000"/>
                </a:solidFill>
              </a:rPr>
              <a:t>Agent </a:t>
            </a:r>
            <a:r>
              <a:rPr lang="ko-KR" altLang="en-US" sz="1400" b="1" dirty="0">
                <a:solidFill>
                  <a:srgbClr val="000000"/>
                </a:solidFill>
              </a:rPr>
              <a:t>기반 모델의 문제점</a:t>
            </a:r>
            <a:r>
              <a:rPr lang="en-US" altLang="ko-KR" sz="1400" b="1" dirty="0">
                <a:solidFill>
                  <a:srgbClr val="000000"/>
                </a:solidFill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</a:rPr>
              <a:t>테이블 및 컬럼 선택 정확도 낮음</a:t>
            </a:r>
            <a:r>
              <a:rPr lang="en-US" altLang="ko-KR" sz="1400" b="1" dirty="0">
                <a:solidFill>
                  <a:srgbClr val="000000"/>
                </a:solidFill>
              </a:rPr>
              <a:t>)</a:t>
            </a:r>
            <a:r>
              <a:rPr lang="ko-KR" altLang="en-US" sz="1400" b="1" dirty="0">
                <a:solidFill>
                  <a:srgbClr val="000000"/>
                </a:solidFill>
              </a:rPr>
              <a:t>을 개선하기 위해  </a:t>
            </a:r>
            <a:r>
              <a:rPr lang="en-US" altLang="ko-KR" sz="1400" b="1" dirty="0">
                <a:solidFill>
                  <a:srgbClr val="000000"/>
                </a:solidFill>
              </a:rPr>
              <a:t>Multi Agent Supervisor </a:t>
            </a:r>
            <a:r>
              <a:rPr lang="ko-KR" altLang="en-US" sz="1400" b="1" dirty="0">
                <a:solidFill>
                  <a:srgbClr val="000000"/>
                </a:solidFill>
              </a:rPr>
              <a:t>구조 </a:t>
            </a:r>
            <a:r>
              <a:rPr lang="en-US" altLang="ko-KR" sz="1400" b="1" dirty="0">
                <a:solidFill>
                  <a:srgbClr val="000000"/>
                </a:solidFill>
              </a:rPr>
              <a:t>(Supervisor </a:t>
            </a:r>
            <a:r>
              <a:rPr lang="ko-KR" altLang="en-US" sz="1400" b="1" dirty="0">
                <a:solidFill>
                  <a:srgbClr val="000000"/>
                </a:solidFill>
              </a:rPr>
              <a:t>및 특정 테이블에 특화된 </a:t>
            </a:r>
            <a:r>
              <a:rPr lang="en-US" altLang="ko-KR" sz="1400" b="1" dirty="0">
                <a:solidFill>
                  <a:srgbClr val="000000"/>
                </a:solidFill>
              </a:rPr>
              <a:t>Sub-Agent)</a:t>
            </a:r>
            <a:r>
              <a:rPr lang="ko-KR" altLang="en-US" sz="1400" b="1" dirty="0">
                <a:solidFill>
                  <a:srgbClr val="000000"/>
                </a:solidFill>
              </a:rPr>
              <a:t>를 도입</a:t>
            </a:r>
            <a:r>
              <a:rPr lang="en-US" altLang="ko-KR" sz="1400" b="1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ADAD6A-7A62-7A6C-0BC4-3F302433F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689" y="1010960"/>
            <a:ext cx="4974329" cy="2558358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7804B2A4-C01F-4040-2CCB-8118487FE3CF}"/>
              </a:ext>
            </a:extLst>
          </p:cNvPr>
          <p:cNvGrpSpPr/>
          <p:nvPr/>
        </p:nvGrpSpPr>
        <p:grpSpPr>
          <a:xfrm>
            <a:off x="317485" y="1302229"/>
            <a:ext cx="4762842" cy="1917127"/>
            <a:chOff x="205187" y="1581592"/>
            <a:chExt cx="4762842" cy="191712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EB6A59-6EEC-1AF0-5AD1-1D68D4ABC19A}"/>
                </a:ext>
              </a:extLst>
            </p:cNvPr>
            <p:cNvSpPr txBox="1"/>
            <p:nvPr/>
          </p:nvSpPr>
          <p:spPr>
            <a:xfrm>
              <a:off x="205187" y="2003662"/>
              <a:ext cx="476284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Multi Agent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네트워크를 구성하여 질문에 대한 적절한 답변을 생성하기 위해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여러 개의 전문화된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Agent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들로 나누어 처리하는 분할 접근 방식 아키텍처 구축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1C335EE-B3CE-6430-6D4B-CA9DC92B1F60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DBF38D-F309-E337-1B9B-07AE098DBD2F}"/>
                </a:ext>
              </a:extLst>
            </p:cNvPr>
            <p:cNvSpPr txBox="1"/>
            <p:nvPr/>
          </p:nvSpPr>
          <p:spPr>
            <a:xfrm>
              <a:off x="213335" y="2474527"/>
              <a:ext cx="399019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Supervisor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는 </a:t>
              </a:r>
              <a:r>
                <a:rPr lang="ko-KR" altLang="en-US" dirty="0">
                  <a:latin typeface="Arial Narrow" panose="020B0606020202030204" pitchFamily="34" charset="0"/>
                </a:rPr>
                <a:t>각 </a:t>
              </a:r>
              <a:r>
                <a:rPr lang="en-US" altLang="ko-KR" dirty="0">
                  <a:latin typeface="Arial Narrow" panose="020B0606020202030204" pitchFamily="34" charset="0"/>
                </a:rPr>
                <a:t>Sub Agent</a:t>
              </a:r>
              <a:r>
                <a:rPr lang="ko-KR" altLang="en-US" dirty="0">
                  <a:latin typeface="Arial Narrow" panose="020B0606020202030204" pitchFamily="34" charset="0"/>
                </a:rPr>
                <a:t>와 </a:t>
              </a:r>
              <a:r>
                <a:rPr lang="en-US" altLang="ko-KR" dirty="0">
                  <a:latin typeface="Arial Narrow" panose="020B0606020202030204" pitchFamily="34" charset="0"/>
                </a:rPr>
                <a:t>Tool</a:t>
              </a:r>
              <a:r>
                <a:rPr lang="ko-KR" altLang="en-US" dirty="0">
                  <a:latin typeface="Arial Narrow" panose="020B0606020202030204" pitchFamily="34" charset="0"/>
                </a:rPr>
                <a:t>의 역할과 특성을 이해하여</a:t>
              </a:r>
              <a:r>
                <a:rPr lang="en-US" altLang="ko-KR" dirty="0">
                  <a:latin typeface="Arial Narrow" panose="020B0606020202030204" pitchFamily="34" charset="0"/>
                </a:rPr>
                <a:t>, </a:t>
              </a:r>
              <a:r>
                <a:rPr lang="ko-KR" altLang="en-US" dirty="0">
                  <a:latin typeface="Arial Narrow" panose="020B0606020202030204" pitchFamily="34" charset="0"/>
                </a:rPr>
                <a:t>질문에 따라 적절한 실행 계획을 수립</a:t>
              </a:r>
              <a:r>
                <a:rPr lang="en-US" altLang="ko-KR" dirty="0">
                  <a:latin typeface="Arial Narrow" panose="020B0606020202030204" pitchFamily="34" charset="0"/>
                </a:rPr>
                <a:t>(Plan)</a:t>
              </a:r>
              <a:r>
                <a:rPr lang="ko-KR" altLang="en-US" dirty="0">
                  <a:latin typeface="Arial Narrow" panose="020B0606020202030204" pitchFamily="34" charset="0"/>
                </a:rPr>
                <a:t>하고</a:t>
              </a:r>
              <a:r>
                <a:rPr lang="en-US" altLang="ko-KR" dirty="0">
                  <a:latin typeface="Arial Narrow" panose="020B0606020202030204" pitchFamily="34" charset="0"/>
                </a:rPr>
                <a:t>, </a:t>
              </a:r>
              <a:r>
                <a:rPr lang="ko-KR" altLang="en-US" dirty="0">
                  <a:latin typeface="Arial Narrow" panose="020B0606020202030204" pitchFamily="34" charset="0"/>
                </a:rPr>
                <a:t>이를 순차적으로 수행</a:t>
              </a:r>
              <a:r>
                <a:rPr lang="en-US" altLang="ko-KR" dirty="0">
                  <a:latin typeface="Arial Narrow" panose="020B0606020202030204" pitchFamily="34" charset="0"/>
                </a:rPr>
                <a:t>(Execute) 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95FE9B-1A20-60E7-195B-BA2C75B9385A}"/>
                </a:ext>
              </a:extLst>
            </p:cNvPr>
            <p:cNvSpPr txBox="1"/>
            <p:nvPr/>
          </p:nvSpPr>
          <p:spPr>
            <a:xfrm>
              <a:off x="205187" y="2307892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8A9216-2081-A284-96AD-B2ADF6BA010A}"/>
                </a:ext>
              </a:extLst>
            </p:cNvPr>
            <p:cNvSpPr txBox="1"/>
            <p:nvPr/>
          </p:nvSpPr>
          <p:spPr>
            <a:xfrm>
              <a:off x="1105287" y="1581592"/>
              <a:ext cx="18357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Multi Agent (Supervisor)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717062-1653-4CA4-4647-5F814539225A}"/>
                </a:ext>
              </a:extLst>
            </p:cNvPr>
            <p:cNvSpPr txBox="1"/>
            <p:nvPr/>
          </p:nvSpPr>
          <p:spPr>
            <a:xfrm>
              <a:off x="213335" y="3067832"/>
              <a:ext cx="399019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새로운 테이블이 추가될 경우에도 기존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Sub Agent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를 </a:t>
              </a:r>
              <a:r>
                <a:rPr lang="ko-KR" altLang="en-US" dirty="0">
                  <a:latin typeface="Arial Narrow" panose="020B0606020202030204" pitchFamily="34" charset="0"/>
                </a:rPr>
                <a:t>그대로 유지면서 프롬프트와 테이블 연결 정보만 </a:t>
              </a:r>
              <a:r>
                <a:rPr lang="ko-KR" altLang="en-US" dirty="0" err="1">
                  <a:latin typeface="Arial Narrow" panose="020B0606020202030204" pitchFamily="34" charset="0"/>
                </a:rPr>
                <a:t>교체함으로서</a:t>
              </a:r>
              <a:r>
                <a:rPr lang="ko-KR" altLang="en-US" dirty="0">
                  <a:latin typeface="Arial Narrow" panose="020B0606020202030204" pitchFamily="34" charset="0"/>
                </a:rPr>
                <a:t> 손쉽게 확장 가능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4" name="Text Box 64">
            <a:extLst>
              <a:ext uri="{FF2B5EF4-FFF2-40B4-BE49-F238E27FC236}">
                <a16:creationId xmlns:a16="http://schemas.microsoft.com/office/drawing/2014/main" id="{28E95877-C655-F768-7A58-39BBE0922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3475498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en-US" altLang="ko-KR" sz="1400" b="1" dirty="0">
                <a:solidFill>
                  <a:srgbClr val="000000"/>
                </a:solidFill>
              </a:rPr>
              <a:t>Sub- Agent</a:t>
            </a:r>
            <a:r>
              <a:rPr lang="ko-KR" altLang="en-US" sz="1400" b="1" dirty="0">
                <a:solidFill>
                  <a:srgbClr val="000000"/>
                </a:solidFill>
              </a:rPr>
              <a:t>는 자연어 질의를 </a:t>
            </a:r>
            <a:r>
              <a:rPr lang="en-US" altLang="ko-KR" sz="1400" b="1" dirty="0">
                <a:solidFill>
                  <a:srgbClr val="000000"/>
                </a:solidFill>
              </a:rPr>
              <a:t>SQL</a:t>
            </a:r>
            <a:r>
              <a:rPr lang="ko-KR" altLang="en-US" sz="1400" b="1" dirty="0">
                <a:solidFill>
                  <a:srgbClr val="000000"/>
                </a:solidFill>
              </a:rPr>
              <a:t>로 변환하고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데이터를 추출한 뒤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분석과 요약을 거쳐 서술형 답변을 생성</a:t>
            </a:r>
            <a:r>
              <a:rPr lang="en-US" altLang="ko-KR" sz="1400" b="1" dirty="0">
                <a:solidFill>
                  <a:srgbClr val="000000"/>
                </a:solidFill>
              </a:rPr>
              <a:t>.</a:t>
            </a:r>
            <a:br>
              <a:rPr lang="en-US" altLang="ko-KR" sz="1400" b="1" dirty="0">
                <a:solidFill>
                  <a:srgbClr val="000000"/>
                </a:solidFill>
              </a:rPr>
            </a:br>
            <a:r>
              <a:rPr lang="ko-KR" altLang="en-US" sz="1400" b="1" dirty="0">
                <a:solidFill>
                  <a:srgbClr val="000000"/>
                </a:solidFill>
              </a:rPr>
              <a:t>각 단계는 </a:t>
            </a:r>
            <a:r>
              <a:rPr lang="en-US" altLang="ko-KR" sz="1400" b="1" dirty="0" err="1">
                <a:solidFill>
                  <a:srgbClr val="000000"/>
                </a:solidFill>
              </a:rPr>
              <a:t>LangGraph</a:t>
            </a:r>
            <a:r>
              <a:rPr lang="en-US" altLang="ko-KR" sz="1400" b="1" dirty="0">
                <a:solidFill>
                  <a:srgbClr val="000000"/>
                </a:solidFill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</a:rPr>
              <a:t>워크플로우의 독립 노드로 구현되어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</a:rPr>
              <a:t>필요 시 특정 단계를 교체하거나 수정하기 쉽게 설계됨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86B8D5D-205A-D0EF-80B2-9B2145ECD94B}"/>
              </a:ext>
            </a:extLst>
          </p:cNvPr>
          <p:cNvGrpSpPr/>
          <p:nvPr/>
        </p:nvGrpSpPr>
        <p:grpSpPr>
          <a:xfrm>
            <a:off x="317485" y="4086000"/>
            <a:ext cx="4164923" cy="2667460"/>
            <a:chOff x="205187" y="1581592"/>
            <a:chExt cx="4164923" cy="266746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8FDAF34-BA70-916E-B989-700703E97175}"/>
                </a:ext>
              </a:extLst>
            </p:cNvPr>
            <p:cNvSpPr txBox="1"/>
            <p:nvPr/>
          </p:nvSpPr>
          <p:spPr>
            <a:xfrm>
              <a:off x="205187" y="1919842"/>
              <a:ext cx="4164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질문 이해 및 구체화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(Clarify)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사용자의 질문을 해당 테이블 관점에서 구체적인 쿼리 의미로 변환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테이블 스키마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컬럼 간 종속 관계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주요 값의 의미를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LLM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제공</a:t>
              </a:r>
              <a:b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질문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-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쿼리 예시 제공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(few shot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은 코사인 유사도 기준 추출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5FE17672-CF67-30A2-80EF-C95DF67AB699}"/>
                </a:ext>
              </a:extLst>
            </p:cNvPr>
            <p:cNvCxnSpPr/>
            <p:nvPr/>
          </p:nvCxnSpPr>
          <p:spPr bwMode="auto">
            <a:xfrm>
              <a:off x="767759" y="1850415"/>
              <a:ext cx="2219769" cy="0"/>
            </a:xfrm>
            <a:prstGeom prst="line">
              <a:avLst/>
            </a:prstGeom>
            <a:solidFill>
              <a:schemeClr val="bg1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2CF442A-D35E-E56A-A32D-EBA7B15B7571}"/>
                </a:ext>
              </a:extLst>
            </p:cNvPr>
            <p:cNvSpPr txBox="1"/>
            <p:nvPr/>
          </p:nvSpPr>
          <p:spPr>
            <a:xfrm>
              <a:off x="205187" y="2307892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endPara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C7A2F05-EEAD-8B0E-F2F2-56FD54FE6CA2}"/>
                </a:ext>
              </a:extLst>
            </p:cNvPr>
            <p:cNvSpPr txBox="1"/>
            <p:nvPr/>
          </p:nvSpPr>
          <p:spPr>
            <a:xfrm>
              <a:off x="1105287" y="1581592"/>
              <a:ext cx="23246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Sub Agent (NL2SQL </a:t>
              </a:r>
              <a:r>
                <a:rPr lang="ko-KR" altLang="en-US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및 </a:t>
              </a:r>
              <a:r>
                <a:rPr lang="en-US" altLang="ko-KR" sz="12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Analyze)</a:t>
              </a:r>
              <a:endPara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B547CDC-E192-DAB0-0D46-C8A8A818F339}"/>
                </a:ext>
              </a:extLst>
            </p:cNvPr>
            <p:cNvSpPr txBox="1"/>
            <p:nvPr/>
          </p:nvSpPr>
          <p:spPr>
            <a:xfrm>
              <a:off x="213336" y="2679669"/>
              <a:ext cx="40423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SQL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생성 및 실행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(Extract)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구체화된 질문으로 </a:t>
              </a:r>
              <a:r>
                <a:rPr lang="en-US" altLang="ko-KR" sz="1100" dirty="0" err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create_sql_query</a:t>
              </a:r>
              <a:r>
                <a:rPr lang="en-US" altLang="ko-KR" dirty="0" err="1">
                  <a:latin typeface="Arial Narrow" panose="020B0606020202030204" pitchFamily="34" charset="0"/>
                </a:rPr>
                <a:t>_chain</a:t>
              </a:r>
              <a:r>
                <a:rPr lang="en-US" altLang="ko-KR" dirty="0">
                  <a:latin typeface="Arial Narrow" panose="020B0606020202030204" pitchFamily="34" charset="0"/>
                </a:rPr>
                <a:t> </a:t>
              </a:r>
              <a:r>
                <a:rPr lang="ko-KR" altLang="en-US" dirty="0">
                  <a:latin typeface="Arial Narrow" panose="020B0606020202030204" pitchFamily="34" charset="0"/>
                </a:rPr>
                <a:t>기반 </a:t>
              </a:r>
              <a:r>
                <a:rPr lang="en-US" altLang="ko-KR" dirty="0">
                  <a:latin typeface="Arial Narrow" panose="020B0606020202030204" pitchFamily="34" charset="0"/>
                </a:rPr>
                <a:t>SQL </a:t>
              </a:r>
              <a:r>
                <a:rPr lang="ko-KR" altLang="en-US" dirty="0">
                  <a:latin typeface="Arial Narrow" panose="020B0606020202030204" pitchFamily="34" charset="0"/>
                </a:rPr>
                <a:t>생성 및 실행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B0E2E9-F7D4-FAB2-0A96-65D101C32512}"/>
                </a:ext>
              </a:extLst>
            </p:cNvPr>
            <p:cNvSpPr txBox="1"/>
            <p:nvPr/>
          </p:nvSpPr>
          <p:spPr>
            <a:xfrm>
              <a:off x="213336" y="3176448"/>
              <a:ext cx="40423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결과 검증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(Validate)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dirty="0">
                  <a:latin typeface="Arial Narrow" panose="020B0606020202030204" pitchFamily="34" charset="0"/>
                </a:rPr>
                <a:t>추출된 </a:t>
              </a:r>
              <a:r>
                <a:rPr lang="en-US" altLang="ko-KR" dirty="0" err="1">
                  <a:latin typeface="Arial Narrow" panose="020B0606020202030204" pitchFamily="34" charset="0"/>
                </a:rPr>
                <a:t>Dataframe</a:t>
              </a:r>
              <a:r>
                <a:rPr lang="ko-KR" altLang="en-US" dirty="0">
                  <a:latin typeface="Arial Narrow" panose="020B0606020202030204" pitchFamily="34" charset="0"/>
                </a:rPr>
                <a:t>이 질문 의도에 부합하는 지 검증 </a:t>
              </a:r>
              <a:r>
                <a:rPr lang="en-US" altLang="ko-KR" dirty="0">
                  <a:latin typeface="Arial Narrow" panose="020B0606020202030204" pitchFamily="34" charset="0"/>
                </a:rPr>
                <a:t>(Feedback Loop)</a:t>
              </a:r>
              <a:endPara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7BE4975-5693-2CF3-66F6-FF6C2330F659}"/>
                </a:ext>
              </a:extLst>
            </p:cNvPr>
            <p:cNvSpPr txBox="1"/>
            <p:nvPr/>
          </p:nvSpPr>
          <p:spPr>
            <a:xfrm>
              <a:off x="213336" y="3648888"/>
              <a:ext cx="404230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buFont typeface="Wingdings" panose="05000000000000000000" pitchFamily="2" charset="2"/>
                <a:buChar char="ü"/>
                <a:defRPr sz="1100"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데이터 분석 및 답변 생성 </a:t>
              </a: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(Analyze)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테이블 종류 별 현업 요구사항에 맞춰 답변 생성</a:t>
              </a:r>
              <a:b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필요 시 차트 생성</a:t>
              </a: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409C241-1FC6-CFBA-A8D4-5D2EF98D33B6}"/>
              </a:ext>
            </a:extLst>
          </p:cNvPr>
          <p:cNvSpPr/>
          <p:nvPr/>
        </p:nvSpPr>
        <p:spPr>
          <a:xfrm>
            <a:off x="5773241" y="4263114"/>
            <a:ext cx="328647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2023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하반기 영국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 고객의 세탁기 제품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NPS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점수를 분석해줘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055F4A8D-07C6-1349-71E6-A93E96DE3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569" y="4249488"/>
            <a:ext cx="1593755" cy="2371197"/>
          </a:xfrm>
          <a:prstGeom prst="rect">
            <a:avLst/>
          </a:prstGeom>
        </p:spPr>
      </p:pic>
      <p:sp>
        <p:nvSpPr>
          <p:cNvPr id="85" name="직사각형 84">
            <a:extLst>
              <a:ext uri="{FF2B5EF4-FFF2-40B4-BE49-F238E27FC236}">
                <a16:creationId xmlns:a16="http://schemas.microsoft.com/office/drawing/2014/main" id="{1FEFBF0B-DA80-E16D-B998-2E6574CAA907}"/>
              </a:ext>
            </a:extLst>
          </p:cNvPr>
          <p:cNvSpPr/>
          <p:nvPr/>
        </p:nvSpPr>
        <p:spPr>
          <a:xfrm>
            <a:off x="5773241" y="4525244"/>
            <a:ext cx="382508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'country'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uk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', 'year'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'20232', 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cej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'total’,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'touchpoint'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'total', 'product'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wm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', 'banner1'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'age’,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'banner2'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컬럼에서는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'30_39'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row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대해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NPS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결과를 분석해줘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6655C7C-4887-DB9D-BF24-336AD51A8825}"/>
              </a:ext>
            </a:extLst>
          </p:cNvPr>
          <p:cNvSpPr/>
          <p:nvPr/>
        </p:nvSpPr>
        <p:spPr>
          <a:xfrm>
            <a:off x="5773241" y="5025114"/>
            <a:ext cx="41360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SELECT * FROM 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nps_score_table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WHERE LOWER('country) = LOWER('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uk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‘) AND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year = 20232 AND LOWER(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cej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= LOWER('total') AND LOWER('touchpoint) = LOWER('total’) 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AND LOWER(product) = LOWER('</a:t>
            </a:r>
            <a:r>
              <a:rPr lang="en-US" altLang="ko-KR" sz="9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wm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') AND LOWER(banner1) = LOWER('age’)</a:t>
            </a:r>
          </a:p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AND LOWER(banner2) = LOWER('30_39');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03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BCC02-96D8-E2AF-4440-9B225352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D98D96-AB14-49A5-5675-5709BBAF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36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64C5E-DD67-DDBB-E30B-21B6483570B0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AI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Agent </a:t>
            </a:r>
            <a:r>
              <a:rPr kumimoji="0" lang="ko-KR" altLang="en-US" sz="2000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5B9BBDA0-D771-CCBD-92A8-571F16EEA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선행관리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81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4266-C8C7-2A36-A6BB-0618D9FC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F6C371-C074-3DD0-26EE-67F882D8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37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E2823-BD53-BB2B-D8C2-76C2482038BF}"/>
              </a:ext>
            </a:extLst>
          </p:cNvPr>
          <p:cNvSpPr txBox="1"/>
          <p:nvPr/>
        </p:nvSpPr>
        <p:spPr>
          <a:xfrm>
            <a:off x="199186" y="153353"/>
            <a:ext cx="10292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NPS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AI</a:t>
            </a:r>
            <a:r>
              <a:rPr kumimoji="0" lang="ko-KR" altLang="en-US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0" lang="en-US" altLang="ko-KR" sz="2000" b="1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Agent </a:t>
            </a:r>
            <a:r>
              <a:rPr kumimoji="0" lang="ko-KR" altLang="en-US" sz="2000" dirty="0"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개발</a:t>
            </a:r>
          </a:p>
        </p:txBody>
      </p:sp>
      <p:sp>
        <p:nvSpPr>
          <p:cNvPr id="4" name="Text Box 64">
            <a:extLst>
              <a:ext uri="{FF2B5EF4-FFF2-40B4-BE49-F238E27FC236}">
                <a16:creationId xmlns:a16="http://schemas.microsoft.com/office/drawing/2014/main" id="{EFD7FC57-D1DE-D38C-AFF8-74DD08422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700535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선행관리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47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D0EB-BB76-34DC-746B-90BBDF51B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536F7FA-81BB-C835-8E64-D2990BCC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38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4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D9BCD-8545-AAEB-9E83-B174EB6E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E07D34-770F-2691-B17B-CE873273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C7F6E-DCF1-4C89-B2BB-E3364144743A}" type="slidenum">
              <a:rPr lang="ko-KR" altLang="en-US" smtClean="0">
                <a:solidFill>
                  <a:prstClr val="black"/>
                </a:solidFill>
              </a:rPr>
              <a:pPr/>
              <a:t>39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05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336580</TotalTime>
  <Words>4710</Words>
  <Application>Microsoft Office PowerPoint</Application>
  <PresentationFormat>A4 용지(210x297mm)</PresentationFormat>
  <Paragraphs>957</Paragraphs>
  <Slides>39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39</vt:i4>
      </vt:variant>
    </vt:vector>
  </HeadingPairs>
  <TitlesOfParts>
    <vt:vector size="58" baseType="lpstr">
      <vt:lpstr>-apple-system</vt:lpstr>
      <vt:lpstr>HY견고딕</vt:lpstr>
      <vt:lpstr>LG스마트체 Bold</vt:lpstr>
      <vt:lpstr>LG스마트체 Light</vt:lpstr>
      <vt:lpstr>LG스마트체 Regular</vt:lpstr>
      <vt:lpstr>LG스마트체 SemiBold</vt:lpstr>
      <vt:lpstr>맑은 고딕</vt:lpstr>
      <vt:lpstr>바탕체</vt:lpstr>
      <vt:lpstr>Arial</vt:lpstr>
      <vt:lpstr>Arial Narrow</vt:lpstr>
      <vt:lpstr>Calibri</vt:lpstr>
      <vt:lpstr>Cambria Math</vt:lpstr>
      <vt:lpstr>Consolas</vt:lpstr>
      <vt:lpstr>Wingdings</vt:lpstr>
      <vt:lpstr>2_디자인 사용자 지정</vt:lpstr>
      <vt:lpstr>1_Office 테마</vt:lpstr>
      <vt:lpstr>4_디자인 사용자 지정</vt:lpstr>
      <vt:lpstr>3_디자인 사용자 지정</vt:lpstr>
      <vt:lpstr>5_디자인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Windows XP</dc:creator>
  <cp:lastModifiedBy>구본상/선임연구원/데이터운영팀</cp:lastModifiedBy>
  <cp:revision>11538</cp:revision>
  <cp:lastPrinted>2021-06-13T22:25:45Z</cp:lastPrinted>
  <dcterms:created xsi:type="dcterms:W3CDTF">2010-10-20T05:46:04Z</dcterms:created>
  <dcterms:modified xsi:type="dcterms:W3CDTF">2026-05-25T08:29:33Z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2024-07-24T07:11:55Z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e72569e6-75a8-4fa4-a298-e982d4061049</vt:lpwstr>
  </property>
  <property fmtid="{D5CDD505-2E9C-101B-9397-08002B2CF9AE}" pid="8" name="MSIP_Label_cc6ed9fc-fefc-4a0c-a6d6-10cf236c0d4f_ContentBits">
    <vt:lpwstr>1</vt:lpwstr>
  </property>
</Properties>
</file>