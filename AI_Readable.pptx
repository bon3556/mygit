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A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822960"/>
            <a:ext cx="4297680" cy="4297680"/>
          </a:xfrm>
          <a:prstGeom prst="ellipse">
            <a:avLst/>
          </a:prstGeom>
          <a:solidFill>
            <a:srgbClr val="2D4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188720" y="4937760"/>
            <a:ext cx="3200400" cy="3200400"/>
          </a:xfrm>
          <a:prstGeom prst="ellipse">
            <a:avLst/>
          </a:prstGeom>
          <a:solidFill>
            <a:srgbClr val="233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6400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78B4FF"/>
                </a:solidFill>
                <a:latin typeface="Malgun Gothic"/>
              </a:rPr>
              <a:t>AI READABLE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64208"/>
            <a:ext cx="82296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Malgun Gothic"/>
              </a:rPr>
              <a:t>AI Readable을 통한</a:t>
            </a:r>
            <a:br/>
            <a:r>
              <a:rPr sz="4200" b="1">
                <a:solidFill>
                  <a:srgbClr val="FFFFFF"/>
                </a:solidFill>
                <a:latin typeface="Malgun Gothic"/>
              </a:rPr>
              <a:t>데이터 명세 작성 방법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74720"/>
            <a:ext cx="795527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DAE5F5"/>
                </a:solidFill>
                <a:latin typeface="Malgun Gothic"/>
              </a:rPr>
              <a:t>EAP 메타데이터와 BigQuery 샘플 데이터를 활용한</a:t>
            </a:r>
            <a:br/>
            <a:r>
              <a:rPr sz="2000" b="0">
                <a:solidFill>
                  <a:srgbClr val="DAE5F5"/>
                </a:solidFill>
                <a:latin typeface="Malgun Gothic"/>
              </a:rPr>
              <a:t>컬럼·샘플·테이블 설명 자동 생성 프로세스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5349240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BECDE1"/>
                </a:solidFill>
                <a:latin typeface="Malgun Gothic"/>
              </a:rPr>
              <a:t>Code Path  : /home/appadm/ai_readable_bs</a:t>
            </a:r>
            <a:br/>
            <a:r>
              <a:rPr sz="1250" b="0">
                <a:solidFill>
                  <a:srgbClr val="BECDE1"/>
                </a:solidFill>
                <a:latin typeface="Malgun Gothic"/>
              </a:rPr>
              <a:t>Final Data : /home/appadm/ai_readable/data/edl_ai_readable_gemini_20260527.parquet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608076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0">
                <a:solidFill>
                  <a:srgbClr val="96AFD2"/>
                </a:solidFill>
                <a:latin typeface="Malgun Gothic"/>
              </a:rPr>
              <a:t>Data Catalog Automation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92A46"/>
                </a:solidFill>
                <a:latin typeface="Malgun Gothic"/>
              </a:rPr>
              <a:t>1. 작성 배경 및 목적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0120"/>
            <a:ext cx="1143000" cy="64008"/>
          </a:xfrm>
          <a:prstGeom prst="rect">
            <a:avLst/>
          </a:prstGeom>
          <a:solidFill>
            <a:srgbClr val="377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097280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F6978"/>
                </a:solidFill>
                <a:latin typeface="Malgun Gothic"/>
              </a:rPr>
              <a:t>AI Readable은 데이터 카탈로그 정보를 사람이 이해하기 쉬운 형태로 자동 생성하기 위한 파이프라인입니다.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474720" cy="3566160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91440" cy="3566160"/>
          </a:xfrm>
          <a:prstGeom prst="rect">
            <a:avLst/>
          </a:prstGeom>
          <a:solidFill>
            <a:srgbClr val="377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01952"/>
            <a:ext cx="30632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92A46"/>
                </a:solidFill>
                <a:latin typeface="Malgun Gothic"/>
              </a:rPr>
              <a:t>배경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331720"/>
            <a:ext cx="301752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EAP 메타데이터만으로는 컬럼·테이블 의미 파악에 한계 존재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컬럼 주석이 없거나 불충분한 경우 데이터 활용성이 낮음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실제 데이터 샘플을 함께 활용해 설명 품질을 보완할 필요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737360"/>
            <a:ext cx="3474720" cy="3566160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737360"/>
            <a:ext cx="91440" cy="3566160"/>
          </a:xfrm>
          <a:prstGeom prst="rect">
            <a:avLst/>
          </a:prstGeom>
          <a:solidFill>
            <a:srgbClr val="4AC1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901952"/>
            <a:ext cx="30632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92A46"/>
                </a:solidFill>
                <a:latin typeface="Malgun Gothic"/>
              </a:rPr>
              <a:t>목적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0872" y="2331720"/>
            <a:ext cx="301752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컬럼 설명, 샘플 의미, 테이블 설명을 자동 생성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데이터 사용자에게 이해 가능한 데이터 명세 제공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기존 설명이 없는 null 영역 중심으로 보완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737360"/>
            <a:ext cx="3291840" cy="3566160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737360"/>
            <a:ext cx="91440" cy="3566160"/>
          </a:xfrm>
          <a:prstGeom prst="rect">
            <a:avLst/>
          </a:prstGeom>
          <a:solidFill>
            <a:srgbClr val="825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901952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92A46"/>
                </a:solidFill>
                <a:latin typeface="Malgun Gothic"/>
              </a:rPr>
              <a:t>생성 대상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92" y="2331720"/>
            <a:ext cx="283464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SAMPLE_DATA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LLM_COL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LLM_SMP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LLM_PSNL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LLM_TB_DESC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비고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46520"/>
            <a:ext cx="5029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F6978"/>
                </a:solidFill>
                <a:latin typeface="Malgun Gothic"/>
              </a:rPr>
              <a:t>AI Readable 데이터 명세 작성방법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46520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F6978"/>
                </a:solidFill>
                <a:latin typeface="Malgun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92A46"/>
                </a:solidFill>
                <a:latin typeface="Malgun Gothic"/>
              </a:rPr>
              <a:t>2. 현재 데이터 및 반영 원칙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0120"/>
            <a:ext cx="1143000" cy="64008"/>
          </a:xfrm>
          <a:prstGeom prst="rect">
            <a:avLst/>
          </a:prstGeom>
          <a:solidFill>
            <a:srgbClr val="377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097280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F6978"/>
                </a:solidFill>
                <a:latin typeface="Malgun Gothic"/>
              </a:rPr>
              <a:t>최종 parquet 데이터를 기준으로 null 명세 보완 영역에 AI Readable 결과를 반영합니다.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51663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600200"/>
            <a:ext cx="91440" cy="1417320"/>
          </a:xfrm>
          <a:prstGeom prst="rect">
            <a:avLst/>
          </a:prstGeom>
          <a:solidFill>
            <a:srgbClr val="377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64792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92A46"/>
                </a:solidFill>
                <a:latin typeface="Malgun Gothic"/>
              </a:rPr>
              <a:t>현재 최종 데이터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2194560"/>
            <a:ext cx="4709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/home/appadm/ai_readable/data/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edl_ai_readable_gemini_20260527.parquet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00200"/>
            <a:ext cx="51663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00200"/>
            <a:ext cx="91440" cy="1417320"/>
          </a:xfrm>
          <a:prstGeom prst="rect">
            <a:avLst/>
          </a:prstGeom>
          <a:solidFill>
            <a:srgbClr val="4AC1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64792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92A46"/>
                </a:solidFill>
                <a:latin typeface="Malgun Gothic"/>
              </a:rPr>
              <a:t>코드 위치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2194560"/>
            <a:ext cx="4709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/home/appadm/ai_readable_bs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AI Readable 파이프라인 실행 코드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337560"/>
            <a:ext cx="338328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3337560"/>
            <a:ext cx="91440" cy="1965960"/>
          </a:xfrm>
          <a:prstGeom prst="rect">
            <a:avLst/>
          </a:prstGeom>
          <a:solidFill>
            <a:srgbClr val="38A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502152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92A46"/>
                </a:solidFill>
                <a:latin typeface="Malgun Gothic"/>
              </a:rPr>
              <a:t>반영 기준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1" y="393192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기존 설명이 null인 경우만 반영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기존 설명이 있는 경우는 유지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기존 설명이 정확하다는 전제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3337560"/>
            <a:ext cx="338328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34840" y="3337560"/>
            <a:ext cx="91440" cy="1965960"/>
          </a:xfrm>
          <a:prstGeom prst="rect">
            <a:avLst/>
          </a:prstGeom>
          <a:solidFill>
            <a:srgbClr val="EF8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3502152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92A46"/>
                </a:solidFill>
                <a:latin typeface="Malgun Gothic"/>
              </a:rPr>
              <a:t>보류/제외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90872" y="393192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L0_NEDW 데이터셋은 이번 검증 대상 제외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Attribute 컬럼은 성능 이슈로 추후 검토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샘플 데이터 UI는 기존 기능과 중복되어 추가 반영 제외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2440" y="3337560"/>
            <a:ext cx="338328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92440" y="3337560"/>
            <a:ext cx="91440" cy="1965960"/>
          </a:xfrm>
          <a:prstGeom prst="rect">
            <a:avLst/>
          </a:prstGeom>
          <a:solidFill>
            <a:srgbClr val="DC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3502152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92A46"/>
                </a:solidFill>
                <a:latin typeface="Malgun Gothic"/>
              </a:rPr>
              <a:t>검증 필요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8471" y="393192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EAP LLM 생성 명세와 AI Readable 생성 명세 비교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null row 대상 생성 품질 검증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bigquery_m 컬럼 추가 후 연계 검증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446520"/>
            <a:ext cx="5029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F6978"/>
                </a:solidFill>
                <a:latin typeface="Malgun Gothic"/>
              </a:rPr>
              <a:t>AI Readable 데이터 명세 작성방법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446520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F6978"/>
                </a:solidFill>
                <a:latin typeface="Malgun 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92A46"/>
                </a:solidFill>
                <a:latin typeface="Malgun Gothic"/>
              </a:rPr>
              <a:t>3. 전체 파이프라인 구조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0120"/>
            <a:ext cx="1143000" cy="64008"/>
          </a:xfrm>
          <a:prstGeom prst="rect">
            <a:avLst/>
          </a:prstGeom>
          <a:solidFill>
            <a:srgbClr val="377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097280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F6978"/>
                </a:solidFill>
                <a:latin typeface="Malgun Gothic"/>
              </a:rPr>
              <a:t>각 프로세스는 parquet을 입력으로 읽고 특정 컬럼을 생성 또는 업데이트한 뒤 다음 단계로 전달합니다.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057400"/>
            <a:ext cx="1828800" cy="1965960"/>
          </a:xfrm>
          <a:prstGeom prst="roundRect">
            <a:avLst/>
          </a:prstGeom>
          <a:solidFill>
            <a:srgbClr val="F1F6FF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1508760"/>
            <a:ext cx="640080" cy="640080"/>
          </a:xfrm>
          <a:prstGeom prst="ellipse">
            <a:avLst/>
          </a:prstGeom>
          <a:solidFill>
            <a:srgbClr val="377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640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331720"/>
            <a:ext cx="1609344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50" b="1">
                <a:solidFill>
                  <a:srgbClr val="192A46"/>
                </a:solidFill>
                <a:latin typeface="Malgun Gothic"/>
              </a:rPr>
              <a:t>BigQuery</a:t>
            </a:r>
            <a:br/>
            <a:r>
              <a:rPr sz="1450" b="1">
                <a:solidFill>
                  <a:srgbClr val="192A46"/>
                </a:solidFill>
                <a:latin typeface="Malgun Gothic"/>
              </a:rPr>
              <a:t>메타데이터 조회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54680"/>
            <a:ext cx="1554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F6978"/>
                </a:solidFill>
                <a:latin typeface="Malgun Gothic"/>
              </a:rPr>
              <a:t>EAP 메타 기반</a:t>
            </a:r>
            <a:br/>
            <a:r>
              <a:rPr sz="1200" b="0">
                <a:solidFill>
                  <a:srgbClr val="5F6978"/>
                </a:solidFill>
                <a:latin typeface="Malgun Gothic"/>
              </a:rPr>
              <a:t>대상 컬럼 확보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359152" y="2999232"/>
            <a:ext cx="429768" cy="0"/>
          </a:xfrm>
          <a:prstGeom prst="line">
            <a:avLst/>
          </a:prstGeom>
          <a:ln w="27940">
            <a:solidFill>
              <a:srgbClr val="3773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34640" y="2057400"/>
            <a:ext cx="1828800" cy="1965960"/>
          </a:xfrm>
          <a:prstGeom prst="roundRect">
            <a:avLst/>
          </a:prstGeom>
          <a:solidFill>
            <a:srgbClr val="F1F6FF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29000" y="1508760"/>
            <a:ext cx="640080" cy="640080"/>
          </a:xfrm>
          <a:prstGeom prst="ellipse">
            <a:avLst/>
          </a:prstGeom>
          <a:solidFill>
            <a:srgbClr val="4AC1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1645920"/>
            <a:ext cx="640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44368" y="2331720"/>
            <a:ext cx="1609344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50" b="1">
                <a:solidFill>
                  <a:srgbClr val="192A46"/>
                </a:solidFill>
                <a:latin typeface="Malgun Gothic"/>
              </a:rPr>
              <a:t>GetSampleData</a:t>
            </a:r>
            <a:br/>
            <a:r>
              <a:rPr sz="1450" b="1">
                <a:solidFill>
                  <a:srgbClr val="192A46"/>
                </a:solidFill>
                <a:latin typeface="Malgun Gothic"/>
              </a:rPr>
              <a:t>Processor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3154680"/>
            <a:ext cx="1554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F6978"/>
                </a:solidFill>
                <a:latin typeface="Malgun Gothic"/>
              </a:rPr>
              <a:t>SAMPLE_DATA</a:t>
            </a:r>
            <a:br/>
            <a:r>
              <a:rPr sz="1200" b="0">
                <a:solidFill>
                  <a:srgbClr val="5F6978"/>
                </a:solidFill>
                <a:latin typeface="Malgun Gothic"/>
              </a:rPr>
              <a:t>생성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690872" y="2999232"/>
            <a:ext cx="429768" cy="0"/>
          </a:xfrm>
          <a:prstGeom prst="line">
            <a:avLst/>
          </a:prstGeom>
          <a:ln w="27940">
            <a:solidFill>
              <a:srgbClr val="3773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166360" y="2057400"/>
            <a:ext cx="1828800" cy="1965960"/>
          </a:xfrm>
          <a:prstGeom prst="roundRect">
            <a:avLst/>
          </a:prstGeom>
          <a:solidFill>
            <a:srgbClr val="F1F6FF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60720" y="1508760"/>
            <a:ext cx="640080" cy="640080"/>
          </a:xfrm>
          <a:prstGeom prst="ellipse">
            <a:avLst/>
          </a:prstGeom>
          <a:solidFill>
            <a:srgbClr val="825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0" y="1645920"/>
            <a:ext cx="640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76088" y="2331720"/>
            <a:ext cx="1609344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50" b="1">
                <a:solidFill>
                  <a:srgbClr val="192A46"/>
                </a:solidFill>
                <a:latin typeface="Malgun Gothic"/>
              </a:rPr>
              <a:t>AIReadableColumns</a:t>
            </a:r>
            <a:br/>
            <a:r>
              <a:rPr sz="1450" b="1">
                <a:solidFill>
                  <a:srgbClr val="192A46"/>
                </a:solidFill>
                <a:latin typeface="Malgun Gothic"/>
              </a:rPr>
              <a:t>Processor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3154680"/>
            <a:ext cx="1554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F6978"/>
                </a:solidFill>
                <a:latin typeface="Malgun Gothic"/>
              </a:rPr>
              <a:t>LLM_COL</a:t>
            </a:r>
            <a:br/>
            <a:r>
              <a:rPr sz="1200" b="0">
                <a:solidFill>
                  <a:srgbClr val="5F6978"/>
                </a:solidFill>
                <a:latin typeface="Malgun Gothic"/>
              </a:rPr>
              <a:t>생성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022592" y="2999232"/>
            <a:ext cx="429768" cy="0"/>
          </a:xfrm>
          <a:prstGeom prst="line">
            <a:avLst/>
          </a:prstGeom>
          <a:ln w="27940">
            <a:solidFill>
              <a:srgbClr val="3773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498079" y="2057400"/>
            <a:ext cx="1828800" cy="1965960"/>
          </a:xfrm>
          <a:prstGeom prst="roundRect">
            <a:avLst/>
          </a:prstGeom>
          <a:solidFill>
            <a:srgbClr val="F1F6FF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092440" y="1508760"/>
            <a:ext cx="640080" cy="640080"/>
          </a:xfrm>
          <a:prstGeom prst="ellipse">
            <a:avLst/>
          </a:prstGeom>
          <a:solidFill>
            <a:srgbClr val="EF8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92440" y="1645920"/>
            <a:ext cx="640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07807" y="2331720"/>
            <a:ext cx="1609344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50" b="1">
                <a:solidFill>
                  <a:srgbClr val="192A46"/>
                </a:solidFill>
                <a:latin typeface="Malgun Gothic"/>
              </a:rPr>
              <a:t>SmpColumns</a:t>
            </a:r>
            <a:br/>
            <a:r>
              <a:rPr sz="1450" b="1">
                <a:solidFill>
                  <a:srgbClr val="192A46"/>
                </a:solidFill>
                <a:latin typeface="Malgun Gothic"/>
              </a:rPr>
              <a:t>Processor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35240" y="3154680"/>
            <a:ext cx="1554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F6978"/>
                </a:solidFill>
                <a:latin typeface="Malgun Gothic"/>
              </a:rPr>
              <a:t>LLM_SMP</a:t>
            </a:r>
            <a:br/>
            <a:r>
              <a:rPr sz="1200" b="0">
                <a:solidFill>
                  <a:srgbClr val="5F6978"/>
                </a:solidFill>
                <a:latin typeface="Malgun Gothic"/>
              </a:rPr>
              <a:t>생성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354311" y="2999232"/>
            <a:ext cx="429769" cy="0"/>
          </a:xfrm>
          <a:prstGeom prst="line">
            <a:avLst/>
          </a:prstGeom>
          <a:ln w="27940">
            <a:solidFill>
              <a:srgbClr val="3773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829800" y="2057400"/>
            <a:ext cx="1828800" cy="1965960"/>
          </a:xfrm>
          <a:prstGeom prst="roundRect">
            <a:avLst/>
          </a:prstGeom>
          <a:solidFill>
            <a:srgbClr val="F1F6FF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424160" y="1508760"/>
            <a:ext cx="640080" cy="640080"/>
          </a:xfrm>
          <a:prstGeom prst="ellipse">
            <a:avLst/>
          </a:prstGeom>
          <a:solidFill>
            <a:srgbClr val="38A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24160" y="1645920"/>
            <a:ext cx="640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39528" y="2331720"/>
            <a:ext cx="1609344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50" b="1">
                <a:solidFill>
                  <a:srgbClr val="192A46"/>
                </a:solidFill>
                <a:latin typeface="Malgun Gothic"/>
              </a:rPr>
              <a:t>AIReadableTables</a:t>
            </a:r>
            <a:br/>
            <a:r>
              <a:rPr sz="1450" b="1">
                <a:solidFill>
                  <a:srgbClr val="192A46"/>
                </a:solidFill>
                <a:latin typeface="Malgun Gothic"/>
              </a:rPr>
              <a:t>Processor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66960" y="3154680"/>
            <a:ext cx="1554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F6978"/>
                </a:solidFill>
                <a:latin typeface="Malgun Gothic"/>
              </a:rPr>
              <a:t>LLM_TB_DESC</a:t>
            </a:r>
            <a:br/>
            <a:r>
              <a:rPr sz="1200" b="0">
                <a:solidFill>
                  <a:srgbClr val="5F6978"/>
                </a:solidFill>
                <a:latin typeface="Malgun Gothic"/>
              </a:rPr>
              <a:t>생성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143000" y="4846320"/>
            <a:ext cx="98755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43000" y="4846320"/>
            <a:ext cx="91440" cy="822960"/>
          </a:xfrm>
          <a:prstGeom prst="rect">
            <a:avLst/>
          </a:prstGeom>
          <a:solidFill>
            <a:srgbClr val="377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71600" y="5010912"/>
            <a:ext cx="9464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92A46"/>
                </a:solidFill>
                <a:latin typeface="Malgun Gothic"/>
              </a:rPr>
              <a:t>권장 체인 구조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99032" y="5440680"/>
            <a:ext cx="941832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5F6978"/>
                </a:solidFill>
                <a:latin typeface="Malgun Gothic"/>
              </a:rPr>
              <a:t>sample_processor → column_processor → smp_processor → table_processor 순으로 이전 단계 결과를 다음 단계 입력으로 연결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6446520"/>
            <a:ext cx="5029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F6978"/>
                </a:solidFill>
                <a:latin typeface="Malgun Gothic"/>
              </a:rPr>
              <a:t>AI Readable 데이터 명세 작성방법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46520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F6978"/>
                </a:solidFill>
                <a:latin typeface="Malgun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92A46"/>
                </a:solidFill>
                <a:latin typeface="Malgun Gothic"/>
              </a:rPr>
              <a:t>4. AI Readable 생성 컬럼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0120"/>
            <a:ext cx="1143000" cy="64008"/>
          </a:xfrm>
          <a:prstGeom prst="rect">
            <a:avLst/>
          </a:prstGeom>
          <a:solidFill>
            <a:srgbClr val="377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097280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F6978"/>
                </a:solidFill>
                <a:latin typeface="Malgun Gothic"/>
              </a:rPr>
              <a:t>AI Readable 파이프라인은 데이터 명세 작성을 위해 아래 컬럼들을 생성 또는 보완합니다.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00200"/>
          <a:ext cx="900684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920240"/>
                <a:gridCol w="2926080"/>
                <a:gridCol w="2743200"/>
              </a:tblGrid>
              <a:tr h="620485"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980" b="1">
                          <a:solidFill>
                            <a:srgbClr val="FFFFFF"/>
                          </a:solidFill>
                          <a:latin typeface="Malgun Gothic"/>
                        </a:rPr>
                        <a:t>생성 컬럼</a:t>
                      </a:r>
                    </a:p>
                  </a:txBody>
                  <a:tcPr>
                    <a:solidFill>
                      <a:srgbClr val="192A46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980" b="1">
                          <a:solidFill>
                            <a:srgbClr val="FFFFFF"/>
                          </a:solidFill>
                          <a:latin typeface="Malgun Gothic"/>
                        </a:rPr>
                        <a:t>역할</a:t>
                      </a:r>
                    </a:p>
                  </a:txBody>
                  <a:tcPr>
                    <a:solidFill>
                      <a:srgbClr val="192A46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980" b="1">
                          <a:solidFill>
                            <a:srgbClr val="FFFFFF"/>
                          </a:solidFill>
                          <a:latin typeface="Malgun Gothic"/>
                        </a:rPr>
                        <a:t>주요 입력</a:t>
                      </a:r>
                    </a:p>
                  </a:txBody>
                  <a:tcPr>
                    <a:solidFill>
                      <a:srgbClr val="192A46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980" b="1">
                          <a:solidFill>
                            <a:srgbClr val="FFFFFF"/>
                          </a:solidFill>
                          <a:latin typeface="Malgun Gothic"/>
                        </a:rPr>
                        <a:t>생성 방식</a:t>
                      </a:r>
                    </a:p>
                  </a:txBody>
                  <a:tcPr>
                    <a:solidFill>
                      <a:srgbClr val="192A46"/>
                    </a:solidFill>
                  </a:tcPr>
                </a:tc>
              </a:tr>
              <a:tr h="620485"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980" b="0">
                          <a:solidFill>
                            <a:srgbClr val="1E232D"/>
                          </a:solidFill>
                          <a:latin typeface="Malgun Gothic"/>
                        </a:rPr>
                        <a:t>SAMPLE_DATA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980" b="0">
                          <a:solidFill>
                            <a:srgbClr val="1E232D"/>
                          </a:solidFill>
                          <a:latin typeface="Malgun Gothic"/>
                        </a:rPr>
                        <a:t>컬럼별 대표 샘플값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980" b="0">
                          <a:solidFill>
                            <a:srgbClr val="1E232D"/>
                          </a:solidFill>
                          <a:latin typeface="Malgun Gothic"/>
                        </a:rPr>
                        <a:t>DATASET_NAME, TABLE_NAME, TAB_COL_NAME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980" b="0">
                          <a:solidFill>
                            <a:srgbClr val="1E232D"/>
                          </a:solidFill>
                          <a:latin typeface="Malgun Gothic"/>
                        </a:rPr>
                        <a:t>BigQuery 실데이터 조회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980" b="0">
                          <a:solidFill>
                            <a:srgbClr val="1E232D"/>
                          </a:solidFill>
                          <a:latin typeface="Malgun Gothic"/>
                        </a:rPr>
                        <a:t>LLM_COL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980" b="0">
                          <a:solidFill>
                            <a:srgbClr val="1E232D"/>
                          </a:solidFill>
                          <a:latin typeface="Malgun Gothic"/>
                        </a:rPr>
                        <a:t>컬럼 의미 설명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980" b="0">
                          <a:solidFill>
                            <a:srgbClr val="1E232D"/>
                          </a:solidFill>
                          <a:latin typeface="Malgun Gothic"/>
                        </a:rPr>
                        <a:t>컬럼명, 컬럼주석, 샘플, 표준용어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980" b="0">
                          <a:solidFill>
                            <a:srgbClr val="1E232D"/>
                          </a:solidFill>
                          <a:latin typeface="Malgun Gothic"/>
                        </a:rPr>
                        <a:t>LLM 기반 자연어 설명 생성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620485"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980" b="0">
                          <a:solidFill>
                            <a:srgbClr val="1E232D"/>
                          </a:solidFill>
                          <a:latin typeface="Malgun Gothic"/>
                        </a:rPr>
                        <a:t>LLM_SMP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980" b="0">
                          <a:solidFill>
                            <a:srgbClr val="1E232D"/>
                          </a:solidFill>
                          <a:latin typeface="Malgun Gothic"/>
                        </a:rPr>
                        <a:t>샘플 데이터 의미/형태 설명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980" b="0">
                          <a:solidFill>
                            <a:srgbClr val="1E232D"/>
                          </a:solidFill>
                          <a:latin typeface="Malgun Gothic"/>
                        </a:rPr>
                        <a:t>샘플값, 데이터타입, 개인정보 여부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980" b="0">
                          <a:solidFill>
                            <a:srgbClr val="1E232D"/>
                          </a:solidFill>
                          <a:latin typeface="Malgun Gothic"/>
                        </a:rPr>
                        <a:t>Enum 매핑 또는 LLM 타입 판별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980" b="0">
                          <a:solidFill>
                            <a:srgbClr val="1E232D"/>
                          </a:solidFill>
                          <a:latin typeface="Malgun Gothic"/>
                        </a:rPr>
                        <a:t>LLM_PSNL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980" b="0">
                          <a:solidFill>
                            <a:srgbClr val="1E232D"/>
                          </a:solidFill>
                          <a:latin typeface="Malgun Gothic"/>
                        </a:rPr>
                        <a:t>개인정보 여부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980" b="0">
                          <a:solidFill>
                            <a:srgbClr val="1E232D"/>
                          </a:solidFill>
                          <a:latin typeface="Malgun Gothic"/>
                        </a:rPr>
                        <a:t>컬럼명, 컬럼주석, 샘플값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980" b="0">
                          <a:solidFill>
                            <a:srgbClr val="1E232D"/>
                          </a:solidFill>
                          <a:latin typeface="Malgun Gothic"/>
                        </a:rPr>
                        <a:t>LLM 기반 Y/N 판단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620485"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980" b="0">
                          <a:solidFill>
                            <a:srgbClr val="1E232D"/>
                          </a:solidFill>
                          <a:latin typeface="Malgun Gothic"/>
                        </a:rPr>
                        <a:t>LLM_TB_DESC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980" b="0">
                          <a:solidFill>
                            <a:srgbClr val="1E232D"/>
                          </a:solidFill>
                          <a:latin typeface="Malgun Gothic"/>
                        </a:rPr>
                        <a:t>테이블 설명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980" b="0">
                          <a:solidFill>
                            <a:srgbClr val="1E232D"/>
                          </a:solidFill>
                          <a:latin typeface="Malgun Gothic"/>
                        </a:rPr>
                        <a:t>기존 업무설명, LLM_COL, LLM_SMP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980" b="0">
                          <a:solidFill>
                            <a:srgbClr val="1E232D"/>
                          </a:solidFill>
                          <a:latin typeface="Malgun Gothic"/>
                        </a:rPr>
                        <a:t>LLM 기반 테이블 목적·활용 설명 생성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0490"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980" b="0">
                          <a:solidFill>
                            <a:srgbClr val="1E232D"/>
                          </a:solidFill>
                          <a:latin typeface="Malgun Gothic"/>
                        </a:rPr>
                        <a:t>비고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980" b="0">
                          <a:solidFill>
                            <a:srgbClr val="1E232D"/>
                          </a:solidFill>
                          <a:latin typeface="Malgun Gothic"/>
                        </a:rPr>
                        <a:t>오류 및 보완 메모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980" b="0">
                          <a:solidFill>
                            <a:srgbClr val="1E232D"/>
                          </a:solidFill>
                          <a:latin typeface="Malgun Gothic"/>
                        </a:rPr>
                        <a:t>각 처리 단계 오류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980" b="0">
                          <a:solidFill>
                            <a:srgbClr val="1E232D"/>
                          </a:solidFill>
                          <a:latin typeface="Malgun Gothic"/>
                        </a:rPr>
                        <a:t>append 방식으로 누적 기록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6446520"/>
            <a:ext cx="5029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F6978"/>
                </a:solidFill>
                <a:latin typeface="Malgun Gothic"/>
              </a:rPr>
              <a:t>AI Readable 데이터 명세 작성방법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46520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F6978"/>
                </a:solidFill>
                <a:latin typeface="Malgun Gothi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92A46"/>
                </a:solidFill>
                <a:latin typeface="Malgun Gothic"/>
              </a:rPr>
              <a:t>5. SAMPLE_DATA 작성 방식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0120"/>
            <a:ext cx="1143000" cy="64008"/>
          </a:xfrm>
          <a:prstGeom prst="rect">
            <a:avLst/>
          </a:prstGeom>
          <a:solidFill>
            <a:srgbClr val="377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097280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F6978"/>
                </a:solidFill>
                <a:latin typeface="Malgun Gothic"/>
              </a:rPr>
              <a:t>SAMPLE_DATA는 LLM이 아닌 BigQuery 실데이터 조회를 통해 생성됩니다.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3246120" cy="3977639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00200"/>
            <a:ext cx="91440" cy="3977639"/>
          </a:xfrm>
          <a:prstGeom prst="rect">
            <a:avLst/>
          </a:prstGeom>
          <a:solidFill>
            <a:srgbClr val="377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64792"/>
            <a:ext cx="2834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92A46"/>
                </a:solidFill>
                <a:latin typeface="Malgun Gothic"/>
              </a:rPr>
              <a:t>목적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194560"/>
            <a:ext cx="2788920" cy="3291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컬럼별 대표 샘플값 확보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후속 컬럼 설명 및 샘플 의미 설명의 핵심 입력으로 사용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사용자가 실제 값의 형태를 이해할 수 있도록 지원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600200"/>
            <a:ext cx="3246120" cy="3977639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60520" y="1600200"/>
            <a:ext cx="91440" cy="3977639"/>
          </a:xfrm>
          <a:prstGeom prst="rect">
            <a:avLst/>
          </a:prstGeom>
          <a:solidFill>
            <a:srgbClr val="4AC1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764792"/>
            <a:ext cx="2834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92A46"/>
                </a:solidFill>
                <a:latin typeface="Malgun Gothic"/>
              </a:rPr>
              <a:t>처리 방식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6552" y="2194560"/>
            <a:ext cx="2788920" cy="3291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DATASET_NAME, TABLE_NAME 기반 BigQuery View명 생성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INFORMATION_SCHEMA로 테이블 및 컬럼 존재 여부 확인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컬럼 값 빈도 기준 상위 20개 값을 추출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값은 구분자 | 로 연결하여 저장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1600200"/>
            <a:ext cx="3566160" cy="3977639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35240" y="1600200"/>
            <a:ext cx="91440" cy="3977639"/>
          </a:xfrm>
          <a:prstGeom prst="rect">
            <a:avLst/>
          </a:prstGeom>
          <a:solidFill>
            <a:srgbClr val="EF8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1764792"/>
            <a:ext cx="31546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92A46"/>
                </a:solidFill>
                <a:latin typeface="Malgun Gothic"/>
              </a:rPr>
              <a:t>결과 및 예외값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91271" y="2194560"/>
            <a:ext cx="3108960" cy="3291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정상 예: A|B|C 또는 20250101|20250102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테이블 미존재: tablenotfound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컬럼 미존재: colnotfound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조회 결과 없음: nodata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쿼리 지연: querytimeout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처리 실패: Error 및 비고 기록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5715000"/>
            <a:ext cx="100584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51560" y="5715000"/>
            <a:ext cx="91440" cy="502920"/>
          </a:xfrm>
          <a:prstGeom prst="rect">
            <a:avLst/>
          </a:prstGeom>
          <a:solidFill>
            <a:srgbClr val="377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5879592"/>
            <a:ext cx="9646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92A46"/>
                </a:solidFill>
                <a:latin typeface="Malgun Gothic"/>
              </a:rPr>
              <a:t>핵심 포인트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07592" y="6309360"/>
            <a:ext cx="9601200" cy="-182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5F6978"/>
                </a:solidFill>
                <a:latin typeface="Malgun Gothic"/>
              </a:rPr>
              <a:t>SAMPLE_DATA는 랜덤 샘플이 아니라 빈도 기준 대표값이며, LLM_COL과 LLM_SMP 품질에 직접적인 영향을 줍니다.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46520"/>
            <a:ext cx="5029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F6978"/>
                </a:solidFill>
                <a:latin typeface="Malgun Gothic"/>
              </a:rPr>
              <a:t>AI Readable 데이터 명세 작성방법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6446520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F6978"/>
                </a:solidFill>
                <a:latin typeface="Malgun Gothi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92A46"/>
                </a:solidFill>
                <a:latin typeface="Malgun Gothic"/>
              </a:rPr>
              <a:t>6. LLM_COL 작성 방식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0120"/>
            <a:ext cx="1143000" cy="64008"/>
          </a:xfrm>
          <a:prstGeom prst="rect">
            <a:avLst/>
          </a:prstGeom>
          <a:solidFill>
            <a:srgbClr val="377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097280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F6978"/>
                </a:solidFill>
                <a:latin typeface="Malgun Gothic"/>
              </a:rPr>
              <a:t>LLM_COL은 컬럼명을 사람이 이해하기 쉬운 자연어 설명으로 변환한 컬럼입니다.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324612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00200"/>
            <a:ext cx="91440" cy="4069080"/>
          </a:xfrm>
          <a:prstGeom prst="rect">
            <a:avLst/>
          </a:prstGeom>
          <a:solidFill>
            <a:srgbClr val="377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64792"/>
            <a:ext cx="2834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92A46"/>
                </a:solidFill>
                <a:latin typeface="Malgun Gothic"/>
              </a:rPr>
              <a:t>목적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194560"/>
            <a:ext cx="2788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컬럼명만으로 알기 어려운 의미를 설명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컬럼 주석이 null인 경우 명세 보완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데이터 카탈로그에서 컬럼 이해도 향상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600200"/>
            <a:ext cx="324612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60520" y="1600200"/>
            <a:ext cx="91440" cy="4069080"/>
          </a:xfrm>
          <a:prstGeom prst="rect">
            <a:avLst/>
          </a:prstGeom>
          <a:solidFill>
            <a:srgbClr val="825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764792"/>
            <a:ext cx="2834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92A46"/>
                </a:solidFill>
                <a:latin typeface="Malgun Gothic"/>
              </a:rPr>
              <a:t>주요 입력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6552" y="2194560"/>
            <a:ext cx="2788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TAB_COL_NAME: 컬럼명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TAB_COL_COMMENT: 기존 컬럼 주석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SAMPLE_DATA: 대표 샘플값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표준용어 사전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동일 컬럼명의 기존 설명 빈도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1600200"/>
            <a:ext cx="356616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35240" y="1600200"/>
            <a:ext cx="91440" cy="4069080"/>
          </a:xfrm>
          <a:prstGeom prst="rect">
            <a:avLst/>
          </a:prstGeom>
          <a:solidFill>
            <a:srgbClr val="4AC1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1764792"/>
            <a:ext cx="31546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92A46"/>
                </a:solidFill>
                <a:latin typeface="Malgun Gothic"/>
              </a:rPr>
              <a:t>생성 방식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91271" y="2194560"/>
            <a:ext cx="31089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테이블 단위로 대상 컬럼을 묶어 처리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컬럼을 10개 단위 chunk로 나누어 LLM 호출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컬럼명, 주석, 표준용어, 샘플을 종합해 설명 생성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모르면 빈 문자열로 반환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JSON 응답 검증 후 LLM_COL에 저장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5897880"/>
            <a:ext cx="10332720" cy="411480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5897880"/>
            <a:ext cx="91440" cy="411480"/>
          </a:xfrm>
          <a:prstGeom prst="rect">
            <a:avLst/>
          </a:prstGeom>
          <a:solidFill>
            <a:srgbClr val="377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6062472"/>
            <a:ext cx="9921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92A46"/>
                </a:solidFill>
                <a:latin typeface="Malgun Gothic"/>
              </a:rPr>
              <a:t>예시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0432" y="6492240"/>
            <a:ext cx="9875520" cy="-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5F6978"/>
                </a:solidFill>
                <a:latin typeface="Malgun Gothic"/>
              </a:rPr>
              <a:t>ORD_DT → 주문 일자 / CUST_ID → 고객 식별자 / AMT → 금액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46520"/>
            <a:ext cx="5029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F6978"/>
                </a:solidFill>
                <a:latin typeface="Malgun Gothic"/>
              </a:rPr>
              <a:t>AI Readable 데이터 명세 작성방법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6446520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F6978"/>
                </a:solidFill>
                <a:latin typeface="Malgun Gothi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92A46"/>
                </a:solidFill>
                <a:latin typeface="Malgun Gothic"/>
              </a:rPr>
              <a:t>7. LLM_COL 프롬프트 및 응답 검증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0120"/>
            <a:ext cx="1143000" cy="64008"/>
          </a:xfrm>
          <a:prstGeom prst="rect">
            <a:avLst/>
          </a:prstGeom>
          <a:solidFill>
            <a:srgbClr val="377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097280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F6978"/>
                </a:solidFill>
                <a:latin typeface="Malgun Gothic"/>
              </a:rPr>
              <a:t>컬럼 설명 생성은 엄격한 JSON 출력 규칙과 후처리 검증을 통해 관리됩니다.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5074920" cy="4343400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00200"/>
            <a:ext cx="91440" cy="4343400"/>
          </a:xfrm>
          <a:prstGeom prst="rect">
            <a:avLst/>
          </a:prstGeom>
          <a:solidFill>
            <a:srgbClr val="377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64792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92A46"/>
                </a:solidFill>
                <a:latin typeface="Malgun Gothic"/>
              </a:rPr>
              <a:t>프롬프트 핵심 규칙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194560"/>
            <a:ext cx="4617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컬럼 설명 판단 시 컬럼 레벨 정보를 우선 사용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우선순위: 컬럼 주석 &gt; 기존 설명 빈도 &gt; 표준용어 사전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테이블 정보는 의미가 애매할 때만 보조적으로 참고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샘플 데이터는 의미 추론의 보조 증거로만 사용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추론이 어려우면 빈 문자열 반환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JSON 외 다른 텍스트 출력 금지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00200"/>
            <a:ext cx="5074920" cy="4343400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600200"/>
            <a:ext cx="91440" cy="4343400"/>
          </a:xfrm>
          <a:prstGeom prst="rect">
            <a:avLst/>
          </a:prstGeom>
          <a:solidFill>
            <a:srgbClr val="DC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764792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92A46"/>
                </a:solidFill>
                <a:latin typeface="Malgun Gothic"/>
              </a:rPr>
              <a:t>응답 검증 방식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2194560"/>
            <a:ext cx="4617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응답이 dict 형식인지 확인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입력 컬럼명이 모두 key로 존재하는지 확인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value가 문자열 1개를 담은 배열인지 확인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누락 컬럼 또는 비정상 값은 Error 처리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오류 원인은 비고 컬럼에 누적 기록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08076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1">
                <a:solidFill>
                  <a:srgbClr val="192A46"/>
                </a:solidFill>
                <a:latin typeface="Malgun Gothic"/>
              </a:rPr>
              <a:t>출력 예시: {"ORDER_DT": ["주문 일자"], "CUSTOMER_ID": ["고객 식별자"]}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46520"/>
            <a:ext cx="5029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F6978"/>
                </a:solidFill>
                <a:latin typeface="Malgun Gothic"/>
              </a:rPr>
              <a:t>AI Readable 데이터 명세 작성방법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446520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F6978"/>
                </a:solidFill>
                <a:latin typeface="Malgun Gothi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92A46"/>
                </a:solidFill>
                <a:latin typeface="Malgun Gothic"/>
              </a:rPr>
              <a:t>8. LLM_SMP 작성 방식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0120"/>
            <a:ext cx="1143000" cy="64008"/>
          </a:xfrm>
          <a:prstGeom prst="rect">
            <a:avLst/>
          </a:prstGeom>
          <a:solidFill>
            <a:srgbClr val="377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097280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F6978"/>
                </a:solidFill>
                <a:latin typeface="Malgun Gothic"/>
              </a:rPr>
              <a:t>LLM_SMP는 SAMPLE_DATA를 사람이 이해하기 쉬운 값의 형태 또는 의미로 설명한 컬럼입니다.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324612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08760"/>
            <a:ext cx="91440" cy="4343400"/>
          </a:xfrm>
          <a:prstGeom prst="rect">
            <a:avLst/>
          </a:prstGeom>
          <a:solidFill>
            <a:srgbClr val="377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73351"/>
            <a:ext cx="2834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92A46"/>
                </a:solidFill>
                <a:latin typeface="Malgun Gothic"/>
              </a:rPr>
              <a:t>목적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103120"/>
            <a:ext cx="2788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샘플값의 실제 형태를 설명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날짜, 숫자, 문자열, 코드값 등을 구분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컬럼 설명만으로 부족한 값의 패턴을 보완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508760"/>
            <a:ext cx="324612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60520" y="1508760"/>
            <a:ext cx="91440" cy="4343400"/>
          </a:xfrm>
          <a:prstGeom prst="rect">
            <a:avLst/>
          </a:prstGeom>
          <a:solidFill>
            <a:srgbClr val="EF8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673351"/>
            <a:ext cx="2834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92A46"/>
                </a:solidFill>
                <a:latin typeface="Malgun Gothic"/>
              </a:rPr>
              <a:t>처리 우선순위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6552" y="2103120"/>
            <a:ext cx="2788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1. 개인정보 컬럼은 빈값 처리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2. 조회 실패값은 한글 문구로 치환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3. 코드-이름 쌍이 있으면 enum 매핑 생성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4. 그 외는 LLM으로 샘플 타입 판별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5. 판별 결과를 자연어 표현으로 후처리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1508760"/>
            <a:ext cx="356616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35240" y="1508760"/>
            <a:ext cx="91440" cy="4343400"/>
          </a:xfrm>
          <a:prstGeom prst="rect">
            <a:avLst/>
          </a:prstGeom>
          <a:solidFill>
            <a:srgbClr val="4AC1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1673351"/>
            <a:ext cx="31546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92A46"/>
                </a:solidFill>
                <a:latin typeface="Malgun Gothic"/>
              </a:rPr>
              <a:t>결과 예시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91271" y="210312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20250101|20250102 → YYYYMMDD 형태의 날짜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1|2|3 → 정수 값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01|02|03 → 코드 값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{"01": "정상", "02": "해지"} → 코드-명 매핑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A|B|C → 문자열 샘플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46520"/>
            <a:ext cx="5029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F6978"/>
                </a:solidFill>
                <a:latin typeface="Malgun Gothic"/>
              </a:rPr>
              <a:t>AI Readable 데이터 명세 작성방법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46520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F6978"/>
                </a:solidFill>
                <a:latin typeface="Malgun Gothi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92A46"/>
                </a:solidFill>
                <a:latin typeface="Malgun Gothic"/>
              </a:rPr>
              <a:t>9. LLM_SMP 상세 로직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0120"/>
            <a:ext cx="1143000" cy="64008"/>
          </a:xfrm>
          <a:prstGeom prst="rect">
            <a:avLst/>
          </a:prstGeom>
          <a:solidFill>
            <a:srgbClr val="377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097280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F6978"/>
                </a:solidFill>
                <a:latin typeface="Malgun Gothic"/>
              </a:rPr>
              <a:t>샘플 의미 설명은 rule-based 처리와 LLM 판별을 함께 사용합니다.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600200"/>
          <a:ext cx="1046988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4572000"/>
                <a:gridCol w="4572000"/>
              </a:tblGrid>
              <a:tr h="708660"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단계</a:t>
                      </a:r>
                    </a:p>
                  </a:txBody>
                  <a:tcPr>
                    <a:solidFill>
                      <a:srgbClr val="192A46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처리 내용</a:t>
                      </a:r>
                    </a:p>
                  </a:txBody>
                  <a:tcPr>
                    <a:solidFill>
                      <a:srgbClr val="192A46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결과</a:t>
                      </a:r>
                    </a:p>
                  </a:txBody>
                  <a:tcPr>
                    <a:solidFill>
                      <a:srgbClr val="192A46"/>
                    </a:solidFill>
                  </a:tcPr>
                </a:tc>
              </a:tr>
              <a:tr h="708660"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1050" b="0">
                          <a:solidFill>
                            <a:srgbClr val="1E232D"/>
                          </a:solidFill>
                          <a:latin typeface="Malgun Gothic"/>
                        </a:rPr>
                        <a:t>개인정보 제외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1050" b="0">
                          <a:solidFill>
                            <a:srgbClr val="1E232D"/>
                          </a:solidFill>
                          <a:latin typeface="Malgun Gothic"/>
                        </a:rPr>
                        <a:t>PSNL_COL_NAME 또는 LLM_PSNL이 Y인지 확인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1050" b="0">
                          <a:solidFill>
                            <a:srgbClr val="1E232D"/>
                          </a:solidFill>
                          <a:latin typeface="Malgun Gothic"/>
                        </a:rPr>
                        <a:t>개인정보 컬럼은 LLM_SMP 빈값 저장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1050" b="0">
                          <a:solidFill>
                            <a:srgbClr val="1E232D"/>
                          </a:solidFill>
                          <a:latin typeface="Malgun Gothic"/>
                        </a:rPr>
                        <a:t>실패값 치환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1050" b="0">
                          <a:solidFill>
                            <a:srgbClr val="1E232D"/>
                          </a:solidFill>
                          <a:latin typeface="Malgun Gothic"/>
                        </a:rPr>
                        <a:t>tablenotfound, colnotfound, nodata 등 확인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1050" b="0">
                          <a:solidFill>
                            <a:srgbClr val="1E232D"/>
                          </a:solidFill>
                          <a:latin typeface="Malgun Gothic"/>
                        </a:rPr>
                        <a:t>테이블 미발견, 컬럼 미발견 등 한글 설명 저장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708660"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1050" b="0">
                          <a:solidFill>
                            <a:srgbClr val="1E232D"/>
                          </a:solidFill>
                          <a:latin typeface="Malgun Gothic"/>
                        </a:rPr>
                        <a:t>Enum 탐지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1050" b="0">
                          <a:solidFill>
                            <a:srgbClr val="1E232D"/>
                          </a:solidFill>
                          <a:latin typeface="Malgun Gothic"/>
                        </a:rPr>
                        <a:t>*_CD, *_CODE 컬럼과 *_NM, *_NAME 컬럼 매칭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1050" b="0">
                          <a:solidFill>
                            <a:srgbClr val="1E232D"/>
                          </a:solidFill>
                          <a:latin typeface="Malgun Gothic"/>
                        </a:rPr>
                        <a:t>코드-명 매핑 dictionary 생성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1050" b="0">
                          <a:solidFill>
                            <a:srgbClr val="1E232D"/>
                          </a:solidFill>
                          <a:latin typeface="Malgun Gothic"/>
                        </a:rPr>
                        <a:t>LLM 타입 판별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1050" b="0">
                          <a:solidFill>
                            <a:srgbClr val="1E232D"/>
                          </a:solidFill>
                          <a:latin typeface="Malgun Gothic"/>
                        </a:rPr>
                        <a:t>샘플값 패턴을 batch prompt로 분류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1050" b="0">
                          <a:solidFill>
                            <a:srgbClr val="1E232D"/>
                          </a:solidFill>
                          <a:latin typeface="Malgun Gothic"/>
                        </a:rPr>
                        <a:t>STRING, INTEGER, DECIMAL, 날짜 포맷 등 반환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708660"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1050" b="0">
                          <a:solidFill>
                            <a:srgbClr val="1E232D"/>
                          </a:solidFill>
                          <a:latin typeface="Malgun Gothic"/>
                        </a:rPr>
                        <a:t>후처리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1050" b="0">
                          <a:solidFill>
                            <a:srgbClr val="1E232D"/>
                          </a:solidFill>
                          <a:latin typeface="Malgun Gothic"/>
                        </a:rPr>
                        <a:t>판별값과 원천 데이터 타입을 조합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1050" b="0">
                          <a:solidFill>
                            <a:srgbClr val="1E232D"/>
                          </a:solidFill>
                          <a:latin typeface="Malgun Gothic"/>
                        </a:rPr>
                        <a:t>사람이 읽기 쉬운 샘플 설명으로 변환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914400" y="5989320"/>
            <a:ext cx="10332720" cy="411480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5989320"/>
            <a:ext cx="91440" cy="411480"/>
          </a:xfrm>
          <a:prstGeom prst="rect">
            <a:avLst/>
          </a:prstGeom>
          <a:solidFill>
            <a:srgbClr val="377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6153912"/>
            <a:ext cx="9921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92A46"/>
                </a:solidFill>
                <a:latin typeface="Malgun Gothic"/>
              </a:rPr>
              <a:t>핵심 포인트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6583680"/>
            <a:ext cx="9875520" cy="-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5F6978"/>
                </a:solidFill>
                <a:latin typeface="Malgun Gothic"/>
              </a:rPr>
              <a:t>코드-이름 쌍이 존재하는 경우 LLM보다 enum 직접 생성 로직을 우선 적용합니다.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46520"/>
            <a:ext cx="5029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F6978"/>
                </a:solidFill>
                <a:latin typeface="Malgun Gothic"/>
              </a:rPr>
              <a:t>AI Readable 데이터 명세 작성방법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46520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F6978"/>
                </a:solidFill>
                <a:latin typeface="Malgun Gothi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92A46"/>
                </a:solidFill>
                <a:latin typeface="Malgun Gothic"/>
              </a:rPr>
              <a:t>10. LLM_PSNL 작성 방식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0120"/>
            <a:ext cx="1143000" cy="64008"/>
          </a:xfrm>
          <a:prstGeom prst="rect">
            <a:avLst/>
          </a:prstGeom>
          <a:solidFill>
            <a:srgbClr val="377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097280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F6978"/>
                </a:solidFill>
                <a:latin typeface="Malgun Gothic"/>
              </a:rPr>
              <a:t>LLM_PSNL은 컬럼이 개인정보를 포함하는지 Y/N으로 판단하기 위한 컬럼입니다.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324612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00200"/>
            <a:ext cx="91440" cy="4069080"/>
          </a:xfrm>
          <a:prstGeom prst="rect">
            <a:avLst/>
          </a:prstGeom>
          <a:solidFill>
            <a:srgbClr val="DC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64792"/>
            <a:ext cx="2834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92A46"/>
                </a:solidFill>
                <a:latin typeface="Malgun Gothic"/>
              </a:rPr>
              <a:t>목적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194560"/>
            <a:ext cx="2788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개인정보 컬럼 여부 자동 판단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민감 컬럼의 샘플 의미 설명 생성을 방지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데이터 카탈로그 내 보안 리스크 완화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600200"/>
            <a:ext cx="324612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60520" y="1600200"/>
            <a:ext cx="91440" cy="4069080"/>
          </a:xfrm>
          <a:prstGeom prst="rect">
            <a:avLst/>
          </a:prstGeom>
          <a:solidFill>
            <a:srgbClr val="825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764792"/>
            <a:ext cx="2834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92A46"/>
                </a:solidFill>
                <a:latin typeface="Malgun Gothic"/>
              </a:rPr>
              <a:t>판단 기준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6552" y="2194560"/>
            <a:ext cx="2788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컬럼명과 컬럼 설명을 우선 검토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메타정보만으로 명확하면 Y/N 판단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필요 시 SAMPLE_DATA 패턴 확인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전화번호, 이메일, 주소, 계정, 금융정보 등 탐지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1600200"/>
            <a:ext cx="356616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35240" y="1600200"/>
            <a:ext cx="91440" cy="4069080"/>
          </a:xfrm>
          <a:prstGeom prst="rect">
            <a:avLst/>
          </a:prstGeom>
          <a:solidFill>
            <a:srgbClr val="EF8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1764792"/>
            <a:ext cx="31546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92A46"/>
                </a:solidFill>
                <a:latin typeface="Malgun Gothic"/>
              </a:rPr>
              <a:t>후속 영향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91271" y="2194560"/>
            <a:ext cx="31089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PSNL_COL_NAME == Y 이거나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LLM_PSNL == Y 이면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SmpColumnsProcessor에서 LLM_SMP를 빈값으로 저장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개인정보 샘플 해석 결과가 노출되지 않도록 제어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897880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5F6978"/>
                </a:solidFill>
                <a:latin typeface="Malgun Gothic"/>
              </a:rPr>
              <a:t>※ 현재 제공된 실행 흐름에서는 PsnlColumnsProcessor가 명시적으로 호출되지 않았으나, 설계상 SAMPLE_DATA 이후 LLM_SMP 이전 단계에 위치하는 것이 자연스럽습니다.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46520"/>
            <a:ext cx="5029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F6978"/>
                </a:solidFill>
                <a:latin typeface="Malgun Gothic"/>
              </a:rPr>
              <a:t>AI Readable 데이터 명세 작성방법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46520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F6978"/>
                </a:solidFill>
                <a:latin typeface="Malgun Gothi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92A46"/>
                </a:solidFill>
                <a:latin typeface="Malgun Gothic"/>
              </a:rPr>
              <a:t>11. LLM_TB_DESC 작성 방식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0120"/>
            <a:ext cx="1143000" cy="64008"/>
          </a:xfrm>
          <a:prstGeom prst="rect">
            <a:avLst/>
          </a:prstGeom>
          <a:solidFill>
            <a:srgbClr val="377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097280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F6978"/>
                </a:solidFill>
                <a:latin typeface="Malgun Gothic"/>
              </a:rPr>
              <a:t>LLM_TB_DESC는 컬럼 설명과 샘플 설명을 종합하여 테이블 단위 설명을 생성한 컬럼입니다.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3246120" cy="4434840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08760"/>
            <a:ext cx="91440" cy="4434840"/>
          </a:xfrm>
          <a:prstGeom prst="rect">
            <a:avLst/>
          </a:prstGeom>
          <a:solidFill>
            <a:srgbClr val="377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73351"/>
            <a:ext cx="2834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92A46"/>
                </a:solidFill>
                <a:latin typeface="Malgun Gothic"/>
              </a:rPr>
              <a:t>목적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103120"/>
            <a:ext cx="27889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테이블의 정의와 목적 설명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주요 컬럼 기반 핵심 정보 요약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데이터 품질/주의사항 및 활용 예시 제공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카탈로그 UI에 바로 표시 가능한 정형 설명 생성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508760"/>
            <a:ext cx="3246120" cy="4434840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60520" y="1508760"/>
            <a:ext cx="91440" cy="4434840"/>
          </a:xfrm>
          <a:prstGeom prst="rect">
            <a:avLst/>
          </a:prstGeom>
          <a:solidFill>
            <a:srgbClr val="4AC1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673351"/>
            <a:ext cx="2834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92A46"/>
                </a:solidFill>
                <a:latin typeface="Malgun Gothic"/>
              </a:rPr>
              <a:t>주요 입력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6552" y="2103120"/>
            <a:ext cx="27889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TABLE_NAME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BIZ_KOR_DESC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TAB_COL_NAME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LLM_COL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LLM_SMP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컬럼 요약표 형태의 sample_values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1508760"/>
            <a:ext cx="3566160" cy="4434840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35240" y="1508760"/>
            <a:ext cx="91440" cy="4434840"/>
          </a:xfrm>
          <a:prstGeom prst="rect">
            <a:avLst/>
          </a:prstGeom>
          <a:solidFill>
            <a:srgbClr val="825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1673351"/>
            <a:ext cx="31546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92A46"/>
                </a:solidFill>
                <a:latin typeface="Malgun Gothic"/>
              </a:rPr>
              <a:t>생성 규칙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91271" y="2103120"/>
            <a:ext cx="3108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기존 업무 설명은 우선 보존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sample_values는 실제 row가 아닌 컬럼 요약표로 해석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확신이 낮은 내용은 '추정', '샘플 기준'으로 표현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출력 포맷은 [정의 및 목적], [상세 설명]으로 고정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46520"/>
            <a:ext cx="5029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F6978"/>
                </a:solidFill>
                <a:latin typeface="Malgun Gothic"/>
              </a:rPr>
              <a:t>AI Readable 데이터 명세 작성방법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46520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F6978"/>
                </a:solidFill>
                <a:latin typeface="Malgun Gothi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92A46"/>
                </a:solidFill>
                <a:latin typeface="Malgun Gothic"/>
              </a:rPr>
              <a:t>12. LLM_TB_DESC 출력 포맷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0120"/>
            <a:ext cx="1143000" cy="64008"/>
          </a:xfrm>
          <a:prstGeom prst="rect">
            <a:avLst/>
          </a:prstGeom>
          <a:solidFill>
            <a:srgbClr val="377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097280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F6978"/>
                </a:solidFill>
                <a:latin typeface="Malgun Gothic"/>
              </a:rPr>
              <a:t>테이블 설명은 데이터 카탈로그에 바로 반영할 수 있도록 정형 텍스트로 생성됩니다.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1065276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600200"/>
            <a:ext cx="91440" cy="4434840"/>
          </a:xfrm>
          <a:prstGeom prst="rect">
            <a:avLst/>
          </a:prstGeom>
          <a:solidFill>
            <a:srgbClr val="377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64792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92A46"/>
                </a:solidFill>
                <a:latin typeface="Malgun Gothic"/>
              </a:rPr>
              <a:t>출력 예시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2194560"/>
            <a:ext cx="101955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[정의 및 목적]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'SALES_ORDER_HIST' 테이블은 주문 이력 및 상태 변경 정보를 관리하기 위한 데이터로 추정된다.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[상세 설명]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- 핵심 정보 요약: 주문번호, 주문일자, 고객번호, 상태코드, 처리금액을 통해 주문 현황과 처리 이력을 파악한다.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- 데이터 품질/주의사항: 상태값 표기가 혼재될 가능성이 있다(STATUS_CD: '01|1|001' 형태 샘플 기준).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- 활용 예시: 주문 처리 모니터링 및 운영 리포트 작성에 활용할 수 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172200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DC5050"/>
                </a:solidFill>
                <a:latin typeface="Malgun Gothic"/>
              </a:rPr>
              <a:t>주의: sample_values는 실제 row 샘플이 아니라 TAB_COL_NAME, LLM_SMP, LLM_COL로 구성된 컬럼 요약표입니다.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46520"/>
            <a:ext cx="5029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F6978"/>
                </a:solidFill>
                <a:latin typeface="Malgun Gothic"/>
              </a:rPr>
              <a:t>AI Readable 데이터 명세 작성방법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46520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F6978"/>
                </a:solidFill>
                <a:latin typeface="Malgun Gothic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92A46"/>
                </a:solidFill>
                <a:latin typeface="Malgun Gothic"/>
              </a:rPr>
              <a:t>13. 공통 처리 규칙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0120"/>
            <a:ext cx="1143000" cy="64008"/>
          </a:xfrm>
          <a:prstGeom prst="rect">
            <a:avLst/>
          </a:prstGeom>
          <a:solidFill>
            <a:srgbClr val="377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097280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F6978"/>
                </a:solidFill>
                <a:latin typeface="Malgun Gothic"/>
              </a:rPr>
              <a:t>각 생성 프로세스는 재처리 기준, 비고 관리, 병렬 처리 방식을 공통적으로 사용합니다.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3246120" cy="4160520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00200"/>
            <a:ext cx="91440" cy="4160520"/>
          </a:xfrm>
          <a:prstGeom prst="rect">
            <a:avLst/>
          </a:prstGeom>
          <a:solidFill>
            <a:srgbClr val="377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64792"/>
            <a:ext cx="2834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92A46"/>
                </a:solidFill>
                <a:latin typeface="Malgun Gothic"/>
              </a:rPr>
              <a:t>재처리 기준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194560"/>
            <a:ext cx="2788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대부분 NaN 또는 new_data 중심으로 재처리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현재는 Error, querytimeout, nodata 등 실패값 재처리는 제한적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운영 시 실패값을 new_data로 치환하거나 RETRY_VALUES 확장 필요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600200"/>
            <a:ext cx="3246120" cy="4160520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60520" y="1600200"/>
            <a:ext cx="91440" cy="4160520"/>
          </a:xfrm>
          <a:prstGeom prst="rect">
            <a:avLst/>
          </a:prstGeom>
          <a:solidFill>
            <a:srgbClr val="EF8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764792"/>
            <a:ext cx="2834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92A46"/>
                </a:solidFill>
                <a:latin typeface="Malgun Gothic"/>
              </a:rPr>
              <a:t>비고 컬럼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6552" y="2194560"/>
            <a:ext cx="2788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오류, 응답 누락, 후처리 실패 메모 누적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ensure_note_column()으로 컬럼 보장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append_note()로 기존 메시지 뒤에 신규 메시지 추가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형식: 기존메시지 | 신규메시지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1600200"/>
            <a:ext cx="3566160" cy="4160520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35240" y="1600200"/>
            <a:ext cx="91440" cy="4160520"/>
          </a:xfrm>
          <a:prstGeom prst="rect">
            <a:avLst/>
          </a:prstGeom>
          <a:solidFill>
            <a:srgbClr val="4AC1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1764792"/>
            <a:ext cx="31546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92A46"/>
                </a:solidFill>
                <a:latin typeface="Malgun Gothic"/>
              </a:rPr>
              <a:t>병렬 처리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91271" y="219456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ThreadPoolExecutor 사용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샘플 조회는 row 단위 병렬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컬럼/샘플/테이블 설명은 table 단위 병렬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비용, 카운트, 체크포인트는 lock 기반 제어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46520"/>
            <a:ext cx="5029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F6978"/>
                </a:solidFill>
                <a:latin typeface="Malgun Gothic"/>
              </a:rPr>
              <a:t>AI Readable 데이터 명세 작성방법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46520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F6978"/>
                </a:solidFill>
                <a:latin typeface="Malgun Gothic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92A46"/>
                </a:solidFill>
                <a:latin typeface="Malgun Gothic"/>
              </a:rPr>
              <a:t>14. 반영 및 보류 대상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0120"/>
            <a:ext cx="1143000" cy="64008"/>
          </a:xfrm>
          <a:prstGeom prst="rect">
            <a:avLst/>
          </a:prstGeom>
          <a:solidFill>
            <a:srgbClr val="377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097280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F6978"/>
                </a:solidFill>
                <a:latin typeface="Malgun Gothic"/>
              </a:rPr>
              <a:t>이번 반영은 기존 설명이 null인 영역 중심으로 진행하며, 일부 대상은 품질 검토 후 반영합니다.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508760"/>
          <a:ext cx="105156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5486400"/>
                <a:gridCol w="3200400"/>
              </a:tblGrid>
              <a:tr h="646611"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구분</a:t>
                      </a:r>
                    </a:p>
                  </a:txBody>
                  <a:tcPr>
                    <a:solidFill>
                      <a:srgbClr val="192A46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내용</a:t>
                      </a:r>
                    </a:p>
                  </a:txBody>
                  <a:tcPr>
                    <a:solidFill>
                      <a:srgbClr val="192A46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처리 방향</a:t>
                      </a:r>
                    </a:p>
                  </a:txBody>
                  <a:tcPr>
                    <a:solidFill>
                      <a:srgbClr val="192A46"/>
                    </a:solidFill>
                  </a:tcPr>
                </a:tc>
              </a:tr>
              <a:tr h="646611"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1000" b="0">
                          <a:solidFill>
                            <a:srgbClr val="1E232D"/>
                          </a:solidFill>
                          <a:latin typeface="Malgun Gothic"/>
                        </a:rPr>
                        <a:t>기존 설명 존재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1000" b="0">
                          <a:solidFill>
                            <a:srgbClr val="1E232D"/>
                          </a:solidFill>
                          <a:latin typeface="Malgun Gothic"/>
                        </a:rPr>
                        <a:t>테이블 목적 또는 컬럼 설명이 이미 존재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1000" b="0">
                          <a:solidFill>
                            <a:srgbClr val="1E232D"/>
                          </a:solidFill>
                          <a:latin typeface="Malgun Gothic"/>
                        </a:rPr>
                        <a:t>기존 설명이 정확하므로 AI 결과 미반영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1000" b="0">
                          <a:solidFill>
                            <a:srgbClr val="1E232D"/>
                          </a:solidFill>
                          <a:latin typeface="Malgun Gothic"/>
                        </a:rPr>
                        <a:t>기존 설명 null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1000" b="0">
                          <a:solidFill>
                            <a:srgbClr val="1E232D"/>
                          </a:solidFill>
                          <a:latin typeface="Malgun Gothic"/>
                        </a:rPr>
                        <a:t>설명이 비어 있는 컬럼/테이블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1000" b="0">
                          <a:solidFill>
                            <a:srgbClr val="1E232D"/>
                          </a:solidFill>
                          <a:latin typeface="Malgun Gothic"/>
                        </a:rPr>
                        <a:t>AI Readable 생성 결과 반영 대상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646611"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1000" b="0">
                          <a:solidFill>
                            <a:srgbClr val="1E232D"/>
                          </a:solidFill>
                          <a:latin typeface="Malgun Gothic"/>
                        </a:rPr>
                        <a:t>Attribute 아닌 컬럼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1000" b="0">
                          <a:solidFill>
                            <a:srgbClr val="1E232D"/>
                          </a:solidFill>
                          <a:latin typeface="Malgun Gothic"/>
                        </a:rPr>
                        <a:t>샘플 데이터 존재 컬럼 496,939개 중 null이었다가 새 명세 생성 237,862개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1000" b="0">
                          <a:solidFill>
                            <a:srgbClr val="1E232D"/>
                          </a:solidFill>
                          <a:latin typeface="Malgun Gothic"/>
                        </a:rPr>
                        <a:t>반영 검토 대상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1000" b="0">
                          <a:solidFill>
                            <a:srgbClr val="1E232D"/>
                          </a:solidFill>
                          <a:latin typeface="Malgun Gothic"/>
                        </a:rPr>
                        <a:t>Attribute 컬럼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1000" b="0">
                          <a:solidFill>
                            <a:srgbClr val="1E232D"/>
                          </a:solidFill>
                          <a:latin typeface="Malgun Gothic"/>
                        </a:rPr>
                        <a:t>샘플 데이터는 있으나 AI Readable 성능이 낮게 확인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1000" b="0">
                          <a:solidFill>
                            <a:srgbClr val="1E232D"/>
                          </a:solidFill>
                          <a:latin typeface="Malgun Gothic"/>
                        </a:rPr>
                        <a:t>추후 검토 후 반영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646611"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1000" b="0">
                          <a:solidFill>
                            <a:srgbClr val="1E232D"/>
                          </a:solidFill>
                          <a:latin typeface="Malgun Gothic"/>
                        </a:rPr>
                        <a:t>L0_NEDW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1000" b="0">
                          <a:solidFill>
                            <a:srgbClr val="1E232D"/>
                          </a:solidFill>
                          <a:latin typeface="Malgun Gothic"/>
                        </a:rPr>
                        <a:t>중요 데이터셋이나 이번 검증 미수행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1000" b="0">
                          <a:solidFill>
                            <a:srgbClr val="1E232D"/>
                          </a:solidFill>
                          <a:latin typeface="Malgun Gothic"/>
                        </a:rPr>
                        <a:t>이번 반영 제외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6614"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1000" b="0">
                          <a:solidFill>
                            <a:srgbClr val="1E232D"/>
                          </a:solidFill>
                          <a:latin typeface="Malgun Gothic"/>
                        </a:rPr>
                        <a:t>샘플 데이터 UI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1000" b="0">
                          <a:solidFill>
                            <a:srgbClr val="1E232D"/>
                          </a:solidFill>
                          <a:latin typeface="Malgun Gothic"/>
                        </a:rPr>
                        <a:t>기존 샘플 조회 기능과 중복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1000" b="0">
                          <a:solidFill>
                            <a:srgbClr val="1E232D"/>
                          </a:solidFill>
                          <a:latin typeface="Malgun Gothic"/>
                        </a:rPr>
                        <a:t>별도 추가 반영 제외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6446520"/>
            <a:ext cx="5029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F6978"/>
                </a:solidFill>
                <a:latin typeface="Malgun Gothic"/>
              </a:rPr>
              <a:t>AI Readable 데이터 명세 작성방법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46520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F6978"/>
                </a:solidFill>
                <a:latin typeface="Malgun Gothic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92A46"/>
                </a:solidFill>
                <a:latin typeface="Malgun Gothic"/>
              </a:rPr>
              <a:t>15. 품질 검증 및 개선 포인트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60120"/>
            <a:ext cx="1143000" cy="64008"/>
          </a:xfrm>
          <a:prstGeom prst="rect">
            <a:avLst/>
          </a:prstGeom>
          <a:solidFill>
            <a:srgbClr val="377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097280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F6978"/>
                </a:solidFill>
                <a:latin typeface="Malgun Gothic"/>
              </a:rPr>
              <a:t>AI 생성 명세는 기존 EAP 명세와 비교 검증하고, 단계별 오류 재처리 체계를 보완해야 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3246120" cy="4526280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08760"/>
            <a:ext cx="91440" cy="4526280"/>
          </a:xfrm>
          <a:prstGeom prst="rect">
            <a:avLst/>
          </a:prstGeom>
          <a:solidFill>
            <a:srgbClr val="377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73351"/>
            <a:ext cx="2834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92A46"/>
                </a:solidFill>
                <a:latin typeface="Malgun Gothic"/>
              </a:rPr>
              <a:t>성능 검증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103120"/>
            <a:ext cx="2788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EAP에서 LLM으로 생성한 컬럼 명세와 비교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AI Readable로 생성한 row 대상 품질 평가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null이었다가 새로 생성된 설명의 정확도 검증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도메인별 샘플링 검수 필요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508760"/>
            <a:ext cx="3246120" cy="4526280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60520" y="1508760"/>
            <a:ext cx="91440" cy="4526280"/>
          </a:xfrm>
          <a:prstGeom prst="rect">
            <a:avLst/>
          </a:prstGeom>
          <a:solidFill>
            <a:srgbClr val="4AC1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673351"/>
            <a:ext cx="2834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92A46"/>
                </a:solidFill>
                <a:latin typeface="Malgun Gothic"/>
              </a:rPr>
              <a:t>운영 개선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6552" y="2103120"/>
            <a:ext cx="2788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프로세스 간 입력/출력 경로 체인 구조 정리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실패값 재처리 기준 확대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프롬프트 버전 통합 관리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사전 파일 누락 시 예외 처리 강화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bigquery_m 컬럼 추가 이후 연계 검증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1508760"/>
            <a:ext cx="3566160" cy="4526280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35240" y="1508760"/>
            <a:ext cx="91440" cy="4526280"/>
          </a:xfrm>
          <a:prstGeom prst="rect">
            <a:avLst/>
          </a:prstGeom>
          <a:solidFill>
            <a:srgbClr val="DC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1673351"/>
            <a:ext cx="31546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92A46"/>
                </a:solidFill>
                <a:latin typeface="Malgun Gothic"/>
              </a:rPr>
              <a:t>품질 리스크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91271" y="2103120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SAMPLE_DATA 품질 저하 시 후속 설명 품질 저하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컬럼 설명 오류가 테이블 설명으로 전이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개인정보 판별 누락 시 민감 샘플 설명 생성 가능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Attribute 컬럼은 현 성능 기준 반영 보류 필요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46520"/>
            <a:ext cx="5029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F6978"/>
                </a:solidFill>
                <a:latin typeface="Malgun Gothic"/>
              </a:rPr>
              <a:t>AI Readable 데이터 명세 작성방법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46520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F6978"/>
                </a:solidFill>
                <a:latin typeface="Malgun Gothic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A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869680" y="-731520"/>
            <a:ext cx="3931920" cy="3931920"/>
          </a:xfrm>
          <a:prstGeom prst="ellipse">
            <a:avLst/>
          </a:prstGeom>
          <a:solidFill>
            <a:srgbClr val="2D4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05840" y="4846320"/>
            <a:ext cx="3108960" cy="3108960"/>
          </a:xfrm>
          <a:prstGeom prst="ellipse">
            <a:avLst/>
          </a:prstGeom>
          <a:solidFill>
            <a:srgbClr val="233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78B4FF"/>
                </a:solidFill>
                <a:latin typeface="Malgun Gothic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9875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algun Gothic"/>
              </a:rPr>
              <a:t>AI Readable 데이터 명세 작성 방법 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23160"/>
            <a:ext cx="97840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DAE5F5"/>
                </a:solidFill>
                <a:latin typeface="Malgun Gothic"/>
              </a:rPr>
              <a:t>EAP 메타데이터와 BigQuery 샘플 데이터를 기반으로</a:t>
            </a:r>
            <a:br/>
            <a:r>
              <a:rPr sz="2000" b="0">
                <a:solidFill>
                  <a:srgbClr val="DAE5F5"/>
                </a:solidFill>
                <a:latin typeface="Malgun Gothic"/>
              </a:rPr>
              <a:t>컬럼 설명, 샘플 의미 설명, 개인정보 여부, 테이블 설명을 자동 생성합니다.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3703320"/>
            <a:ext cx="3337560" cy="1325880"/>
          </a:xfrm>
          <a:prstGeom prst="roundRect">
            <a:avLst/>
          </a:prstGeom>
          <a:solidFill>
            <a:srgbClr val="F5F8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3703320"/>
            <a:ext cx="91440" cy="1325880"/>
          </a:xfrm>
          <a:prstGeom prst="rect">
            <a:avLst/>
          </a:prstGeom>
          <a:solidFill>
            <a:srgbClr val="377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867911"/>
            <a:ext cx="29260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92A46"/>
                </a:solidFill>
                <a:latin typeface="Malgun Gothic"/>
              </a:rPr>
              <a:t>1. 생성 컬럼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4297680"/>
            <a:ext cx="2880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SAMPLE_DATA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LLM_COL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LLM_SMP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LLM_PSNL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LLM_TB_DESC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3703320"/>
            <a:ext cx="3337560" cy="1325880"/>
          </a:xfrm>
          <a:prstGeom prst="roundRect">
            <a:avLst/>
          </a:prstGeom>
          <a:solidFill>
            <a:srgbClr val="F5F8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3703320"/>
            <a:ext cx="91440" cy="1325880"/>
          </a:xfrm>
          <a:prstGeom prst="rect">
            <a:avLst/>
          </a:prstGeom>
          <a:solidFill>
            <a:srgbClr val="4AC1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3867911"/>
            <a:ext cx="29260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92A46"/>
                </a:solidFill>
                <a:latin typeface="Malgun Gothic"/>
              </a:rPr>
              <a:t>2. 작성 방식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0872" y="4297680"/>
            <a:ext cx="2880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BigQuery 샘플 조회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표준용어·기존 설명 활용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LLM 기반 자연어 설명 생성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rule-based 후처리 병행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3703320"/>
            <a:ext cx="3337560" cy="1325880"/>
          </a:xfrm>
          <a:prstGeom prst="roundRect">
            <a:avLst/>
          </a:prstGeom>
          <a:solidFill>
            <a:srgbClr val="F5F8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1000" y="3703320"/>
            <a:ext cx="91440" cy="1325880"/>
          </a:xfrm>
          <a:prstGeom prst="rect">
            <a:avLst/>
          </a:prstGeom>
          <a:solidFill>
            <a:srgbClr val="EF8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3867911"/>
            <a:ext cx="29260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92A46"/>
                </a:solidFill>
                <a:latin typeface="Malgun Gothic"/>
              </a:rPr>
              <a:t>3. 반영 원칙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1" y="4297680"/>
            <a:ext cx="2880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기존 설명 null 대상 중심 반영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기존 설명 존재 시 유지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350">
                <a:solidFill>
                  <a:srgbClr val="5F6978"/>
                </a:solidFill>
                <a:latin typeface="Malgun Gothic"/>
              </a:defRPr>
            </a:pPr>
            <a:r>
              <a:rPr sz="1350">
                <a:solidFill>
                  <a:srgbClr val="5F6978"/>
                </a:solidFill>
                <a:latin typeface="Malgun Gothic"/>
              </a:rPr>
              <a:t>Attribute 및 L0_NEDW는 추후 검토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53212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78B4FF"/>
                </a:solidFill>
                <a:latin typeface="Malgun Gothic"/>
              </a:rPr>
              <a:t>핵심 메시지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870448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DCE6F5"/>
                </a:solidFill>
                <a:latin typeface="Malgun Gothic"/>
              </a:rPr>
              <a:t>AI Readable은 기존 메타데이터의 빈 설명 영역을 보완하고,</a:t>
            </a:r>
            <a:br/>
            <a:r>
              <a:rPr sz="1600" b="0">
                <a:solidFill>
                  <a:srgbClr val="DCE6F5"/>
                </a:solidFill>
                <a:latin typeface="Malgun Gothic"/>
              </a:rPr>
              <a:t>사용자가 데이터의 의미와 활용 목적을 더 쉽게 이해하도록 돕는 데이터 카탈로그 자동화 파이프라인입니다.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