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622" r:id="rId1"/>
    <p:sldMasterId id="2147484808" r:id="rId2"/>
    <p:sldMasterId id="2147484820" r:id="rId3"/>
    <p:sldMasterId id="2147484835" r:id="rId4"/>
  </p:sldMasterIdLst>
  <p:notesMasterIdLst>
    <p:notesMasterId r:id="rId24"/>
  </p:notesMasterIdLst>
  <p:handoutMasterIdLst>
    <p:handoutMasterId r:id="rId25"/>
  </p:handoutMasterIdLst>
  <p:sldIdLst>
    <p:sldId id="2141" r:id="rId5"/>
    <p:sldId id="2142" r:id="rId6"/>
    <p:sldId id="2143" r:id="rId7"/>
    <p:sldId id="2145" r:id="rId8"/>
    <p:sldId id="2147" r:id="rId9"/>
    <p:sldId id="2146" r:id="rId10"/>
    <p:sldId id="2148" r:id="rId11"/>
    <p:sldId id="2149" r:id="rId12"/>
    <p:sldId id="2150" r:id="rId13"/>
    <p:sldId id="2151" r:id="rId14"/>
    <p:sldId id="2173" r:id="rId15"/>
    <p:sldId id="2174" r:id="rId16"/>
    <p:sldId id="2158" r:id="rId17"/>
    <p:sldId id="2172" r:id="rId18"/>
    <p:sldId id="2168" r:id="rId19"/>
    <p:sldId id="2170" r:id="rId20"/>
    <p:sldId id="2165" r:id="rId21"/>
    <p:sldId id="2169" r:id="rId22"/>
    <p:sldId id="2171" r:id="rId23"/>
  </p:sldIdLst>
  <p:sldSz cx="9906000" cy="6858000" type="A4"/>
  <p:notesSz cx="9926638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47" userDrawn="1">
          <p15:clr>
            <a:srgbClr val="A4A3A4"/>
          </p15:clr>
        </p15:guide>
        <p15:guide id="12" orient="horz" userDrawn="1">
          <p15:clr>
            <a:srgbClr val="A4A3A4"/>
          </p15:clr>
        </p15:guide>
        <p15:guide id="16" orient="horz" pos="4258">
          <p15:clr>
            <a:srgbClr val="A4A3A4"/>
          </p15:clr>
        </p15:guide>
        <p15:guide id="17" orient="horz" pos="5">
          <p15:clr>
            <a:srgbClr val="A4A3A4"/>
          </p15:clr>
        </p15:guide>
        <p15:guide id="18" userDrawn="1">
          <p15:clr>
            <a:srgbClr val="A4A3A4"/>
          </p15:clr>
        </p15:guide>
        <p15:guide id="19" pos="2171">
          <p15:clr>
            <a:srgbClr val="A4A3A4"/>
          </p15:clr>
        </p15:guide>
        <p15:guide id="20" pos="2352">
          <p15:clr>
            <a:srgbClr val="A4A3A4"/>
          </p15:clr>
        </p15:guide>
        <p15:guide id="21" orient="horz" pos="423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진우" initials="김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39"/>
    <a:srgbClr val="FF6699"/>
    <a:srgbClr val="FFF7DD"/>
    <a:srgbClr val="FFFBEF"/>
    <a:srgbClr val="FFFCF3"/>
    <a:srgbClr val="FFEFBD"/>
    <a:srgbClr val="FFE89F"/>
    <a:srgbClr val="C30036"/>
    <a:srgbClr val="FFC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D3B847-5870-471F-A69B-0C1BDED129BB}" v="8" dt="2022-06-12T06:31:58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9654" autoAdjust="0"/>
  </p:normalViewPr>
  <p:slideViewPr>
    <p:cSldViewPr snapToObjects="1" showGuides="1">
      <p:cViewPr varScale="1">
        <p:scale>
          <a:sx n="82" d="100"/>
          <a:sy n="82" d="100"/>
        </p:scale>
        <p:origin x="1406" y="48"/>
      </p:cViewPr>
      <p:guideLst>
        <p:guide orient="horz" pos="147"/>
        <p:guide orient="horz"/>
        <p:guide orient="horz" pos="4258"/>
        <p:guide orient="horz" pos="5"/>
        <p:guide/>
        <p:guide pos="2171"/>
        <p:guide pos="2352"/>
        <p:guide orient="horz" pos="4230"/>
      </p:guideLst>
    </p:cSldViewPr>
  </p:slideViewPr>
  <p:outlineViewPr>
    <p:cViewPr>
      <p:scale>
        <a:sx n="33" d="100"/>
        <a:sy n="33" d="100"/>
      </p:scale>
      <p:origin x="0" y="12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114" d="100"/>
          <a:sy n="114" d="100"/>
        </p:scale>
        <p:origin x="-2082" y="-108"/>
      </p:cViewPr>
      <p:guideLst>
        <p:guide orient="horz" pos="2141"/>
        <p:guide pos="3127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구 본상" userId="a52f452b6a50c305" providerId="LiveId" clId="{B8D3B847-5870-471F-A69B-0C1BDED129BB}"/>
    <pc:docChg chg="undo redo custSel modSld">
      <pc:chgData name="구 본상" userId="a52f452b6a50c305" providerId="LiveId" clId="{B8D3B847-5870-471F-A69B-0C1BDED129BB}" dt="2022-06-12T08:25:54.656" v="96" actId="14100"/>
      <pc:docMkLst>
        <pc:docMk/>
      </pc:docMkLst>
      <pc:sldChg chg="modSp mod">
        <pc:chgData name="구 본상" userId="a52f452b6a50c305" providerId="LiveId" clId="{B8D3B847-5870-471F-A69B-0C1BDED129BB}" dt="2022-06-12T06:31:41.762" v="70" actId="20577"/>
        <pc:sldMkLst>
          <pc:docMk/>
          <pc:sldMk cId="1626112028" sldId="2135"/>
        </pc:sldMkLst>
        <pc:graphicFrameChg chg="mod modGraphic">
          <ac:chgData name="구 본상" userId="a52f452b6a50c305" providerId="LiveId" clId="{B8D3B847-5870-471F-A69B-0C1BDED129BB}" dt="2022-06-12T06:31:41.762" v="70" actId="20577"/>
          <ac:graphicFrameMkLst>
            <pc:docMk/>
            <pc:sldMk cId="1626112028" sldId="2135"/>
            <ac:graphicFrameMk id="21" creationId="{CA82509F-637E-D2C7-5F47-218827390ED0}"/>
          </ac:graphicFrameMkLst>
        </pc:graphicFrameChg>
      </pc:sldChg>
      <pc:sldChg chg="modSp mod">
        <pc:chgData name="구 본상" userId="a52f452b6a50c305" providerId="LiveId" clId="{B8D3B847-5870-471F-A69B-0C1BDED129BB}" dt="2022-06-12T06:31:58.547" v="92"/>
        <pc:sldMkLst>
          <pc:docMk/>
          <pc:sldMk cId="2577664288" sldId="2141"/>
        </pc:sldMkLst>
        <pc:spChg chg="mod">
          <ac:chgData name="구 본상" userId="a52f452b6a50c305" providerId="LiveId" clId="{B8D3B847-5870-471F-A69B-0C1BDED129BB}" dt="2022-06-12T06:31:58.547" v="92"/>
          <ac:spMkLst>
            <pc:docMk/>
            <pc:sldMk cId="2577664288" sldId="2141"/>
            <ac:spMk id="4" creationId="{00000000-0000-0000-0000-000000000000}"/>
          </ac:spMkLst>
        </pc:spChg>
        <pc:grpChg chg="mod ord">
          <ac:chgData name="구 본상" userId="a52f452b6a50c305" providerId="LiveId" clId="{B8D3B847-5870-471F-A69B-0C1BDED129BB}" dt="2022-06-12T06:31:35.379" v="62" actId="166"/>
          <ac:grpSpMkLst>
            <pc:docMk/>
            <pc:sldMk cId="2577664288" sldId="2141"/>
            <ac:grpSpMk id="3" creationId="{29988400-E094-17AB-0525-BEC35C2B292C}"/>
          </ac:grpSpMkLst>
        </pc:grpChg>
      </pc:sldChg>
      <pc:sldChg chg="modSp mod">
        <pc:chgData name="구 본상" userId="a52f452b6a50c305" providerId="LiveId" clId="{B8D3B847-5870-471F-A69B-0C1BDED129BB}" dt="2022-06-12T08:25:54.656" v="96" actId="14100"/>
        <pc:sldMkLst>
          <pc:docMk/>
          <pc:sldMk cId="337757775" sldId="2142"/>
        </pc:sldMkLst>
        <pc:spChg chg="mod">
          <ac:chgData name="구 본상" userId="a52f452b6a50c305" providerId="LiveId" clId="{B8D3B847-5870-471F-A69B-0C1BDED129BB}" dt="2022-06-12T06:32:20.036" v="93"/>
          <ac:spMkLst>
            <pc:docMk/>
            <pc:sldMk cId="337757775" sldId="2142"/>
            <ac:spMk id="4" creationId="{00000000-0000-0000-0000-000000000000}"/>
          </ac:spMkLst>
        </pc:spChg>
        <pc:picChg chg="mod ord">
          <ac:chgData name="구 본상" userId="a52f452b6a50c305" providerId="LiveId" clId="{B8D3B847-5870-471F-A69B-0C1BDED129BB}" dt="2022-06-12T08:25:54.656" v="96" actId="14100"/>
          <ac:picMkLst>
            <pc:docMk/>
            <pc:sldMk cId="337757775" sldId="2142"/>
            <ac:picMk id="34" creationId="{DFC72625-8BDF-0B53-791D-1E1D5465F4A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803" y="1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r">
              <a:defRPr sz="1200"/>
            </a:lvl1pPr>
          </a:lstStyle>
          <a:p>
            <a:fld id="{29BA8DE9-16D3-458F-A4A5-89A912254F2C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456614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3"/>
          </p:nvPr>
        </p:nvSpPr>
        <p:spPr>
          <a:xfrm>
            <a:off x="5622582" y="6457107"/>
            <a:ext cx="4301839" cy="339515"/>
          </a:xfrm>
          <a:prstGeom prst="rect">
            <a:avLst/>
          </a:prstGeom>
        </p:spPr>
        <p:txBody>
          <a:bodyPr vert="horz" lIns="88230" tIns="44115" rIns="88230" bIns="44115" rtlCol="0" anchor="b"/>
          <a:lstStyle>
            <a:lvl1pPr algn="r">
              <a:defRPr sz="1200"/>
            </a:lvl1pPr>
          </a:lstStyle>
          <a:p>
            <a:fld id="{EA417FED-F0F8-4D7F-87F2-BE12FE26E0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7168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803" y="1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85FA80C-3CCA-44E9-9CF6-C63D6D30ABCC}" type="datetimeFigureOut">
              <a:rPr lang="ko-KR" altLang="en-US"/>
              <a:pPr>
                <a:defRPr/>
              </a:pPr>
              <a:t>2026-05-24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24200" y="511175"/>
            <a:ext cx="36782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6" rIns="91433" bIns="4571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5" y="3228898"/>
            <a:ext cx="7941310" cy="3058954"/>
          </a:xfrm>
          <a:prstGeom prst="rect">
            <a:avLst/>
          </a:prstGeom>
        </p:spPr>
        <p:txBody>
          <a:bodyPr vert="horz" lIns="91433" tIns="45716" rIns="91433" bIns="45716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4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803" y="6456614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0A82434-AB7E-4337-B0D8-E7AC022A045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697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238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669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76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574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30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07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377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911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010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718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6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96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62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98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28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25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53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10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88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28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38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25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14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39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32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73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09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57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57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89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30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89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85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04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26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3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7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20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46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53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15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77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60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39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93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>
            <a:cxnSpLocks/>
          </p:cNvCxnSpPr>
          <p:nvPr/>
        </p:nvCxnSpPr>
        <p:spPr>
          <a:xfrm>
            <a:off x="518277" y="692696"/>
            <a:ext cx="5915774" cy="0"/>
          </a:xfrm>
          <a:prstGeom prst="line">
            <a:avLst/>
          </a:prstGeom>
          <a:ln w="57150">
            <a:solidFill>
              <a:srgbClr val="74B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>
            <a:cxnSpLocks/>
          </p:cNvCxnSpPr>
          <p:nvPr/>
        </p:nvCxnSpPr>
        <p:spPr>
          <a:xfrm>
            <a:off x="196850" y="692048"/>
            <a:ext cx="4261095" cy="0"/>
          </a:xfrm>
          <a:prstGeom prst="line">
            <a:avLst/>
          </a:prstGeom>
          <a:ln w="57150">
            <a:solidFill>
              <a:srgbClr val="C300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Pil-Ho Lee\Desktop\영문상하_기계공학부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728" y="7781"/>
            <a:ext cx="922442" cy="7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31036-176E-43E0-8221-7A296B8BB73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C1D465-CCB3-EF0E-D648-C996090867E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22852" y="135636"/>
            <a:ext cx="2496778" cy="451135"/>
          </a:xfrm>
          <a:prstGeom prst="rect">
            <a:avLst/>
          </a:prstGeom>
        </p:spPr>
      </p:pic>
      <p:sp>
        <p:nvSpPr>
          <p:cNvPr id="2" name="MSIPCMContentMarking" descr="{&quot;HashCode&quot;:966751382,&quot;Placement&quot;:&quot;Header&quot;,&quot;Top&quot;:0.0,&quot;Left&quot;:323.954651,&quot;SlideWidth&quot;:780,&quot;SlideHeight&quot;:540}"/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84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9" r:id="rId1"/>
    <p:sldLayoutId id="2147484633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>
            <a:cxnSpLocks/>
          </p:cNvCxnSpPr>
          <p:nvPr userDrawn="1"/>
        </p:nvCxnSpPr>
        <p:spPr>
          <a:xfrm>
            <a:off x="199189" y="692889"/>
            <a:ext cx="6211136" cy="0"/>
          </a:xfrm>
          <a:prstGeom prst="line">
            <a:avLst/>
          </a:prstGeom>
          <a:ln w="57150">
            <a:solidFill>
              <a:srgbClr val="C300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:\Users\Pil-Ho Lee\Desktop\영문상하_기계공학부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728" y="7781"/>
            <a:ext cx="922442" cy="7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B56372C-283A-0285-6CAD-FCB807CABA9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22852" y="135636"/>
            <a:ext cx="2496778" cy="451135"/>
          </a:xfrm>
          <a:prstGeom prst="rect">
            <a:avLst/>
          </a:prstGeom>
        </p:spPr>
      </p:pic>
      <p:sp>
        <p:nvSpPr>
          <p:cNvPr id="2" name="MSIPCMContentMarking" descr="{&quot;HashCode&quot;:966751382,&quot;Placement&quot;:&quot;Header&quot;,&quot;Top&quot;:0.0,&quot;Left&quot;:323.954651,&quot;SlideWidth&quot;:780,&quot;SlideHeight&quot;:540}"/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07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9" r:id="rId1"/>
    <p:sldLayoutId id="2147484810" r:id="rId2"/>
    <p:sldLayoutId id="2147484811" r:id="rId3"/>
    <p:sldLayoutId id="2147484812" r:id="rId4"/>
    <p:sldLayoutId id="2147484813" r:id="rId5"/>
    <p:sldLayoutId id="2147484814" r:id="rId6"/>
    <p:sldLayoutId id="2147484815" r:id="rId7"/>
    <p:sldLayoutId id="2147484816" r:id="rId8"/>
    <p:sldLayoutId id="2147484817" r:id="rId9"/>
    <p:sldLayoutId id="2147484818" r:id="rId10"/>
    <p:sldLayoutId id="214748481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199186" y="692696"/>
            <a:ext cx="7020000" cy="0"/>
          </a:xfrm>
          <a:prstGeom prst="line">
            <a:avLst/>
          </a:prstGeom>
          <a:ln w="57150">
            <a:solidFill>
              <a:srgbClr val="74B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99187" y="692696"/>
            <a:ext cx="2638470" cy="0"/>
          </a:xfrm>
          <a:prstGeom prst="line">
            <a:avLst/>
          </a:prstGeom>
          <a:ln w="57150">
            <a:solidFill>
              <a:srgbClr val="2A8E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Pil-Ho Lee\Desktop\영문상하_기계공학부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726" y="7781"/>
            <a:ext cx="922442" cy="7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468" y="-498"/>
            <a:ext cx="1596983" cy="684000"/>
          </a:xfrm>
          <a:prstGeom prst="rect">
            <a:avLst/>
          </a:prstGeom>
        </p:spPr>
      </p:pic>
      <p:sp>
        <p:nvSpPr>
          <p:cNvPr id="2" name="MSIPCMContentMarking" descr="{&quot;HashCode&quot;:966751382,&quot;Placement&quot;:&quot;Header&quot;,&quot;Top&quot;:0.0,&quot;Left&quot;:323.954651,&quot;SlideWidth&quot;:780,&quot;SlideHeight&quot;:540}"/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44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1" r:id="rId1"/>
    <p:sldLayoutId id="2147484822" r:id="rId2"/>
    <p:sldLayoutId id="2147484823" r:id="rId3"/>
    <p:sldLayoutId id="2147484824" r:id="rId4"/>
    <p:sldLayoutId id="2147484825" r:id="rId5"/>
    <p:sldLayoutId id="2147484826" r:id="rId6"/>
    <p:sldLayoutId id="2147484827" r:id="rId7"/>
    <p:sldLayoutId id="2147484828" r:id="rId8"/>
    <p:sldLayoutId id="2147484829" r:id="rId9"/>
    <p:sldLayoutId id="2147484830" r:id="rId10"/>
    <p:sldLayoutId id="2147484831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199186" y="692696"/>
            <a:ext cx="7020000" cy="0"/>
          </a:xfrm>
          <a:prstGeom prst="line">
            <a:avLst/>
          </a:prstGeom>
          <a:ln w="57150">
            <a:solidFill>
              <a:srgbClr val="74B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99187" y="692696"/>
            <a:ext cx="2638470" cy="0"/>
          </a:xfrm>
          <a:prstGeom prst="line">
            <a:avLst/>
          </a:prstGeom>
          <a:ln w="57150">
            <a:solidFill>
              <a:srgbClr val="2A8E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Pil-Ho Lee\Desktop\영문상하_기계공학부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726" y="7781"/>
            <a:ext cx="922442" cy="7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468" y="-498"/>
            <a:ext cx="1596983" cy="684000"/>
          </a:xfrm>
          <a:prstGeom prst="rect">
            <a:avLst/>
          </a:prstGeom>
        </p:spPr>
      </p:pic>
      <p:sp>
        <p:nvSpPr>
          <p:cNvPr id="2" name="MSIPCMContentMarking" descr="{&quot;HashCode&quot;:966751382,&quot;Placement&quot;:&quot;Header&quot;,&quot;Top&quot;:0.0,&quot;Left&quot;:323.954651,&quot;SlideWidth&quot;:780,&quot;SlideHeight&quot;:540}"/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55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6" r:id="rId1"/>
    <p:sldLayoutId id="2147484837" r:id="rId2"/>
    <p:sldLayoutId id="2147484838" r:id="rId3"/>
    <p:sldLayoutId id="2147484839" r:id="rId4"/>
    <p:sldLayoutId id="2147484840" r:id="rId5"/>
    <p:sldLayoutId id="2147484841" r:id="rId6"/>
    <p:sldLayoutId id="2147484842" r:id="rId7"/>
    <p:sldLayoutId id="2147484843" r:id="rId8"/>
    <p:sldLayoutId id="2147484844" r:id="rId9"/>
    <p:sldLayoutId id="2147484845" r:id="rId10"/>
    <p:sldLayoutId id="2147484846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5.jpeg"/><Relationship Id="rId10" Type="http://schemas.openxmlformats.org/officeDocument/2006/relationships/image" Target="../media/image11.png"/><Relationship Id="rId4" Type="http://schemas.openxmlformats.org/officeDocument/2006/relationships/image" Target="../media/image4.jpeg"/><Relationship Id="rId9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3" Type="http://schemas.openxmlformats.org/officeDocument/2006/relationships/image" Target="../media/image49.png"/><Relationship Id="rId7" Type="http://schemas.openxmlformats.org/officeDocument/2006/relationships/image" Target="../media/image5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9"/>
              <p:cNvSpPr txBox="1">
                <a:spLocks noChangeArrowheads="1"/>
              </p:cNvSpPr>
              <p:nvPr/>
            </p:nvSpPr>
            <p:spPr bwMode="auto">
              <a:xfrm>
                <a:off x="221855" y="690564"/>
                <a:ext cx="9546680" cy="16679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kumimoji="0" lang="en-US" altLang="ko-KR" sz="2000" dirty="0">
                    <a:solidFill>
                      <a:prstClr val="black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▌</a:t>
                </a:r>
                <a:r>
                  <a:rPr kumimoji="0" lang="ko-KR" altLang="en-US" sz="2000" dirty="0">
                    <a:solidFill>
                      <a:prstClr val="black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로봇 </a:t>
                </a:r>
                <a:r>
                  <a:rPr kumimoji="0" lang="ko-KR" altLang="en-US" sz="2000" dirty="0" err="1">
                    <a:solidFill>
                      <a:prstClr val="black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스폿</a:t>
                </a:r>
                <a:r>
                  <a:rPr kumimoji="0" lang="ko-KR" altLang="en-US" sz="2000" dirty="0">
                    <a:solidFill>
                      <a:prstClr val="black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 용접 고장 진단 알고리즘 구축</a:t>
                </a:r>
                <a:endParaRPr kumimoji="0" lang="en-US" altLang="ko-KR" sz="2000" dirty="0">
                  <a:solidFill>
                    <a:prstClr val="black"/>
                  </a:solidFill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base" latinLnBrk="1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   -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자동차 제조용 로봇으로 사용되는 </a:t>
                </a:r>
                <a:r>
                  <a:rPr kumimoji="0" lang="ko-KR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스폿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 용접 로봇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은 일정 주기마다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전극 교체 필요</a:t>
                </a:r>
                <a:endPara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base" latinLnBrk="1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      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kumimoji="0" lang="ko-KR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스폿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 용접 횟수가 증가함에 따라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전극 팁 마모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로 인해 용접 품질 저하 </a:t>
                </a:r>
                <a:r>
                  <a:rPr kumimoji="0" lang="en-US" altLang="ko-KR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kumimoji="0" lang="en-US" altLang="ko-K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𝑬</m:t>
                    </m:r>
                    <m:r>
                      <a:rPr kumimoji="0" lang="en-US" altLang="ko-K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=</m:t>
                    </m:r>
                    <m:r>
                      <a:rPr kumimoji="0" lang="en-US" altLang="ko-K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𝒌</m:t>
                    </m:r>
                    <m:sSup>
                      <m:sSupPr>
                        <m:ctrlPr>
                          <a:rPr kumimoji="0" lang="en-US" altLang="ko-KR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Y견고딕" pitchFamily="18" charset="-127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kumimoji="0" lang="en-US" altLang="ko-KR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Y견고딕" pitchFamily="18" charset="-127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𝑰</m:t>
                        </m:r>
                      </m:e>
                      <m:sup>
                        <m:r>
                          <a:rPr kumimoji="0" lang="en-US" altLang="ko-KR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Y견고딕" pitchFamily="18" charset="-127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p>
                    <m:r>
                      <a:rPr kumimoji="0" lang="en-US" altLang="ko-K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𝑹𝒕</m:t>
                    </m:r>
                  </m:oMath>
                </a14:m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]</a:t>
                </a:r>
              </a:p>
              <a:p>
                <a:pPr marL="0" marR="0" lvl="0" indent="0" algn="l" defTabSz="914400" rtl="0" eaLnBrk="1" fontAlgn="base" latinLnBrk="1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      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정상 품질 기준 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: </a:t>
                </a:r>
                <a:r>
                  <a:rPr kumimoji="0"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Nugget size 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&gt; </a:t>
                </a:r>
                <a:r>
                  <a:rPr kumimoji="0"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3.58mm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 =</a:t>
                </a:r>
                <a14:m>
                  <m:oMath xmlns:m="http://schemas.openxmlformats.org/officeDocument/2006/math">
                    <m:r>
                      <a:rPr kumimoji="0" lang="en-US" altLang="ko-KR" sz="1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a:rPr kumimoji="0" lang="en-US" altLang="ko-K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a:rPr kumimoji="0" lang="en-US" altLang="ko-KR" sz="14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𝟒</m:t>
                    </m:r>
                    <m:rad>
                      <m:radPr>
                        <m:degHide m:val="on"/>
                        <m:ctrlPr>
                          <a:rPr kumimoji="0" lang="en-US" altLang="ko-KR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Y견고딕" pitchFamily="18" charset="-127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kumimoji="0" lang="en-US" altLang="ko-KR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Y견고딕" pitchFamily="18" charset="-127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𝒕</m:t>
                        </m:r>
                      </m:e>
                    </m:rad>
                  </m:oMath>
                </a14:m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   [t =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시편 두께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(0.8mm)]</a:t>
                </a:r>
              </a:p>
              <a:p>
                <a:pPr marL="0" marR="0" lvl="0" indent="0" algn="l" defTabSz="914400" rtl="0" eaLnBrk="1" fontAlgn="base" latinLnBrk="1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   -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로봇에 센서 부착하여 </a:t>
                </a:r>
                <a:r>
                  <a:rPr kumimoji="0" lang="en-US" altLang="ko-KR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HY견고딕" pitchFamily="18" charset="-127"/>
                    <a:cs typeface="Arial" panose="020B0604020202020204" pitchFamily="34" charset="0"/>
                  </a:rPr>
                  <a:t>GI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HY견고딕" pitchFamily="18" charset="-127"/>
                    <a:cs typeface="Arial" panose="020B0604020202020204" pitchFamily="34" charset="0"/>
                  </a:rPr>
                  <a:t>강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에 대해 가속도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,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전압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,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전류 시계열 데이터 확보 </a:t>
                </a:r>
                <a:r>
                  <a:rPr kumimoji="0"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후 </a:t>
                </a:r>
                <a:r>
                  <a:rPr kumimoji="0" lang="ko-KR" altLang="en-US" sz="1400" dirty="0">
                    <a:solidFill>
                      <a:schemeClr val="accent1"/>
                    </a:solidFill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고장 진단 알고리즘 구축</a:t>
                </a:r>
                <a:endParaRPr kumimoji="0" lang="en-US" altLang="ko-KR" sz="1400" dirty="0">
                  <a:solidFill>
                    <a:schemeClr val="accent1"/>
                  </a:solidFill>
                  <a:latin typeface="HY견고딕" pitchFamily="18" charset="-127"/>
                  <a:ea typeface="HY견고딕" pitchFamily="18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855" y="690564"/>
                <a:ext cx="9546680" cy="1667957"/>
              </a:xfrm>
              <a:prstGeom prst="rect">
                <a:avLst/>
              </a:prstGeom>
              <a:blipFill>
                <a:blip r:embed="rId3"/>
                <a:stretch>
                  <a:fillRect l="-639" b="-32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1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1AAA37EB-0613-52C7-E633-E9FA9DE97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24" y="3564015"/>
            <a:ext cx="10356051" cy="135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lang="ko-KR" altLang="en-US" sz="20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배터리팩</a:t>
            </a:r>
            <a:r>
              <a:rPr lang="ko-KR" altLang="en-US" sz="20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하우징커버</a:t>
            </a:r>
            <a:r>
              <a:rPr lang="ko-KR" altLang="en-US" sz="20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사출 공정 최적화</a:t>
            </a:r>
            <a:endParaRPr lang="en-US" altLang="ko-KR" sz="20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사출 공정은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기존 작업자 경험에 의해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Trial &amp; Error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방법으로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최적 공정 변수 도출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많은 시간 소비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소재 및 구조 변경에 따른 부족한 데이터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공정변수에 따른 품질 값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만으로 최적 공정 변수 도출 필요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-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공정변수 및 압력 시계열 데이터 기반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품질 예측 모델 구축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유전 알고리즘 기반 최적 공정변수 도출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C0039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데이터 증강</a:t>
            </a:r>
            <a:endParaRPr kumimoji="0" lang="en-US" altLang="ko-KR" sz="2000" dirty="0">
              <a:solidFill>
                <a:srgbClr val="AC0039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7" name="_x339606896">
            <a:extLst>
              <a:ext uri="{FF2B5EF4-FFF2-40B4-BE49-F238E27FC236}">
                <a16:creationId xmlns:a16="http://schemas.microsoft.com/office/drawing/2014/main" id="{FBE1FD2B-33AC-0032-C4EB-093EA5BC78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41"/>
          <a:stretch/>
        </p:blipFill>
        <p:spPr bwMode="auto">
          <a:xfrm>
            <a:off x="889175" y="2364991"/>
            <a:ext cx="2206440" cy="98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_x339606896">
            <a:extLst>
              <a:ext uri="{FF2B5EF4-FFF2-40B4-BE49-F238E27FC236}">
                <a16:creationId xmlns:a16="http://schemas.microsoft.com/office/drawing/2014/main" id="{349178B5-D55D-4DB5-A0A7-B316DA85E8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58"/>
          <a:stretch/>
        </p:blipFill>
        <p:spPr bwMode="auto">
          <a:xfrm>
            <a:off x="3884485" y="2368169"/>
            <a:ext cx="2206440" cy="97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955068-5AEA-18D4-2A62-81DFDB5F53D4}"/>
              </a:ext>
            </a:extLst>
          </p:cNvPr>
          <p:cNvSpPr txBox="1"/>
          <p:nvPr/>
        </p:nvSpPr>
        <p:spPr>
          <a:xfrm>
            <a:off x="555075" y="3312357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Nugget size (Normal)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927017-686B-FBC8-DBB1-715DFD99045B}"/>
              </a:ext>
            </a:extLst>
          </p:cNvPr>
          <p:cNvSpPr txBox="1"/>
          <p:nvPr/>
        </p:nvSpPr>
        <p:spPr>
          <a:xfrm>
            <a:off x="4028814" y="3331407"/>
            <a:ext cx="1917783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Nugget size (Abnormal)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FA954-F878-A853-9932-DC9F4E4BFFE8}"/>
              </a:ext>
            </a:extLst>
          </p:cNvPr>
          <p:cNvSpPr txBox="1"/>
          <p:nvPr/>
        </p:nvSpPr>
        <p:spPr>
          <a:xfrm>
            <a:off x="6982530" y="3331407"/>
            <a:ext cx="1836688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데이터 수집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Testbed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988400-E094-17AB-0525-BEC35C2B292C}"/>
              </a:ext>
            </a:extLst>
          </p:cNvPr>
          <p:cNvGrpSpPr/>
          <p:nvPr/>
        </p:nvGrpSpPr>
        <p:grpSpPr>
          <a:xfrm>
            <a:off x="6796668" y="2327910"/>
            <a:ext cx="2208413" cy="1124601"/>
            <a:chOff x="6796668" y="2343150"/>
            <a:chExt cx="2208413" cy="112460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FD647B5-5CEC-B1A8-A882-A306F426C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96668" y="2343150"/>
              <a:ext cx="2208413" cy="1124601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DB90CAF-F3DC-AEBB-BDB0-8491A5B4EBCA}"/>
                </a:ext>
              </a:extLst>
            </p:cNvPr>
            <p:cNvSpPr/>
            <p:nvPr/>
          </p:nvSpPr>
          <p:spPr>
            <a:xfrm>
              <a:off x="7080820" y="3343610"/>
              <a:ext cx="647130" cy="900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3C9A0E4-345B-4383-3102-4CA2BD51A347}"/>
              </a:ext>
            </a:extLst>
          </p:cNvPr>
          <p:cNvSpPr/>
          <p:nvPr/>
        </p:nvSpPr>
        <p:spPr>
          <a:xfrm>
            <a:off x="677525" y="5077381"/>
            <a:ext cx="2770698" cy="1591003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75AF9BD-C94C-1ED3-63DE-E3879FFEDFD5}"/>
              </a:ext>
            </a:extLst>
          </p:cNvPr>
          <p:cNvSpPr/>
          <p:nvPr/>
        </p:nvSpPr>
        <p:spPr>
          <a:xfrm>
            <a:off x="3602850" y="5077381"/>
            <a:ext cx="2715120" cy="1591003"/>
          </a:xfrm>
          <a:prstGeom prst="rect">
            <a:avLst/>
          </a:prstGeom>
          <a:noFill/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3DB1B6-5F0B-7F84-E171-166E89C01CAF}"/>
              </a:ext>
            </a:extLst>
          </p:cNvPr>
          <p:cNvSpPr/>
          <p:nvPr/>
        </p:nvSpPr>
        <p:spPr>
          <a:xfrm>
            <a:off x="6472578" y="5077381"/>
            <a:ext cx="2715120" cy="1591003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7A9A869-9B18-3B2C-5997-D8573F99B36F}"/>
              </a:ext>
            </a:extLst>
          </p:cNvPr>
          <p:cNvSpPr/>
          <p:nvPr/>
        </p:nvSpPr>
        <p:spPr>
          <a:xfrm>
            <a:off x="964127" y="4963081"/>
            <a:ext cx="2176875" cy="25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소재 및 구조 최적화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4CC7691-CD66-554B-F7AF-2E72344101F0}"/>
              </a:ext>
            </a:extLst>
          </p:cNvPr>
          <p:cNvSpPr/>
          <p:nvPr/>
        </p:nvSpPr>
        <p:spPr>
          <a:xfrm>
            <a:off x="6739910" y="4928790"/>
            <a:ext cx="2222049" cy="344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생산 과정 중 제품 품질 관리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78DD175-8A35-523A-7C22-41FC586965D2}"/>
              </a:ext>
            </a:extLst>
          </p:cNvPr>
          <p:cNvSpPr/>
          <p:nvPr/>
        </p:nvSpPr>
        <p:spPr>
          <a:xfrm>
            <a:off x="3962120" y="4925830"/>
            <a:ext cx="2084595" cy="347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사출 성형 공정</a:t>
            </a:r>
            <a:endParaRPr lang="en-US" altLang="ko-KR" sz="1200" dirty="0">
              <a:solidFill>
                <a:schemeClr val="accent4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최적 공정변수 도출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BBE8362C-DC57-7547-94F9-B854DFD3506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-264" b="1"/>
          <a:stretch/>
        </p:blipFill>
        <p:spPr>
          <a:xfrm>
            <a:off x="784892" y="5358196"/>
            <a:ext cx="1244740" cy="881838"/>
          </a:xfrm>
          <a:prstGeom prst="rec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C958287E-5761-6F6B-7821-472AC9B9C17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71" t="4065" r="1161" b="3668"/>
          <a:stretch/>
        </p:blipFill>
        <p:spPr>
          <a:xfrm>
            <a:off x="2122068" y="5358034"/>
            <a:ext cx="1255757" cy="882000"/>
          </a:xfrm>
          <a:prstGeom prst="rec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65BFFCC-4B4A-0AFD-ED4A-66FFB9E14A19}"/>
              </a:ext>
            </a:extLst>
          </p:cNvPr>
          <p:cNvSpPr txBox="1"/>
          <p:nvPr/>
        </p:nvSpPr>
        <p:spPr>
          <a:xfrm>
            <a:off x="890855" y="6283618"/>
            <a:ext cx="1032815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단순 모델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8ACA58-1708-F90B-4F91-CFA3CCF7B3FF}"/>
              </a:ext>
            </a:extLst>
          </p:cNvPr>
          <p:cNvSpPr txBox="1"/>
          <p:nvPr/>
        </p:nvSpPr>
        <p:spPr>
          <a:xfrm>
            <a:off x="2223061" y="6283618"/>
            <a:ext cx="1032815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최적 모델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68F647A-6227-A266-E296-19CA1E2C540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3" t="5974" r="478" b="13341"/>
          <a:stretch/>
        </p:blipFill>
        <p:spPr>
          <a:xfrm>
            <a:off x="3750430" y="5357223"/>
            <a:ext cx="1464448" cy="927761"/>
          </a:xfrm>
          <a:prstGeom prst="rect">
            <a:avLst/>
          </a:prstGeom>
        </p:spPr>
      </p:pic>
      <p:sp>
        <p:nvSpPr>
          <p:cNvPr id="52" name="TextBox 98">
            <a:extLst>
              <a:ext uri="{FF2B5EF4-FFF2-40B4-BE49-F238E27FC236}">
                <a16:creationId xmlns:a16="http://schemas.microsoft.com/office/drawing/2014/main" id="{1F5C0B18-78A7-670E-33B8-59DA1C8B0602}"/>
              </a:ext>
            </a:extLst>
          </p:cNvPr>
          <p:cNvSpPr txBox="1"/>
          <p:nvPr/>
        </p:nvSpPr>
        <p:spPr>
          <a:xfrm>
            <a:off x="3722739" y="6268274"/>
            <a:ext cx="1531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Injection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Molding</a:t>
            </a:r>
          </a:p>
          <a:p>
            <a:pPr algn="ctr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Machine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53" name="그림 11">
            <a:extLst>
              <a:ext uri="{FF2B5EF4-FFF2-40B4-BE49-F238E27FC236}">
                <a16:creationId xmlns:a16="http://schemas.microsoft.com/office/drawing/2014/main" id="{AAF5970B-A363-6C20-F645-9B9698505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5210509" y="5385796"/>
            <a:ext cx="462571" cy="961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6A9773A-FC80-91D4-0B2B-6E2A18E000D5}"/>
              </a:ext>
            </a:extLst>
          </p:cNvPr>
          <p:cNvSpPr txBox="1"/>
          <p:nvPr/>
        </p:nvSpPr>
        <p:spPr>
          <a:xfrm>
            <a:off x="5613266" y="5495501"/>
            <a:ext cx="68988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금형온도</a:t>
            </a:r>
            <a:r>
              <a:rPr kumimoji="0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kumimoji="0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사출속도</a:t>
            </a:r>
            <a:r>
              <a:rPr kumimoji="0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kumimoji="0"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보압</a:t>
            </a:r>
            <a:endParaRPr kumimoji="0"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E4FA1E4E-FBF9-1B61-5D4C-46E00D1439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3370" y="5328830"/>
            <a:ext cx="2022290" cy="102176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AD7C75A-253D-7F6F-3A3C-376D4DED61D4}"/>
              </a:ext>
            </a:extLst>
          </p:cNvPr>
          <p:cNvSpPr txBox="1"/>
          <p:nvPr/>
        </p:nvSpPr>
        <p:spPr>
          <a:xfrm>
            <a:off x="7170210" y="6302522"/>
            <a:ext cx="1190245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품질 모니터링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4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257766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471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ko-KR" altLang="en-US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로봇 </a:t>
            </a:r>
            <a:r>
              <a:rPr kumimoji="0" lang="ko-KR" altLang="en-US" sz="2000" dirty="0" err="1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스폿</a:t>
            </a:r>
            <a:r>
              <a:rPr kumimoji="0" lang="ko-KR" altLang="en-US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용접 고장 진단 알고리즘 구축</a:t>
            </a:r>
            <a:endParaRPr kumimoji="0" lang="en-US" altLang="ko-KR" sz="20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>
                <a:solidFill>
                  <a:schemeClr val="accent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용접 시계열 데이터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당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270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개의 </a:t>
            </a:r>
            <a:r>
              <a:rPr kumimoji="0" lang="ko-KR" altLang="en-US" sz="1400" dirty="0">
                <a:solidFill>
                  <a:schemeClr val="accent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특징 값 추출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(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3 sensors, time domain + 8 wavelet level, 10 Features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정상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180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개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고장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180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개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DATA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의 특징 값 추출 후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t-test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결과값 </a:t>
            </a:r>
            <a:r>
              <a:rPr kumimoji="0" lang="en-US" altLang="ko-KR" sz="1400" b="1" dirty="0">
                <a:solidFill>
                  <a:srgbClr val="CE767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P-value</a:t>
            </a:r>
            <a:r>
              <a:rPr kumimoji="0" lang="en-US" altLang="ko-KR" sz="1400" dirty="0">
                <a:solidFill>
                  <a:srgbClr val="CE767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srgbClr val="CE767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상위 </a:t>
            </a:r>
            <a:r>
              <a:rPr kumimoji="0" lang="en-US" altLang="ko-KR" sz="1400" b="1" dirty="0">
                <a:solidFill>
                  <a:srgbClr val="CE767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30</a:t>
            </a:r>
            <a:r>
              <a:rPr kumimoji="0" lang="ko-KR" altLang="en-US" sz="1400" dirty="0">
                <a:solidFill>
                  <a:srgbClr val="CE767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개 특징 선택</a:t>
            </a: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en-US" altLang="ko-KR" sz="1400" b="1" dirty="0">
                <a:solidFill>
                  <a:schemeClr val="accent3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3</a:t>
            </a:r>
            <a:r>
              <a:rPr kumimoji="0" lang="ko-KR" altLang="en-US" sz="1400" dirty="0">
                <a:solidFill>
                  <a:schemeClr val="accent3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가지 예측모델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SVM, KNN, ANN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생성 후 </a:t>
            </a:r>
            <a:r>
              <a:rPr kumimoji="0" lang="en-US" altLang="ko-KR" sz="1400" b="1" dirty="0">
                <a:solidFill>
                  <a:schemeClr val="accent3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K fold </a:t>
            </a:r>
            <a:r>
              <a:rPr kumimoji="0" lang="ko-KR" altLang="en-US" sz="1400" dirty="0">
                <a:solidFill>
                  <a:schemeClr val="accent3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교차 검증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수행 결과 </a:t>
            </a:r>
            <a:r>
              <a:rPr kumimoji="0" lang="en-US" altLang="ko-KR" sz="1400" b="1" dirty="0">
                <a:solidFill>
                  <a:schemeClr val="accent3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ANN</a:t>
            </a:r>
            <a:r>
              <a:rPr kumimoji="0" lang="en-US" altLang="ko-KR" sz="1400" dirty="0">
                <a:solidFill>
                  <a:schemeClr val="accent3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schemeClr val="accent3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성능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이 가장 </a:t>
            </a:r>
            <a:r>
              <a:rPr kumimoji="0" lang="ko-KR" altLang="en-US" sz="1400" dirty="0">
                <a:solidFill>
                  <a:schemeClr val="accent3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우수</a:t>
            </a:r>
            <a:endParaRPr kumimoji="0" lang="en-US" altLang="ko-KR" sz="1400" dirty="0">
              <a:solidFill>
                <a:schemeClr val="accent3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-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GI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강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0.6t</a:t>
            </a:r>
            <a:r>
              <a:rPr kumimoji="0"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및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0.8t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에 대한 정상과 고장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군집 확인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(</a:t>
            </a:r>
            <a:r>
              <a:rPr kumimoji="0" lang="en-US" altLang="ko-KR" sz="1400" b="1" dirty="0">
                <a:solidFill>
                  <a:schemeClr val="accent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K means clustering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)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결과 </a:t>
            </a:r>
            <a:r>
              <a:rPr kumimoji="0" lang="ko-KR" altLang="en-US" sz="1400" dirty="0">
                <a:solidFill>
                  <a:schemeClr val="accent4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두께에 대한 강건성 검증 확인</a:t>
            </a:r>
            <a:endParaRPr kumimoji="0" lang="en-US" altLang="ko-KR" sz="1400" dirty="0">
              <a:solidFill>
                <a:schemeClr val="accent4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2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AAE6DA-A77A-3A0E-519F-1395CB801BBC}"/>
              </a:ext>
            </a:extLst>
          </p:cNvPr>
          <p:cNvSpPr txBox="1"/>
          <p:nvPr/>
        </p:nvSpPr>
        <p:spPr>
          <a:xfrm>
            <a:off x="199186" y="60064"/>
            <a:ext cx="102924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4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Project Detail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F90FFD-5571-FB11-CA51-F34E4353E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41" y="1861698"/>
            <a:ext cx="2056052" cy="3671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6A84D8E-7C92-B512-DCDE-81F0F8513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567" y="1861698"/>
            <a:ext cx="3377800" cy="252417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2F73448D-8B37-FD26-F6EE-F1E394CEB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444" y="1840188"/>
            <a:ext cx="1265832" cy="976499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A2A3E4D3-D15F-1EE5-9F86-19E71EB61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4968" y="1826186"/>
            <a:ext cx="1706257" cy="964794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7FDBA5FF-7DC9-0049-C670-062D6972D0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2825" y="3175573"/>
            <a:ext cx="1721095" cy="97732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88946CD-A370-4CEA-CDCF-131C604580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5526" y="3895725"/>
            <a:ext cx="993820" cy="390526"/>
          </a:xfrm>
          <a:prstGeom prst="rect">
            <a:avLst/>
          </a:prstGeom>
        </p:spPr>
      </p:pic>
      <p:pic>
        <p:nvPicPr>
          <p:cNvPr id="68" name="Picture 2">
            <a:extLst>
              <a:ext uri="{FF2B5EF4-FFF2-40B4-BE49-F238E27FC236}">
                <a16:creationId xmlns:a16="http://schemas.microsoft.com/office/drawing/2014/main" id="{35731B7E-D3CC-EBB4-FAC9-CD0A8D36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295" y="3219450"/>
            <a:ext cx="1548826" cy="104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9018BA73-A7FE-414B-9628-5F68EB78A897}"/>
              </a:ext>
            </a:extLst>
          </p:cNvPr>
          <p:cNvGraphicFramePr>
            <a:graphicFrameLocks noGrp="1"/>
          </p:cNvGraphicFramePr>
          <p:nvPr/>
        </p:nvGraphicFramePr>
        <p:xfrm>
          <a:off x="435819" y="5151238"/>
          <a:ext cx="2367943" cy="1244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541">
                  <a:extLst>
                    <a:ext uri="{9D8B030D-6E8A-4147-A177-3AD203B41FA5}">
                      <a16:colId xmlns:a16="http://schemas.microsoft.com/office/drawing/2014/main" val="2279437104"/>
                    </a:ext>
                  </a:extLst>
                </a:gridCol>
                <a:gridCol w="574134">
                  <a:extLst>
                    <a:ext uri="{9D8B030D-6E8A-4147-A177-3AD203B41FA5}">
                      <a16:colId xmlns:a16="http://schemas.microsoft.com/office/drawing/2014/main" val="3957815180"/>
                    </a:ext>
                  </a:extLst>
                </a:gridCol>
                <a:gridCol w="574134">
                  <a:extLst>
                    <a:ext uri="{9D8B030D-6E8A-4147-A177-3AD203B41FA5}">
                      <a16:colId xmlns:a16="http://schemas.microsoft.com/office/drawing/2014/main" val="291687709"/>
                    </a:ext>
                  </a:extLst>
                </a:gridCol>
                <a:gridCol w="574134">
                  <a:extLst>
                    <a:ext uri="{9D8B030D-6E8A-4147-A177-3AD203B41FA5}">
                      <a16:colId xmlns:a16="http://schemas.microsoft.com/office/drawing/2014/main" val="1730619824"/>
                    </a:ext>
                  </a:extLst>
                </a:gridCol>
              </a:tblGrid>
              <a:tr h="165979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(%)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017" marR="60017" marT="30008" marB="30008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521" marR="55521" marT="27760" marB="2776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521" marR="55521" marT="27760" marB="27760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667255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SVM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KNN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723261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1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90.62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93.75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96.88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13506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2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95.31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98.44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011351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3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96.88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29980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4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98.44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04859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5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98.44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924877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 Average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96.25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98.44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99.06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348039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Score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97.50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97.50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629247"/>
                  </a:ext>
                </a:extLst>
              </a:tr>
            </a:tbl>
          </a:graphicData>
        </a:graphic>
      </p:graphicFrame>
      <p:pic>
        <p:nvPicPr>
          <p:cNvPr id="70" name="그림 69">
            <a:extLst>
              <a:ext uri="{FF2B5EF4-FFF2-40B4-BE49-F238E27FC236}">
                <a16:creationId xmlns:a16="http://schemas.microsoft.com/office/drawing/2014/main" id="{FCBC54EA-B072-C432-88C7-2BEB1324FE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1361" y="5139190"/>
            <a:ext cx="2566704" cy="1209171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832A10BA-DAA3-6331-4776-50F3FC4C4A9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58130"/>
          <a:stretch/>
        </p:blipFill>
        <p:spPr>
          <a:xfrm>
            <a:off x="5713076" y="5202207"/>
            <a:ext cx="1800243" cy="1197123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F39D1D00-13F6-7CFB-9BD3-78929ADF15D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7911"/>
          <a:stretch/>
        </p:blipFill>
        <p:spPr>
          <a:xfrm>
            <a:off x="7962899" y="5202207"/>
            <a:ext cx="1809643" cy="119712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371536CF-2112-2D92-0637-1B80D22ACF09}"/>
              </a:ext>
            </a:extLst>
          </p:cNvPr>
          <p:cNvSpPr txBox="1"/>
          <p:nvPr/>
        </p:nvSpPr>
        <p:spPr>
          <a:xfrm>
            <a:off x="7334983" y="5870390"/>
            <a:ext cx="843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Clustering</a:t>
            </a:r>
          </a:p>
          <a:p>
            <a:pPr algn="ctr"/>
            <a:r>
              <a:rPr kumimoji="0"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(n=2)</a:t>
            </a:r>
            <a:r>
              <a:rPr kumimoji="0"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화살표: 오른쪽 73">
            <a:extLst>
              <a:ext uri="{FF2B5EF4-FFF2-40B4-BE49-F238E27FC236}">
                <a16:creationId xmlns:a16="http://schemas.microsoft.com/office/drawing/2014/main" id="{ACEBA8BE-CFCA-7C66-3CC4-34DBD167EC31}"/>
              </a:ext>
            </a:extLst>
          </p:cNvPr>
          <p:cNvSpPr/>
          <p:nvPr/>
        </p:nvSpPr>
        <p:spPr>
          <a:xfrm>
            <a:off x="7523845" y="5720846"/>
            <a:ext cx="473262" cy="144016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014689C-4E86-C742-456E-33EBCD23EBDA}"/>
              </a:ext>
            </a:extLst>
          </p:cNvPr>
          <p:cNvSpPr txBox="1"/>
          <p:nvPr/>
        </p:nvSpPr>
        <p:spPr>
          <a:xfrm>
            <a:off x="2999346" y="6401158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ANN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분류 성능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88097C-ED2F-13AA-8FC3-A1311BF6919E}"/>
              </a:ext>
            </a:extLst>
          </p:cNvPr>
          <p:cNvSpPr txBox="1"/>
          <p:nvPr/>
        </p:nvSpPr>
        <p:spPr>
          <a:xfrm>
            <a:off x="182470" y="6401158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예측 모델 분류 성능 비교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BA93F10-E8FA-4922-16D6-BE3D71F0EA5E}"/>
              </a:ext>
            </a:extLst>
          </p:cNvPr>
          <p:cNvSpPr txBox="1"/>
          <p:nvPr/>
        </p:nvSpPr>
        <p:spPr>
          <a:xfrm>
            <a:off x="6435966" y="6401158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비지도 학습 기반 강건성 검증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641C1C65-A84B-C355-E7DE-3A386EC0BEA1}"/>
              </a:ext>
            </a:extLst>
          </p:cNvPr>
          <p:cNvSpPr/>
          <p:nvPr/>
        </p:nvSpPr>
        <p:spPr>
          <a:xfrm>
            <a:off x="7939088" y="2256429"/>
            <a:ext cx="203080" cy="14401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6B4E8EAC-A52E-4AF9-0BB0-DD2F61A90A98}"/>
              </a:ext>
            </a:extLst>
          </p:cNvPr>
          <p:cNvSpPr/>
          <p:nvPr/>
        </p:nvSpPr>
        <p:spPr>
          <a:xfrm flipH="1">
            <a:off x="7939088" y="3615859"/>
            <a:ext cx="203080" cy="14401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42199F8C-5948-3D49-42D4-86A7793E189E}"/>
              </a:ext>
            </a:extLst>
          </p:cNvPr>
          <p:cNvSpPr/>
          <p:nvPr/>
        </p:nvSpPr>
        <p:spPr>
          <a:xfrm rot="5400000">
            <a:off x="8832253" y="2907565"/>
            <a:ext cx="282238" cy="14401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FC72625-8BDF-0B53-791D-1E1D5465F4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110" y="2195125"/>
            <a:ext cx="6049271" cy="215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619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lang="ko-KR" altLang="en-US" sz="20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배터리팩</a:t>
            </a:r>
            <a:r>
              <a:rPr lang="ko-KR" altLang="en-US" sz="20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하우징커버</a:t>
            </a:r>
            <a:r>
              <a:rPr lang="ko-KR" altLang="en-US" sz="20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사출공정 최적화</a:t>
            </a:r>
            <a:endParaRPr kumimoji="0" lang="en-US" altLang="ko-KR" sz="20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125case(3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요인</a:t>
            </a:r>
            <a:r>
              <a:rPr kumimoji="0"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5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수준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에 대하여 공정변수에 따른 품질 값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압력 시계열 데이터 수집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반응표면법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en-US" altLang="ko-KR" sz="1400" b="1" dirty="0">
                <a:solidFill>
                  <a:schemeClr val="accent3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ANN, CNN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공정변수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에 따른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품질 예측 모델 구축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-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노즐 및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7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개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Gate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압력 시계열 데이터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품질 예측 모델 구축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MAPE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그래프를 통해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Overfitting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이 아님을 확인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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특징값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(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Pi, Ph, Pp, </a:t>
            </a:r>
            <a:r>
              <a:rPr kumimoji="0"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Pr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추출 후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VIF(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Variance Inflation Factor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10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이하인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특징값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선택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하여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회귀식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구축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noProof="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- </a:t>
            </a:r>
            <a:r>
              <a:rPr kumimoji="0" lang="en-US" altLang="ko-KR" sz="1400" b="1" dirty="0">
                <a:solidFill>
                  <a:schemeClr val="accent6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Genetic Algorithm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</a:t>
            </a:r>
            <a:r>
              <a:rPr kumimoji="0" lang="ko-KR" altLang="en-US" sz="1400" dirty="0">
                <a:solidFill>
                  <a:schemeClr val="accent6"/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최적 공정 변수 도출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- </a:t>
            </a:r>
            <a:r>
              <a:rPr kumimoji="0" lang="en-US" altLang="ko-KR" sz="1400" b="1" dirty="0">
                <a:solidFill>
                  <a:schemeClr val="accent1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VAE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Variational</a:t>
            </a:r>
            <a:r>
              <a:rPr kumimoji="0"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Auto-Encoder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데이터 증강</a:t>
            </a:r>
            <a:endParaRPr kumimoji="0" lang="en-US" altLang="ko-KR" sz="1400" dirty="0">
              <a:solidFill>
                <a:schemeClr val="accent1"/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시뮬레이션 결과 오차율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0.02%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                   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품질 예측 알고리즘 성능 약간 향상 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                                              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전이학습 적용 예정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3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AAE6DA-A77A-3A0E-519F-1395CB801BBC}"/>
              </a:ext>
            </a:extLst>
          </p:cNvPr>
          <p:cNvSpPr txBox="1"/>
          <p:nvPr/>
        </p:nvSpPr>
        <p:spPr>
          <a:xfrm>
            <a:off x="199186" y="60064"/>
            <a:ext cx="102924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4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Project Detail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45C4D267-184E-F1D1-B114-2BC633465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612" y="2692706"/>
            <a:ext cx="2039060" cy="138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DC03465-5C2B-9DE9-BC73-59FBF9E72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23" y="1253935"/>
            <a:ext cx="1293104" cy="9331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7690EAF2-7D46-401D-A839-698373C0C62D}"/>
              </a:ext>
            </a:extLst>
          </p:cNvPr>
          <p:cNvGraphicFramePr>
            <a:graphicFrameLocks noGrp="1"/>
          </p:cNvGraphicFramePr>
          <p:nvPr/>
        </p:nvGraphicFramePr>
        <p:xfrm>
          <a:off x="6230560" y="1511673"/>
          <a:ext cx="2134445" cy="671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970">
                  <a:extLst>
                    <a:ext uri="{9D8B030D-6E8A-4147-A177-3AD203B41FA5}">
                      <a16:colId xmlns:a16="http://schemas.microsoft.com/office/drawing/2014/main" val="2279437104"/>
                    </a:ext>
                  </a:extLst>
                </a:gridCol>
                <a:gridCol w="294895">
                  <a:extLst>
                    <a:ext uri="{9D8B030D-6E8A-4147-A177-3AD203B41FA5}">
                      <a16:colId xmlns:a16="http://schemas.microsoft.com/office/drawing/2014/main" val="1730619824"/>
                    </a:ext>
                  </a:extLst>
                </a:gridCol>
                <a:gridCol w="294895">
                  <a:extLst>
                    <a:ext uri="{9D8B030D-6E8A-4147-A177-3AD203B41FA5}">
                      <a16:colId xmlns:a16="http://schemas.microsoft.com/office/drawing/2014/main" val="2893598008"/>
                    </a:ext>
                  </a:extLst>
                </a:gridCol>
                <a:gridCol w="294895">
                  <a:extLst>
                    <a:ext uri="{9D8B030D-6E8A-4147-A177-3AD203B41FA5}">
                      <a16:colId xmlns:a16="http://schemas.microsoft.com/office/drawing/2014/main" val="4032001310"/>
                    </a:ext>
                  </a:extLst>
                </a:gridCol>
                <a:gridCol w="294895">
                  <a:extLst>
                    <a:ext uri="{9D8B030D-6E8A-4147-A177-3AD203B41FA5}">
                      <a16:colId xmlns:a16="http://schemas.microsoft.com/office/drawing/2014/main" val="3794575731"/>
                    </a:ext>
                  </a:extLst>
                </a:gridCol>
                <a:gridCol w="294895">
                  <a:extLst>
                    <a:ext uri="{9D8B030D-6E8A-4147-A177-3AD203B41FA5}">
                      <a16:colId xmlns:a16="http://schemas.microsoft.com/office/drawing/2014/main" val="2801144332"/>
                    </a:ext>
                  </a:extLst>
                </a:gridCol>
              </a:tblGrid>
              <a:tr h="135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Level </a:t>
                      </a:r>
                      <a:endParaRPr lang="ko-KR" altLang="en-US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765" marR="5765" marT="5765" marB="57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5765" marR="5765" marT="5765" marB="5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5765" marR="5765" marT="5765" marB="5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7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5765" marR="5765" marT="5765" marB="5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7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5765" marR="5765" marT="5765" marB="5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7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5765" marR="5765" marT="5765" marB="5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13506"/>
                  </a:ext>
                </a:extLst>
              </a:tr>
              <a:tr h="1785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보압</a:t>
                      </a:r>
                      <a:r>
                        <a:rPr lang="ko-KR" alt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(MPa)</a:t>
                      </a:r>
                      <a:endParaRPr lang="ko-KR" altLang="en-US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765" marR="5765" marT="5765" marB="57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29.58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59.16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88.74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118.32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147.9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011351"/>
                  </a:ext>
                </a:extLst>
              </a:tr>
              <a:tr h="1785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사출 속도 </a:t>
                      </a:r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(cc/s)</a:t>
                      </a:r>
                      <a:endParaRPr lang="ko-KR" altLang="en-US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765" marR="5765" marT="5765" marB="57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180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240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429980"/>
                  </a:ext>
                </a:extLst>
              </a:tr>
              <a:tr h="1785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금형 온도 </a:t>
                      </a:r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℃</a:t>
                      </a:r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765" marR="5765" marT="5765" marB="57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25</a:t>
                      </a:r>
                      <a:endParaRPr lang="en-US" altLang="ko-KR" sz="700" b="0" i="0" u="none" strike="noStrike" kern="12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115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145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04859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11B8D4F8-CD08-A7AA-52A2-29D56F5A5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945" y="2670264"/>
            <a:ext cx="2520091" cy="13462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986B9EB-6ED0-1BE7-B849-80C6B7F7A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990682"/>
            <a:ext cx="1552575" cy="1447143"/>
          </a:xfrm>
          <a:prstGeom prst="rect">
            <a:avLst/>
          </a:prstGeom>
        </p:spPr>
      </p:pic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A69C31EE-ABE6-2FFB-7C0E-EA2433210D54}"/>
              </a:ext>
            </a:extLst>
          </p:cNvPr>
          <p:cNvGraphicFramePr>
            <a:graphicFrameLocks noGrp="1"/>
          </p:cNvGraphicFramePr>
          <p:nvPr/>
        </p:nvGraphicFramePr>
        <p:xfrm>
          <a:off x="1971675" y="5159302"/>
          <a:ext cx="2646523" cy="1078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357">
                  <a:extLst>
                    <a:ext uri="{9D8B030D-6E8A-4147-A177-3AD203B41FA5}">
                      <a16:colId xmlns:a16="http://schemas.microsoft.com/office/drawing/2014/main" val="2343769304"/>
                    </a:ext>
                  </a:extLst>
                </a:gridCol>
                <a:gridCol w="506170">
                  <a:extLst>
                    <a:ext uri="{9D8B030D-6E8A-4147-A177-3AD203B41FA5}">
                      <a16:colId xmlns:a16="http://schemas.microsoft.com/office/drawing/2014/main" val="4023351677"/>
                    </a:ext>
                  </a:extLst>
                </a:gridCol>
                <a:gridCol w="506170">
                  <a:extLst>
                    <a:ext uri="{9D8B030D-6E8A-4147-A177-3AD203B41FA5}">
                      <a16:colId xmlns:a16="http://schemas.microsoft.com/office/drawing/2014/main" val="1470300393"/>
                    </a:ext>
                  </a:extLst>
                </a:gridCol>
                <a:gridCol w="506170">
                  <a:extLst>
                    <a:ext uri="{9D8B030D-6E8A-4147-A177-3AD203B41FA5}">
                      <a16:colId xmlns:a16="http://schemas.microsoft.com/office/drawing/2014/main" val="2370461009"/>
                    </a:ext>
                  </a:extLst>
                </a:gridCol>
                <a:gridCol w="658656">
                  <a:extLst>
                    <a:ext uri="{9D8B030D-6E8A-4147-A177-3AD203B41FA5}">
                      <a16:colId xmlns:a16="http://schemas.microsoft.com/office/drawing/2014/main" val="2383326520"/>
                    </a:ext>
                  </a:extLst>
                </a:gridCol>
              </a:tblGrid>
              <a:tr h="195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Generation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금형 온도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사출 속도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보압</a:t>
                      </a:r>
                      <a:endParaRPr lang="ko-KR" altLang="en-US" sz="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CNN </a:t>
                      </a:r>
                      <a:r>
                        <a:rPr lang="ko-KR" altLang="en-US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예측모델</a:t>
                      </a:r>
                      <a:r>
                        <a:rPr lang="en-US" altLang="ko-KR" sz="6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Filling rate</a:t>
                      </a:r>
                      <a:endParaRPr lang="ko-KR" altLang="en-US" sz="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598958"/>
                  </a:ext>
                </a:extLst>
              </a:tr>
              <a:tr h="176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6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66</a:t>
                      </a:r>
                      <a:endParaRPr lang="en-US" altLang="ko-KR" sz="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1.002318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850704"/>
                  </a:ext>
                </a:extLst>
              </a:tr>
              <a:tr h="1766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6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49</a:t>
                      </a:r>
                      <a:endParaRPr lang="en-US" altLang="ko-KR" sz="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1.001248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037965"/>
                  </a:ext>
                </a:extLst>
              </a:tr>
              <a:tr h="1766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ko-KR" altLang="en-US" sz="6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0.999502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33842"/>
                  </a:ext>
                </a:extLst>
              </a:tr>
              <a:tr h="1766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  <a:endParaRPr lang="ko-KR" altLang="en-US" sz="6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44</a:t>
                      </a:r>
                      <a:endParaRPr lang="en-US" altLang="ko-KR" sz="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1.000134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080006"/>
                  </a:ext>
                </a:extLst>
              </a:tr>
              <a:tr h="1766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245</a:t>
                      </a:r>
                      <a:endParaRPr lang="ko-KR" altLang="en-US" sz="6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1.000067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499025"/>
                  </a:ext>
                </a:extLst>
              </a:tr>
            </a:tbl>
          </a:graphicData>
        </a:graphic>
      </p:graphicFrame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CA35874E-F7CE-4615-5A68-E3C5BBA85AD7}"/>
              </a:ext>
            </a:extLst>
          </p:cNvPr>
          <p:cNvGraphicFramePr>
            <a:graphicFrameLocks noGrp="1"/>
          </p:cNvGraphicFramePr>
          <p:nvPr/>
        </p:nvGraphicFramePr>
        <p:xfrm>
          <a:off x="7831384" y="5590488"/>
          <a:ext cx="2013799" cy="463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31">
                  <a:extLst>
                    <a:ext uri="{9D8B030D-6E8A-4147-A177-3AD203B41FA5}">
                      <a16:colId xmlns:a16="http://schemas.microsoft.com/office/drawing/2014/main" val="2279437104"/>
                    </a:ext>
                  </a:extLst>
                </a:gridCol>
                <a:gridCol w="662434">
                  <a:extLst>
                    <a:ext uri="{9D8B030D-6E8A-4147-A177-3AD203B41FA5}">
                      <a16:colId xmlns:a16="http://schemas.microsoft.com/office/drawing/2014/main" val="3957815180"/>
                    </a:ext>
                  </a:extLst>
                </a:gridCol>
                <a:gridCol w="662434">
                  <a:extLst>
                    <a:ext uri="{9D8B030D-6E8A-4147-A177-3AD203B41FA5}">
                      <a16:colId xmlns:a16="http://schemas.microsoft.com/office/drawing/2014/main" val="2282743051"/>
                    </a:ext>
                  </a:extLst>
                </a:gridCol>
              </a:tblGrid>
              <a:tr h="2547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실제 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Data /</a:t>
                      </a:r>
                    </a:p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가상 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Data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36059" marR="36059" marT="18029" marB="1802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54case / 0case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36059" marR="36059" marT="18029" marB="1802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54case / 27case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36059" marR="36059" marT="18029" marB="18029"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227438"/>
                  </a:ext>
                </a:extLst>
              </a:tr>
              <a:tr h="2087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59" marR="36059" marT="18029" marB="1802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95.37 %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9646" marR="59646" marT="29823" marB="2982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95.46 %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9646" marR="59646" marT="29823" marB="29823"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348039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D9BF776-67ED-78AF-0ECF-4F6351982157}"/>
              </a:ext>
            </a:extLst>
          </p:cNvPr>
          <p:cNvGraphicFramePr>
            <a:graphicFrameLocks noGrp="1"/>
          </p:cNvGraphicFramePr>
          <p:nvPr/>
        </p:nvGraphicFramePr>
        <p:xfrm>
          <a:off x="357847" y="2663915"/>
          <a:ext cx="4629660" cy="1382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80">
                  <a:extLst>
                    <a:ext uri="{9D8B030D-6E8A-4147-A177-3AD203B41FA5}">
                      <a16:colId xmlns:a16="http://schemas.microsoft.com/office/drawing/2014/main" val="2279437104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3957815180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1730619824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2282743051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1658447186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2617924938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303458807"/>
                    </a:ext>
                  </a:extLst>
                </a:gridCol>
              </a:tblGrid>
              <a:tr h="1452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Data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8" marR="40058" marT="20029" marB="2002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RSM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회귀 식</a:t>
                      </a:r>
                    </a:p>
                  </a:txBody>
                  <a:tcPr marL="40058" marR="40058" marT="20029" marB="2002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5280" marR="55280" marT="27640" marB="276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ANN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40058" marR="40058" marT="20029" marB="2002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5280" marR="55280" marT="27640" marB="2764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CNN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40058" marR="40058" marT="20029" marB="2002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5280" marR="55280" marT="27640" marB="2764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227438"/>
                  </a:ext>
                </a:extLst>
              </a:tr>
              <a:tr h="255713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Data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280" marR="55280" marT="27640" marB="2764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Process Parameter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Feature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Process Parameter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Feature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Process Parameter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Feature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723261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1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55.29 %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99.08 %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74.92 %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97.78 %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99.21 %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99.21 %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13506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2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93.91 %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90.07 %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95.85 %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99.06 %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011351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3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93.12 %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99.26 %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94.57 %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97.01 %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99.84 %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99.84 %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29980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4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94.50 %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99.60 %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99.67 %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93.71 %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04859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5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89.28 %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99.66 %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99.16 %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98.00 %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99.78 %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99.78 %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924877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85.22 %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97.53 %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93.18 %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97.11 %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99.67 %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99.67 %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34803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B46329F4-F3B7-40E2-6C27-72C9A50D41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889" y="5317104"/>
            <a:ext cx="2908568" cy="11206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1A343E-7279-23D1-ED88-95BC7B119299}"/>
              </a:ext>
            </a:extLst>
          </p:cNvPr>
          <p:cNvSpPr txBox="1"/>
          <p:nvPr/>
        </p:nvSpPr>
        <p:spPr>
          <a:xfrm>
            <a:off x="1129131" y="4059071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예측 모델 예측 성능 비교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B3B49A-8225-A7C6-F822-82ACAB155D3A}"/>
              </a:ext>
            </a:extLst>
          </p:cNvPr>
          <p:cNvSpPr txBox="1"/>
          <p:nvPr/>
        </p:nvSpPr>
        <p:spPr>
          <a:xfrm>
            <a:off x="5676545" y="4059071"/>
            <a:ext cx="1155795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MAPE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그래프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B5B6C9-28DD-4C97-ADAC-3C3135BF6335}"/>
              </a:ext>
            </a:extLst>
          </p:cNvPr>
          <p:cNvSpPr txBox="1"/>
          <p:nvPr/>
        </p:nvSpPr>
        <p:spPr>
          <a:xfrm>
            <a:off x="7067670" y="4059070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압력 시계열 데이터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E1FC09-1B1D-1716-7178-3181E8E3E7DD}"/>
              </a:ext>
            </a:extLst>
          </p:cNvPr>
          <p:cNvSpPr txBox="1"/>
          <p:nvPr/>
        </p:nvSpPr>
        <p:spPr>
          <a:xfrm>
            <a:off x="1081506" y="6422362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Genetic Algorithm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구조 및 결과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4B9D1D-EF4C-104A-B6D2-493839CDF289}"/>
              </a:ext>
            </a:extLst>
          </p:cNvPr>
          <p:cNvSpPr txBox="1"/>
          <p:nvPr/>
        </p:nvSpPr>
        <p:spPr>
          <a:xfrm>
            <a:off x="5924550" y="6422362"/>
            <a:ext cx="3165571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VAE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구조 및 품질 예측 모델 성능 비교 결과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049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1674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데이터가 지수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(index)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변환되면서 시간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정보등의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정보 손실이 발생하여 저주파 대역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이상음과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특정 고주파 대역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징징거림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붕 뜨는 소리 등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불량 검출 어려웠습니다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Deep Learning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 검사에서는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데이터를 주파수 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지수로 변환하는 게 아니라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주파수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시간을 모두 표현 할 수 있는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Feature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변환하여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 정보를 유지</a:t>
            </a:r>
            <a:endParaRPr kumimoji="0" lang="en-US" altLang="ko-KR" sz="1400" dirty="0">
              <a:solidFill>
                <a:schemeClr val="accent1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4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(Line Quality Control)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65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655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데이터가 지수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(index)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변환되면서 시간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정보등의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정보 손실이 발생하여 저주파 대역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이상음과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특정 고주파 대역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징징거림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붕 뜨는 소리 등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불량 검출 어려웠습니다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Deep Learning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 검사에서는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데이터를 주파수 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지수로 변환하는 게 아니라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주파수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시간을 모두 표현 할 수 있는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Feature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변환하여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 정보를 유지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Sound Signal Feature Issue - Spectrogram </a:t>
            </a:r>
            <a:r>
              <a:rPr kumimoji="0" lang="ko-KR" altLang="en-US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변환</a:t>
            </a:r>
            <a:endParaRPr lang="en-US" altLang="ko-KR" sz="2000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-</a:t>
            </a:r>
            <a:r>
              <a:rPr lang="en-US" altLang="ko-KR" sz="14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Sound Signal Feature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Sound Signal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원시적 신호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(Raw Signal)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는 초당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25000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개를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샘플링하여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얻어진 결과 입니다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다시 말해 소리의 크기 값은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0.00004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초에 한 번씩 취득됩니다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 (4 x 10^-5).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이 때문에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데이터 샘플 하나의 의미는 매우 짧은 시간의 정보를 가지고 있고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오직 진폭 정보만을 가지고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주파수 정보는 전혀 가지고 있지 않습니다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 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따라서 이를 일정 범위의 정보로 확대하며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추가 정보를 보유할 수 있도록 가공할 필요가 있습니다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은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시간 정보로만 구성되어 주파수 특성을 알기 힘든 원시 데이터 정보를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time segment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마다의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Fourier Transform 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혹은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Cosine Transform)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기반으로 주파수적 특징을 추출하여 주파수 특성을 갖게 하며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time segment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를 사용함으로써 주파수 분포가 시간에 따라 어떻게 변하는지 표현이 가능합니다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에서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x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축은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time, y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축은 대체로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frequency,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밝기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혹은 색상 정도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는 스펙트럼 크기 정보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(dB)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를 의미합니다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 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우리는 여러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기법 중 시행착오 끝에 성능이 가장 좋았던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Feature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인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Mel spectrogram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을 사용하였습니다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accent1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5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(Line Quality Control)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t="11059"/>
          <a:stretch/>
        </p:blipFill>
        <p:spPr>
          <a:xfrm>
            <a:off x="362490" y="1820740"/>
            <a:ext cx="8730609" cy="230756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930" y="4535495"/>
            <a:ext cx="4007895" cy="166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3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613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▌Class Imbalance Issue - Data Augmentation </a:t>
            </a:r>
            <a:r>
              <a:rPr kumimoji="0" lang="ko-KR" altLang="en-US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적용 및 결과</a:t>
            </a:r>
            <a:endParaRPr kumimoji="0" lang="en-US" altLang="ko-KR" sz="20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- Class Imbalance</a:t>
            </a: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제품 생산라인은 불량품에 비해 양품이 많기 때문에 불량 유형별로 충분한 데이터를 확보하기가 어렵습니다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-  Augmentation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적용 전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Augmentation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을 적용하기 전에는 아래와 같이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OK sample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개수와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NG sample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개수가 굉장히 큰 차이를 보이는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imbalance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한 상황이었습니다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  <a:b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</a:b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실제로 이 데이터를 그대로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AI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모델을 사용해서 예측을 진행한 경우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NG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에 대한 검출 성능이 상당히 낮았습니다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-  Augmentation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적용 전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Augmentation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을 적용한 결과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모든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NG class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개수가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OK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와 동일하게 생성되었습니다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Validation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성능을 보시면 위의 결과에 비해 크게 개선이 되었고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모든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NG class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에 대해서 검출이 진행되고 있습니다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- Spectrogram Augmentation Methods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Spectrogram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Sound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정보를 시각화한 데이터로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축과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y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축의 정보가 시간 및 주파수에 대한 의미를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가짐이미지를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회전하거나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좌우나 앞뒤를 뒤집는 일반적인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image augmentation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방법을 사용하기에는 정보 손실을 야기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SpecAug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(Masking)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SpecAug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는 단순하게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Spectrogram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Time, Frequency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축의 일부를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masking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하는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Augmentation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기법입니다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아래의 예시처럼 이미지의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축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(time)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혹은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y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축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(frequency)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를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masking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하여 새로운 이미지를 생성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 </a:t>
            </a:r>
            <a:r>
              <a:rPr kumimoji="0"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Mixup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Augmentation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두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image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Label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을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0~1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사이의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lambda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값을 통해 선형 결합하는 기법입니다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 때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보통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lambda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값은 베타 분포에서 추출합니다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 방법은 굉장히 단순하지만 모델의 일반화 성능도 좋아지고 잘못된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Label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 있어도 모델을 더 강건하게 학습되도록 하는 효과를 얻을 수 있습니다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6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(Line Quality Control)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677525" y="1790817"/>
            <a:ext cx="4626293" cy="963930"/>
            <a:chOff x="632520" y="4086168"/>
            <a:chExt cx="6638925" cy="138328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520" y="4086168"/>
              <a:ext cx="6638925" cy="94297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1633116" y="5018942"/>
              <a:ext cx="4637730" cy="450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Data Augmentation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적용 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Class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분포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5624473" y="1651643"/>
            <a:ext cx="4506060" cy="1110471"/>
            <a:chOff x="5489458" y="4113287"/>
            <a:chExt cx="4506060" cy="1110471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9458" y="4113287"/>
              <a:ext cx="4506060" cy="74504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5613499" y="4909826"/>
              <a:ext cx="4315364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Data Augmentation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적용 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NG Class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Recall</a:t>
              </a:r>
              <a:endPara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853529" y="2955718"/>
            <a:ext cx="4400965" cy="897900"/>
            <a:chOff x="677525" y="5406166"/>
            <a:chExt cx="4400965" cy="897900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7525" y="5406166"/>
              <a:ext cx="4400965" cy="59506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1262120" y="5990134"/>
              <a:ext cx="323177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Data Augmentation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적용 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Class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분포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5493060" y="2990582"/>
            <a:ext cx="3892685" cy="900737"/>
            <a:chOff x="5601855" y="5403329"/>
            <a:chExt cx="3892685" cy="900737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01855" y="5403329"/>
              <a:ext cx="3892685" cy="61365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5748514" y="5990134"/>
              <a:ext cx="3415569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Data Augmentation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적용 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NG Class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Recall</a:t>
              </a:r>
              <a:endPara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974076" y="2990582"/>
            <a:ext cx="3272607" cy="1405102"/>
            <a:chOff x="1190356" y="3513171"/>
            <a:chExt cx="4330080" cy="1859131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90356" y="3513171"/>
              <a:ext cx="4330080" cy="147131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1739509" y="5079017"/>
              <a:ext cx="3231773" cy="293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b="1" dirty="0" err="1"/>
                <a:t>SpecAug</a:t>
              </a:r>
              <a:r>
                <a:rPr lang="en-US" altLang="ko-KR" sz="1200" b="1" dirty="0"/>
                <a:t> (Masking)</a:t>
              </a:r>
              <a:endPara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2481788" y="5090737"/>
            <a:ext cx="4249538" cy="1520117"/>
            <a:chOff x="2425180" y="4526154"/>
            <a:chExt cx="5128012" cy="1834359"/>
          </a:xfrm>
        </p:grpSpPr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25180" y="4526154"/>
              <a:ext cx="5128012" cy="156856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3647855" y="6067228"/>
              <a:ext cx="2442524" cy="293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b="1" dirty="0" err="1"/>
                <a:t>Mixup</a:t>
              </a:r>
              <a:r>
                <a:rPr lang="en-US" altLang="ko-KR" sz="1200" b="1" dirty="0"/>
                <a:t> Augmentation</a:t>
              </a:r>
              <a:endPara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78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1674305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데이터가 지수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(index)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변환되면서 시간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정보등의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정보 손실이 발생하여 저주파 대역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이상음과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특정 고주파 대역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징징거림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붕 뜨는 소리 등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불량 검출 어려웠습니다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Deep Learning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 검사에서는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데이터를 주파수 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지수로 변환하는 게 아니라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주파수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시간을 모두 표현 할 수 있는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Feature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변환하여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 정보를 유지</a:t>
            </a:r>
            <a:endParaRPr kumimoji="0" lang="en-US" altLang="ko-KR" sz="1400" dirty="0">
              <a:solidFill>
                <a:schemeClr val="accent1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7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(Line Quality Control)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6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521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▌Vision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검사기 제작 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조지아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기준 제품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인스펙션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결과 거래선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출하전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제품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데미지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불량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(60%)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작업방식 고려 제품 포장 품질 검토</a:t>
            </a:r>
            <a:b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</a:b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- US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법인 판매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창고의 아웃바운드 물류 프로세스 중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포장 박스 외관에 대한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Vision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검사 시스템을 구축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▌Object Detection Model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모델 구축을 위한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Train Data set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생성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Box image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불러오기 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/ Gray scale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/ Threshold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를 설정하여 배경색 모두 검은색으로 변경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/ Contour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를 찾아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Bounding Box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추출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/ Label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및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Bounding Box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정보를 추가하여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.txt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파일 생성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- YOLOv7 tiny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모델 기반 전이학습 및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test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8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판매법인 아웃바운드 검사 자동화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(Vision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검사기 도입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) </a:t>
            </a:r>
          </a:p>
        </p:txBody>
      </p:sp>
      <p:grpSp>
        <p:nvGrpSpPr>
          <p:cNvPr id="166" name="그룹 165"/>
          <p:cNvGrpSpPr/>
          <p:nvPr/>
        </p:nvGrpSpPr>
        <p:grpSpPr>
          <a:xfrm>
            <a:off x="1069593" y="1482835"/>
            <a:ext cx="7554441" cy="1485668"/>
            <a:chOff x="1069593" y="2362908"/>
            <a:chExt cx="7554441" cy="1485668"/>
          </a:xfrm>
        </p:grpSpPr>
        <p:grpSp>
          <p:nvGrpSpPr>
            <p:cNvPr id="154" name="그룹 153"/>
            <p:cNvGrpSpPr/>
            <p:nvPr/>
          </p:nvGrpSpPr>
          <p:grpSpPr>
            <a:xfrm>
              <a:off x="1069593" y="2415815"/>
              <a:ext cx="971968" cy="1344544"/>
              <a:chOff x="4100953" y="2914974"/>
              <a:chExt cx="971968" cy="1344544"/>
            </a:xfrm>
          </p:grpSpPr>
          <p:pic>
            <p:nvPicPr>
              <p:cNvPr id="116" name="그림 11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8605" b="13250"/>
              <a:stretch/>
            </p:blipFill>
            <p:spPr>
              <a:xfrm>
                <a:off x="4233204" y="3470522"/>
                <a:ext cx="758350" cy="182634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117" name="그림 116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 flipV="1">
                <a:off x="4445231" y="3779167"/>
                <a:ext cx="336414" cy="273483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7A5CC1A1-5007-45D7-9BAF-5BCC120FA793}"/>
                  </a:ext>
                </a:extLst>
              </p:cNvPr>
              <p:cNvSpPr txBox="1"/>
              <p:nvPr/>
            </p:nvSpPr>
            <p:spPr>
              <a:xfrm>
                <a:off x="4100953" y="4121019"/>
                <a:ext cx="97196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90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Video Streaming</a:t>
                </a:r>
                <a:endPara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19" name="오른쪽 화살표 118"/>
              <p:cNvSpPr/>
              <p:nvPr/>
            </p:nvSpPr>
            <p:spPr>
              <a:xfrm>
                <a:off x="4555200" y="2954454"/>
                <a:ext cx="129577" cy="173581"/>
              </a:xfrm>
              <a:prstGeom prst="rightArrow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20" name="그림 11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10783" y="3247645"/>
                <a:ext cx="217594" cy="212759"/>
              </a:xfrm>
              <a:prstGeom prst="rect">
                <a:avLst/>
              </a:prstGeom>
            </p:spPr>
          </p:pic>
          <p:pic>
            <p:nvPicPr>
              <p:cNvPr id="121" name="그림 12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9702" y="3247804"/>
                <a:ext cx="217594" cy="212759"/>
              </a:xfrm>
              <a:prstGeom prst="rect">
                <a:avLst/>
              </a:prstGeom>
            </p:spPr>
          </p:pic>
          <p:sp>
            <p:nvSpPr>
              <p:cNvPr id="122" name="TextBox 121"/>
              <p:cNvSpPr txBox="1"/>
              <p:nvPr/>
            </p:nvSpPr>
            <p:spPr>
              <a:xfrm>
                <a:off x="4432296" y="2914974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…</a:t>
                </a:r>
                <a:endParaRPr lang="ko-KR" altLang="en-US" dirty="0"/>
              </a:p>
            </p:txBody>
          </p:sp>
        </p:grpSp>
        <p:sp>
          <p:nvSpPr>
            <p:cNvPr id="126" name="직사각형 125"/>
            <p:cNvSpPr/>
            <p:nvPr/>
          </p:nvSpPr>
          <p:spPr>
            <a:xfrm>
              <a:off x="2428200" y="2559839"/>
              <a:ext cx="4946267" cy="128873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7A5CC1A1-5007-45D7-9BAF-5BCC120FA793}"/>
                </a:ext>
              </a:extLst>
            </p:cNvPr>
            <p:cNvSpPr txBox="1"/>
            <p:nvPr/>
          </p:nvSpPr>
          <p:spPr>
            <a:xfrm>
              <a:off x="2419536" y="2362908"/>
              <a:ext cx="55337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10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Edge PC</a:t>
              </a:r>
              <a:endPara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grpSp>
          <p:nvGrpSpPr>
            <p:cNvPr id="152" name="그룹 151"/>
            <p:cNvGrpSpPr/>
            <p:nvPr/>
          </p:nvGrpSpPr>
          <p:grpSpPr>
            <a:xfrm>
              <a:off x="2543650" y="2866553"/>
              <a:ext cx="2098373" cy="675422"/>
              <a:chOff x="5594019" y="3180352"/>
              <a:chExt cx="2098373" cy="675422"/>
            </a:xfrm>
          </p:grpSpPr>
          <p:cxnSp>
            <p:nvCxnSpPr>
              <p:cNvPr id="125" name="직선 화살표 연결선 124"/>
              <p:cNvCxnSpPr>
                <a:stCxn id="145" idx="3"/>
                <a:endCxn id="146" idx="1"/>
              </p:cNvCxnSpPr>
              <p:nvPr/>
            </p:nvCxnSpPr>
            <p:spPr bwMode="auto">
              <a:xfrm>
                <a:off x="6491023" y="3522995"/>
                <a:ext cx="305044" cy="6203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44" name="직사각형 143"/>
              <p:cNvSpPr/>
              <p:nvPr/>
            </p:nvSpPr>
            <p:spPr>
              <a:xfrm>
                <a:off x="5594019" y="3180352"/>
                <a:ext cx="2098373" cy="67542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직사각형 144"/>
              <p:cNvSpPr/>
              <p:nvPr/>
            </p:nvSpPr>
            <p:spPr>
              <a:xfrm>
                <a:off x="5965063" y="3296640"/>
                <a:ext cx="525960" cy="45270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00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Image Capture</a:t>
                </a:r>
                <a:endParaRPr lang="ko-KR" altLang="en-US" sz="10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46" name="직사각형 145"/>
              <p:cNvSpPr/>
              <p:nvPr/>
            </p:nvSpPr>
            <p:spPr>
              <a:xfrm>
                <a:off x="6796067" y="3306962"/>
                <a:ext cx="527869" cy="44447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Object</a:t>
                </a:r>
              </a:p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D</a:t>
                </a:r>
                <a:r>
                  <a:rPr lang="en-US" altLang="ko-KR" sz="100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etection</a:t>
                </a:r>
                <a:endParaRPr lang="ko-KR" altLang="en-US" sz="10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cxnSp>
          <p:nvCxnSpPr>
            <p:cNvPr id="147" name="직선 화살표 연결선 146"/>
            <p:cNvCxnSpPr>
              <a:stCxn id="144" idx="3"/>
              <a:endCxn id="138" idx="1"/>
            </p:cNvCxnSpPr>
            <p:nvPr/>
          </p:nvCxnSpPr>
          <p:spPr bwMode="auto">
            <a:xfrm>
              <a:off x="4642023" y="3204264"/>
              <a:ext cx="525960" cy="0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51" name="그룹 150"/>
            <p:cNvGrpSpPr/>
            <p:nvPr/>
          </p:nvGrpSpPr>
          <p:grpSpPr>
            <a:xfrm>
              <a:off x="5167983" y="2665153"/>
              <a:ext cx="2098373" cy="1078222"/>
              <a:chOff x="5595140" y="4141118"/>
              <a:chExt cx="2098373" cy="1078222"/>
            </a:xfrm>
          </p:grpSpPr>
          <p:sp>
            <p:nvSpPr>
              <p:cNvPr id="128" name="TextBox 127"/>
              <p:cNvSpPr txBox="1"/>
              <p:nvPr/>
            </p:nvSpPr>
            <p:spPr>
              <a:xfrm>
                <a:off x="7052532" y="4342334"/>
                <a:ext cx="472635" cy="168517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XAI</a:t>
                </a: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6393964" y="4342334"/>
                <a:ext cx="467791" cy="168517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Inference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5743411" y="4342334"/>
                <a:ext cx="467791" cy="16851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en-US" altLang="ko-KR" sz="90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Input 1</a:t>
                </a:r>
                <a:endPara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cxnSp>
            <p:nvCxnSpPr>
              <p:cNvPr id="131" name="직선 화살표 연결선 130"/>
              <p:cNvCxnSpPr>
                <a:stCxn id="130" idx="3"/>
                <a:endCxn id="129" idx="1"/>
              </p:cNvCxnSpPr>
              <p:nvPr/>
            </p:nvCxnSpPr>
            <p:spPr bwMode="auto">
              <a:xfrm>
                <a:off x="6211202" y="4426593"/>
                <a:ext cx="182762" cy="0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32" name="직선 화살표 연결선 131"/>
              <p:cNvCxnSpPr>
                <a:stCxn id="129" idx="3"/>
                <a:endCxn id="128" idx="1"/>
              </p:cNvCxnSpPr>
              <p:nvPr/>
            </p:nvCxnSpPr>
            <p:spPr bwMode="auto">
              <a:xfrm>
                <a:off x="6861755" y="4426593"/>
                <a:ext cx="190777" cy="0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33" name="TextBox 132"/>
              <p:cNvSpPr txBox="1"/>
              <p:nvPr/>
            </p:nvSpPr>
            <p:spPr>
              <a:xfrm>
                <a:off x="7052532" y="4854802"/>
                <a:ext cx="472635" cy="168517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XAI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6393964" y="4854802"/>
                <a:ext cx="467791" cy="168517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en-US" altLang="ko-KR" sz="90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Inference</a:t>
                </a:r>
                <a:endPara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5743411" y="4854802"/>
                <a:ext cx="467791" cy="16851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en-US" altLang="ko-KR" sz="90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Input 2</a:t>
                </a:r>
                <a:endPara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cxnSp>
            <p:nvCxnSpPr>
              <p:cNvPr id="136" name="직선 화살표 연결선 135"/>
              <p:cNvCxnSpPr>
                <a:stCxn id="135" idx="3"/>
                <a:endCxn id="134" idx="1"/>
              </p:cNvCxnSpPr>
              <p:nvPr/>
            </p:nvCxnSpPr>
            <p:spPr bwMode="auto">
              <a:xfrm>
                <a:off x="6211202" y="4939061"/>
                <a:ext cx="182762" cy="0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37" name="직선 화살표 연결선 136"/>
              <p:cNvCxnSpPr>
                <a:stCxn id="134" idx="3"/>
                <a:endCxn id="133" idx="1"/>
              </p:cNvCxnSpPr>
              <p:nvPr/>
            </p:nvCxnSpPr>
            <p:spPr bwMode="auto">
              <a:xfrm>
                <a:off x="6861755" y="4939061"/>
                <a:ext cx="190777" cy="0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38" name="직사각형 137"/>
              <p:cNvSpPr/>
              <p:nvPr/>
            </p:nvSpPr>
            <p:spPr>
              <a:xfrm>
                <a:off x="5595140" y="4141118"/>
                <a:ext cx="2098373" cy="107822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직사각형 138"/>
              <p:cNvSpPr/>
              <p:nvPr/>
            </p:nvSpPr>
            <p:spPr>
              <a:xfrm>
                <a:off x="5653062" y="4262224"/>
                <a:ext cx="1967346" cy="32792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직사각형 139"/>
              <p:cNvSpPr/>
              <p:nvPr/>
            </p:nvSpPr>
            <p:spPr>
              <a:xfrm>
                <a:off x="5653062" y="4773948"/>
                <a:ext cx="1967346" cy="32792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7A5CC1A1-5007-45D7-9BAF-5BCC120FA793}"/>
                  </a:ext>
                </a:extLst>
              </p:cNvPr>
              <p:cNvSpPr txBox="1"/>
              <p:nvPr/>
            </p:nvSpPr>
            <p:spPr>
              <a:xfrm>
                <a:off x="5688109" y="4147055"/>
                <a:ext cx="55337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1</a:t>
                </a:r>
                <a:r>
                  <a:rPr lang="en-US" altLang="ko-KR" sz="900" baseline="300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st</a:t>
                </a:r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 Process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A5CC1A1-5007-45D7-9BAF-5BCC120FA793}"/>
                  </a:ext>
                </a:extLst>
              </p:cNvPr>
              <p:cNvSpPr txBox="1"/>
              <p:nvPr/>
            </p:nvSpPr>
            <p:spPr>
              <a:xfrm>
                <a:off x="5696427" y="4644886"/>
                <a:ext cx="55337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n</a:t>
                </a:r>
                <a:r>
                  <a:rPr lang="en-US" altLang="ko-KR" sz="900" baseline="300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th</a:t>
                </a:r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 Process</a:t>
                </a:r>
              </a:p>
            </p:txBody>
          </p:sp>
          <p:cxnSp>
            <p:nvCxnSpPr>
              <p:cNvPr id="143" name="직선 화살표 연결선 142"/>
              <p:cNvCxnSpPr>
                <a:stCxn id="139" idx="2"/>
                <a:endCxn id="140" idx="0"/>
              </p:cNvCxnSpPr>
              <p:nvPr/>
            </p:nvCxnSpPr>
            <p:spPr bwMode="auto">
              <a:xfrm>
                <a:off x="6636735" y="4590146"/>
                <a:ext cx="0" cy="183802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48" name="TextBox 147"/>
              <p:cNvSpPr txBox="1"/>
              <p:nvPr/>
            </p:nvSpPr>
            <p:spPr>
              <a:xfrm rot="5400000">
                <a:off x="6432448" y="4500674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…</a:t>
                </a:r>
                <a:endParaRPr lang="ko-KR" altLang="en-US" dirty="0"/>
              </a:p>
            </p:txBody>
          </p:sp>
        </p:grpSp>
        <p:grpSp>
          <p:nvGrpSpPr>
            <p:cNvPr id="156" name="그룹 155"/>
            <p:cNvGrpSpPr/>
            <p:nvPr/>
          </p:nvGrpSpPr>
          <p:grpSpPr>
            <a:xfrm>
              <a:off x="7785038" y="2749372"/>
              <a:ext cx="838996" cy="824943"/>
              <a:chOff x="-25286" y="4493587"/>
              <a:chExt cx="838996" cy="824943"/>
            </a:xfrm>
          </p:grpSpPr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A5CC1A1-5007-45D7-9BAF-5BCC120FA793}"/>
                  </a:ext>
                </a:extLst>
              </p:cNvPr>
              <p:cNvSpPr txBox="1"/>
              <p:nvPr/>
            </p:nvSpPr>
            <p:spPr>
              <a:xfrm>
                <a:off x="-25286" y="5180031"/>
                <a:ext cx="838996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Results Monitoring</a:t>
                </a:r>
              </a:p>
            </p:txBody>
          </p:sp>
          <p:pic>
            <p:nvPicPr>
              <p:cNvPr id="158" name="그림 15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78" y="4493587"/>
                <a:ext cx="676702" cy="608691"/>
              </a:xfrm>
              <a:prstGeom prst="rect">
                <a:avLst/>
              </a:prstGeom>
            </p:spPr>
          </p:pic>
          <p:pic>
            <p:nvPicPr>
              <p:cNvPr id="159" name="그림 15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0058" y="4553599"/>
                <a:ext cx="534999" cy="364933"/>
              </a:xfrm>
              <a:prstGeom prst="rect">
                <a:avLst/>
              </a:prstGeom>
            </p:spPr>
          </p:pic>
        </p:grpSp>
        <p:cxnSp>
          <p:nvCxnSpPr>
            <p:cNvPr id="160" name="꺾인 연결선 159"/>
            <p:cNvCxnSpPr>
              <a:stCxn id="117" idx="0"/>
              <a:endCxn id="144" idx="1"/>
            </p:cNvCxnSpPr>
            <p:nvPr/>
          </p:nvCxnSpPr>
          <p:spPr>
            <a:xfrm flipV="1">
              <a:off x="1718820" y="3204264"/>
              <a:ext cx="824830" cy="21248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꺾인 연결선 162"/>
            <p:cNvCxnSpPr>
              <a:stCxn id="138" idx="3"/>
              <a:endCxn id="158" idx="1"/>
            </p:cNvCxnSpPr>
            <p:nvPr/>
          </p:nvCxnSpPr>
          <p:spPr>
            <a:xfrm flipV="1">
              <a:off x="7266356" y="3053718"/>
              <a:ext cx="611246" cy="15054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그룹 180"/>
          <p:cNvGrpSpPr/>
          <p:nvPr/>
        </p:nvGrpSpPr>
        <p:grpSpPr>
          <a:xfrm>
            <a:off x="453542" y="4186961"/>
            <a:ext cx="9235312" cy="1105882"/>
            <a:chOff x="453542" y="5557523"/>
            <a:chExt cx="9235312" cy="1105882"/>
          </a:xfrm>
        </p:grpSpPr>
        <p:pic>
          <p:nvPicPr>
            <p:cNvPr id="169" name="그림 16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3542" y="5557523"/>
              <a:ext cx="1440000" cy="1105882"/>
            </a:xfrm>
            <a:prstGeom prst="rect">
              <a:avLst/>
            </a:prstGeom>
          </p:spPr>
        </p:pic>
        <p:pic>
          <p:nvPicPr>
            <p:cNvPr id="170" name="그림 16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46100" y="5557523"/>
              <a:ext cx="1440000" cy="1105882"/>
            </a:xfrm>
            <a:prstGeom prst="rect">
              <a:avLst/>
            </a:prstGeom>
          </p:spPr>
        </p:pic>
        <p:pic>
          <p:nvPicPr>
            <p:cNvPr id="171" name="그림 17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66398" y="5557523"/>
              <a:ext cx="1440000" cy="1105882"/>
            </a:xfrm>
            <a:prstGeom prst="rect">
              <a:avLst/>
            </a:prstGeom>
          </p:spPr>
        </p:pic>
        <p:pic>
          <p:nvPicPr>
            <p:cNvPr id="172" name="그림 17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042556" y="5557523"/>
              <a:ext cx="1440000" cy="1105882"/>
            </a:xfrm>
            <a:prstGeom prst="rect">
              <a:avLst/>
            </a:prstGeom>
          </p:spPr>
        </p:pic>
        <p:grpSp>
          <p:nvGrpSpPr>
            <p:cNvPr id="174" name="그룹 173"/>
            <p:cNvGrpSpPr/>
            <p:nvPr/>
          </p:nvGrpSpPr>
          <p:grpSpPr>
            <a:xfrm>
              <a:off x="8983315" y="5714420"/>
              <a:ext cx="705539" cy="792088"/>
              <a:chOff x="5738789" y="3446895"/>
              <a:chExt cx="705539" cy="792088"/>
            </a:xfrm>
          </p:grpSpPr>
          <p:sp>
            <p:nvSpPr>
              <p:cNvPr id="175" name="모서리가 접힌 도형 174"/>
              <p:cNvSpPr/>
              <p:nvPr/>
            </p:nvSpPr>
            <p:spPr bwMode="auto">
              <a:xfrm flipV="1">
                <a:off x="5767523" y="3446895"/>
                <a:ext cx="648072" cy="792088"/>
              </a:xfrm>
              <a:prstGeom prst="foldedCorner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89585" tIns="44791" rIns="89585" bIns="44791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1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200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6" name="TextBox 175"/>
              <p:cNvSpPr txBox="1"/>
              <p:nvPr/>
            </p:nvSpPr>
            <p:spPr>
              <a:xfrm>
                <a:off x="5738789" y="3534810"/>
                <a:ext cx="705539" cy="616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200" b="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.img1</a:t>
                </a:r>
                <a:br>
                  <a:rPr lang="en-US" altLang="ko-KR" sz="1200" b="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1200" b="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.txt</a:t>
                </a:r>
              </a:p>
            </p:txBody>
          </p:sp>
        </p:grpSp>
        <p:sp>
          <p:nvSpPr>
            <p:cNvPr id="177" name="오른쪽 화살표 176"/>
            <p:cNvSpPr/>
            <p:nvPr/>
          </p:nvSpPr>
          <p:spPr bwMode="auto">
            <a:xfrm>
              <a:off x="2051919" y="5846681"/>
              <a:ext cx="540000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78" name="오른쪽 화살표 177"/>
            <p:cNvSpPr/>
            <p:nvPr/>
          </p:nvSpPr>
          <p:spPr bwMode="auto">
            <a:xfrm>
              <a:off x="4272335" y="5846681"/>
              <a:ext cx="540000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79" name="오른쪽 화살표 178"/>
            <p:cNvSpPr/>
            <p:nvPr/>
          </p:nvSpPr>
          <p:spPr bwMode="auto">
            <a:xfrm>
              <a:off x="6541797" y="5846681"/>
              <a:ext cx="540000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80" name="오른쪽 화살표 179"/>
            <p:cNvSpPr/>
            <p:nvPr/>
          </p:nvSpPr>
          <p:spPr bwMode="auto">
            <a:xfrm>
              <a:off x="8462936" y="5846681"/>
              <a:ext cx="540000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191" name="그룹 190"/>
          <p:cNvGrpSpPr/>
          <p:nvPr/>
        </p:nvGrpSpPr>
        <p:grpSpPr>
          <a:xfrm>
            <a:off x="452500" y="5398610"/>
            <a:ext cx="9223197" cy="1361348"/>
            <a:chOff x="452500" y="5398610"/>
            <a:chExt cx="9223197" cy="1361348"/>
          </a:xfrm>
        </p:grpSpPr>
        <p:pic>
          <p:nvPicPr>
            <p:cNvPr id="182" name="그림 18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2500" y="5483206"/>
              <a:ext cx="1781380" cy="1260000"/>
            </a:xfrm>
            <a:prstGeom prst="rect">
              <a:avLst/>
            </a:prstGeom>
          </p:spPr>
        </p:pic>
        <p:pic>
          <p:nvPicPr>
            <p:cNvPr id="183" name="그림 18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2922" y="5499958"/>
              <a:ext cx="1638312" cy="1260000"/>
            </a:xfrm>
            <a:prstGeom prst="rect">
              <a:avLst/>
            </a:prstGeom>
          </p:spPr>
        </p:pic>
        <p:pic>
          <p:nvPicPr>
            <p:cNvPr id="184" name="그림 183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077023" y="5461179"/>
              <a:ext cx="998892" cy="1260000"/>
            </a:xfrm>
            <a:prstGeom prst="rect">
              <a:avLst/>
            </a:prstGeom>
          </p:spPr>
        </p:pic>
        <p:grpSp>
          <p:nvGrpSpPr>
            <p:cNvPr id="185" name="그룹 184"/>
            <p:cNvGrpSpPr/>
            <p:nvPr/>
          </p:nvGrpSpPr>
          <p:grpSpPr>
            <a:xfrm>
              <a:off x="6041490" y="5713047"/>
              <a:ext cx="961231" cy="792088"/>
              <a:chOff x="963826" y="2541566"/>
              <a:chExt cx="961231" cy="792088"/>
            </a:xfrm>
          </p:grpSpPr>
          <p:sp>
            <p:nvSpPr>
              <p:cNvPr id="186" name="모서리가 접힌 도형 185"/>
              <p:cNvSpPr/>
              <p:nvPr/>
            </p:nvSpPr>
            <p:spPr bwMode="auto">
              <a:xfrm flipV="1">
                <a:off x="1120405" y="2541566"/>
                <a:ext cx="648072" cy="792088"/>
              </a:xfrm>
              <a:prstGeom prst="foldedCorner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89585" tIns="44791" rIns="89585" bIns="44791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1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200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963826" y="2767980"/>
                <a:ext cx="961231" cy="339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200" b="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*.weights</a:t>
                </a:r>
              </a:p>
            </p:txBody>
          </p:sp>
        </p:grpSp>
        <p:sp>
          <p:nvSpPr>
            <p:cNvPr id="188" name="오른쪽 화살표 187"/>
            <p:cNvSpPr/>
            <p:nvPr/>
          </p:nvSpPr>
          <p:spPr bwMode="auto">
            <a:xfrm>
              <a:off x="5162906" y="5817874"/>
              <a:ext cx="792088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200" b="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Train</a:t>
              </a: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89" name="오른쪽 화살표 188"/>
            <p:cNvSpPr/>
            <p:nvPr/>
          </p:nvSpPr>
          <p:spPr bwMode="auto">
            <a:xfrm>
              <a:off x="7043165" y="5817874"/>
              <a:ext cx="792088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200" b="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Test</a:t>
              </a: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190" name="그림 189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5697" y="5398610"/>
              <a:ext cx="1800000" cy="13333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541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4595104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lvl="0"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▌Image Classification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및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XAI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Image Classification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모델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앞에서 수집한 박스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image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및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label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기반으로 </a:t>
            </a:r>
            <a:r>
              <a:rPr kumimoji="0" lang="en-US" altLang="ko-KR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MobileNet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에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전이학습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- XAI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개발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 IC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모델 정보를 불러와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feature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를 추출하는 마지막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layer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인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conv_pw_13_relu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앞뒤로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model1, model2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분리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 model1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출력으로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model2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출력을 미분하여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gradient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계산 후 </a:t>
            </a:r>
            <a:r>
              <a:rPr kumimoji="0" lang="en-US" altLang="ko-KR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Heatmap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출력 및 원본 사진에 병합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▌Object Detection Model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-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글자가 존재하는 박스에 대해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Grad cam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으로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defect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부위 추출 결과가 좋지 못함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- Defect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부위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Object Detection Model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Normal, Abnormal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박스 분류 모델 개발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labelImg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프로그램으로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box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와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defect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부위 </a:t>
            </a:r>
            <a:r>
              <a:rPr kumimoji="0"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라벨링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진행 후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yolov7-tiny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모델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fine-tuning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진행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9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판매법인 아웃바운드 검사 자동화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(Vision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검사기 도입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380" y="2615412"/>
            <a:ext cx="1080000" cy="10800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794" y="2615412"/>
            <a:ext cx="1080000" cy="1080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8105" y="2615412"/>
            <a:ext cx="1070809" cy="10800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02" y="5042383"/>
            <a:ext cx="1769287" cy="1615318"/>
          </a:xfrm>
          <a:prstGeom prst="rect">
            <a:avLst/>
          </a:prstGeom>
        </p:spPr>
      </p:pic>
      <p:pic>
        <p:nvPicPr>
          <p:cNvPr id="30" name="그림 29"/>
          <p:cNvPicPr preferRelativeResize="0">
            <a:picLocks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2" b="10093"/>
          <a:stretch/>
        </p:blipFill>
        <p:spPr>
          <a:xfrm>
            <a:off x="3534219" y="5074551"/>
            <a:ext cx="1583150" cy="1583150"/>
          </a:xfrm>
          <a:prstGeom prst="rect">
            <a:avLst/>
          </a:prstGeom>
        </p:spPr>
      </p:pic>
      <p:pic>
        <p:nvPicPr>
          <p:cNvPr id="28" name="그림 27"/>
          <p:cNvPicPr preferRelativeResize="0">
            <a:picLocks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9" r="13958"/>
          <a:stretch/>
        </p:blipFill>
        <p:spPr>
          <a:xfrm>
            <a:off x="5369321" y="5074551"/>
            <a:ext cx="1583150" cy="1583150"/>
          </a:xfrm>
          <a:prstGeom prst="rect">
            <a:avLst/>
          </a:prstGeom>
        </p:spPr>
      </p:pic>
      <p:pic>
        <p:nvPicPr>
          <p:cNvPr id="26" name="그림 25"/>
          <p:cNvPicPr preferRelativeResize="0">
            <a:picLocks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2" t="2867" r="24931" b="3913"/>
          <a:stretch/>
        </p:blipFill>
        <p:spPr>
          <a:xfrm>
            <a:off x="7098195" y="5074551"/>
            <a:ext cx="1583150" cy="15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0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1674305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데이터가 지수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(index)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변환되면서 시간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정보등의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정보 손실이 발생하여 저주파 대역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이상음과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특정 고주파 대역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징징거림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붕 뜨는 소리 등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불량 검출 어려웠습니다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Deep Learning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 검사에서는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데이터를 주파수 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지수로 변환하는 게 아니라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주파수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시간을 모두 표현 할 수 있는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Feature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변환하여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 정보를 유지</a:t>
            </a:r>
            <a:endParaRPr kumimoji="0" lang="en-US" altLang="ko-KR" sz="1400" dirty="0">
              <a:solidFill>
                <a:schemeClr val="accent1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10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(Line Quality Control)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0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CFF31-9D61-6F28-BEF8-65B0A0C0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EFCEC3-765D-7878-1074-69EFDB8248C2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auto">
              <a:spcBef>
                <a:spcPts val="0"/>
              </a:spcBef>
              <a:spcAft>
                <a:spcPts val="0"/>
              </a:spcAft>
              <a:defRPr kumimoji="0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Unsupervised</a:t>
            </a:r>
            <a:r>
              <a:rPr lang="ko-KR" altLang="en-US" dirty="0"/>
              <a:t> </a:t>
            </a:r>
            <a:r>
              <a:rPr lang="en-US" altLang="ko-KR" dirty="0"/>
              <a:t>Learning </a:t>
            </a:r>
            <a:r>
              <a:rPr lang="ko-KR" altLang="en-US" b="0" dirty="0"/>
              <a:t>기반 </a:t>
            </a:r>
            <a:r>
              <a:rPr lang="en-US" altLang="ko-KR" dirty="0"/>
              <a:t>Object Detection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6CBB530-2686-655F-CA31-961E5B38D0B3}"/>
              </a:ext>
            </a:extLst>
          </p:cNvPr>
          <p:cNvGrpSpPr/>
          <p:nvPr/>
        </p:nvGrpSpPr>
        <p:grpSpPr>
          <a:xfrm>
            <a:off x="5853100" y="1370827"/>
            <a:ext cx="3214341" cy="1602443"/>
            <a:chOff x="6123130" y="1745707"/>
            <a:chExt cx="3214341" cy="160244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488452A-5E6E-3B23-9E22-B5C9332E68AA}"/>
                </a:ext>
              </a:extLst>
            </p:cNvPr>
            <p:cNvSpPr txBox="1"/>
            <p:nvPr/>
          </p:nvSpPr>
          <p:spPr>
            <a:xfrm>
              <a:off x="6123130" y="2080032"/>
              <a:ext cx="321434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Anomaly Score Calculation → Label Proposing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→ Significant Label Selection</a:t>
              </a:r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D881DFC0-0C18-878F-53D7-2742715E4AAA}"/>
                </a:ext>
              </a:extLst>
            </p:cNvPr>
            <p:cNvCxnSpPr/>
            <p:nvPr/>
          </p:nvCxnSpPr>
          <p:spPr bwMode="auto">
            <a:xfrm>
              <a:off x="6685702" y="2014530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996F883-BA2B-9E98-CF4F-EEEA38ED81E6}"/>
                </a:ext>
              </a:extLst>
            </p:cNvPr>
            <p:cNvSpPr txBox="1"/>
            <p:nvPr/>
          </p:nvSpPr>
          <p:spPr>
            <a:xfrm>
              <a:off x="6123130" y="2492869"/>
              <a:ext cx="317266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Label Proposing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은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Zero-shot Inference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로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Anomaly Score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은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Unsupervised Learning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을 통해 계산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DAAB3FF-E597-3A4D-FF9B-56887EB4BE2B}"/>
                </a:ext>
              </a:extLst>
            </p:cNvPr>
            <p:cNvSpPr txBox="1"/>
            <p:nvPr/>
          </p:nvSpPr>
          <p:spPr>
            <a:xfrm>
              <a:off x="6897269" y="1745707"/>
              <a:ext cx="18357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Object </a:t>
              </a:r>
              <a:r>
                <a:rPr lang="en-US" altLang="ko-KR" sz="1200" b="1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Detecion</a:t>
              </a:r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200" b="1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아키텍쳐</a:t>
              </a:r>
              <a:endPara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30F757-D83A-DDE0-1270-09198C3870CF}"/>
                </a:ext>
              </a:extLst>
            </p:cNvPr>
            <p:cNvSpPr txBox="1"/>
            <p:nvPr/>
          </p:nvSpPr>
          <p:spPr>
            <a:xfrm>
              <a:off x="6123130" y="2917263"/>
              <a:ext cx="313098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Proposed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된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Candidate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중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Anomaly Score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에 근거하여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Significant Label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선별</a:t>
              </a:r>
            </a:p>
          </p:txBody>
        </p:sp>
      </p:grpSp>
      <p:sp>
        <p:nvSpPr>
          <p:cNvPr id="59" name="Text Box 64">
            <a:extLst>
              <a:ext uri="{FF2B5EF4-FFF2-40B4-BE49-F238E27FC236}">
                <a16:creationId xmlns:a16="http://schemas.microsoft.com/office/drawing/2014/main" id="{C72C6688-EDF6-A879-905B-30FAD4444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en-US" altLang="ko-KR" sz="1400" b="1" dirty="0">
                <a:solidFill>
                  <a:srgbClr val="000000"/>
                </a:solidFill>
              </a:rPr>
              <a:t>Object Detection </a:t>
            </a:r>
            <a:r>
              <a:rPr lang="ko-KR" altLang="en-US" sz="1400" b="1" dirty="0">
                <a:solidFill>
                  <a:srgbClr val="000000"/>
                </a:solidFill>
              </a:rPr>
              <a:t>모델 구축을 위한 </a:t>
            </a:r>
            <a:r>
              <a:rPr lang="en-US" altLang="ko-KR" sz="1400" b="1" dirty="0">
                <a:solidFill>
                  <a:srgbClr val="000000"/>
                </a:solidFill>
              </a:rPr>
              <a:t>Data Labeling</a:t>
            </a:r>
            <a:r>
              <a:rPr lang="ko-KR" altLang="en-US" sz="1400" b="1" dirty="0">
                <a:solidFill>
                  <a:srgbClr val="000000"/>
                </a:solidFill>
              </a:rPr>
              <a:t>은 리소스와 시간적 측면에서 상당한 비용을 차지</a:t>
            </a:r>
            <a:r>
              <a:rPr lang="en-US" altLang="ko-KR" sz="1400" b="1" dirty="0">
                <a:solidFill>
                  <a:srgbClr val="000000"/>
                </a:solidFill>
              </a:rPr>
              <a:t>. </a:t>
            </a:r>
            <a:r>
              <a:rPr lang="ko-KR" altLang="en-US" sz="1400" b="1" dirty="0">
                <a:solidFill>
                  <a:srgbClr val="000000"/>
                </a:solidFill>
              </a:rPr>
              <a:t>또한 </a:t>
            </a:r>
            <a:r>
              <a:rPr lang="en-US" altLang="ko-KR" sz="1400" b="1" dirty="0">
                <a:solidFill>
                  <a:srgbClr val="000000"/>
                </a:solidFill>
              </a:rPr>
              <a:t>Human-error </a:t>
            </a:r>
            <a:r>
              <a:rPr lang="ko-KR" altLang="en-US" sz="1400" b="1" dirty="0">
                <a:solidFill>
                  <a:srgbClr val="000000"/>
                </a:solidFill>
              </a:rPr>
              <a:t>발생 가능성으로 인한 데이터 품질 저하를 일으킬 수 있어</a:t>
            </a:r>
            <a:r>
              <a:rPr lang="en-US" altLang="ko-KR" sz="1400" b="1" dirty="0">
                <a:solidFill>
                  <a:srgbClr val="000000"/>
                </a:solidFill>
              </a:rPr>
              <a:t> Unsupervised Learning </a:t>
            </a:r>
            <a:r>
              <a:rPr lang="ko-KR" altLang="en-US" sz="1400" b="1" dirty="0">
                <a:solidFill>
                  <a:srgbClr val="000000"/>
                </a:solidFill>
              </a:rPr>
              <a:t>기반 </a:t>
            </a:r>
            <a:r>
              <a:rPr lang="en-US" altLang="ko-KR" sz="1400" b="1" dirty="0">
                <a:solidFill>
                  <a:srgbClr val="000000"/>
                </a:solidFill>
              </a:rPr>
              <a:t>Object Detection </a:t>
            </a:r>
            <a:r>
              <a:rPr lang="ko-KR" altLang="en-US" sz="1400" b="1" dirty="0">
                <a:solidFill>
                  <a:srgbClr val="000000"/>
                </a:solidFill>
              </a:rPr>
              <a:t>모델을 구축하여 이상 데이터 추출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7D2F12-99B3-BF50-A88C-D8A9F3145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68" y="1402581"/>
            <a:ext cx="5134292" cy="2297743"/>
          </a:xfrm>
          <a:prstGeom prst="rect">
            <a:avLst/>
          </a:prstGeom>
        </p:spPr>
      </p:pic>
      <p:sp>
        <p:nvSpPr>
          <p:cNvPr id="15" name="Text Box 64">
            <a:extLst>
              <a:ext uri="{FF2B5EF4-FFF2-40B4-BE49-F238E27FC236}">
                <a16:creationId xmlns:a16="http://schemas.microsoft.com/office/drawing/2014/main" id="{CAAD0E94-6841-D349-594A-1BE4AFB3E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3938257"/>
            <a:ext cx="955423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en-US" altLang="ko-KR" sz="1400" b="1" dirty="0">
                <a:solidFill>
                  <a:srgbClr val="000000"/>
                </a:solidFill>
              </a:rPr>
              <a:t>Image</a:t>
            </a:r>
            <a:r>
              <a:rPr lang="ko-KR" altLang="en-US" sz="1400" b="1" dirty="0">
                <a:solidFill>
                  <a:srgbClr val="000000"/>
                </a:solidFill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</a:rPr>
              <a:t>Pre-Process</a:t>
            </a:r>
            <a:r>
              <a:rPr lang="ko-KR" altLang="en-US" sz="1400" b="1" dirty="0">
                <a:solidFill>
                  <a:srgbClr val="000000"/>
                </a:solidFill>
              </a:rPr>
              <a:t>를 수행하여 </a:t>
            </a:r>
            <a:r>
              <a:rPr lang="en-US" altLang="ko-KR" sz="1400" b="1" dirty="0">
                <a:solidFill>
                  <a:srgbClr val="000000"/>
                </a:solidFill>
              </a:rPr>
              <a:t>DDAD(Denoising Diffusion Anomaly Detection) </a:t>
            </a:r>
            <a:r>
              <a:rPr lang="ko-KR" altLang="en-US" sz="1400" b="1" dirty="0">
                <a:solidFill>
                  <a:srgbClr val="000000"/>
                </a:solidFill>
              </a:rPr>
              <a:t>모델 학습 데이터 생성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3D3F8AF-DA62-C512-C7C7-5D693EDE967C}"/>
              </a:ext>
            </a:extLst>
          </p:cNvPr>
          <p:cNvGrpSpPr/>
          <p:nvPr/>
        </p:nvGrpSpPr>
        <p:grpSpPr>
          <a:xfrm>
            <a:off x="6579230" y="4362328"/>
            <a:ext cx="3118161" cy="1602443"/>
            <a:chOff x="6123130" y="1745707"/>
            <a:chExt cx="3118161" cy="160244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59B3A95-8C3E-C9B0-0968-DB70F46CAAAE}"/>
                </a:ext>
              </a:extLst>
            </p:cNvPr>
            <p:cNvSpPr txBox="1"/>
            <p:nvPr/>
          </p:nvSpPr>
          <p:spPr>
            <a:xfrm>
              <a:off x="6123130" y="2080032"/>
              <a:ext cx="311816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원본 이미지 및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text prompt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를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Grounding Dino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모델에 입력하여 </a:t>
              </a:r>
              <a:r>
                <a:rPr lang="en-US" altLang="ko-KR" sz="11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Boundning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Box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추출</a:t>
              </a: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02BCABCE-6CF4-92B6-87BB-7EE45BFDF534}"/>
                </a:ext>
              </a:extLst>
            </p:cNvPr>
            <p:cNvCxnSpPr/>
            <p:nvPr/>
          </p:nvCxnSpPr>
          <p:spPr bwMode="auto">
            <a:xfrm>
              <a:off x="6685702" y="2014530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466E54-46FC-D8F4-D4E5-AB7B25620C6D}"/>
                </a:ext>
              </a:extLst>
            </p:cNvPr>
            <p:cNvSpPr txBox="1"/>
            <p:nvPr/>
          </p:nvSpPr>
          <p:spPr>
            <a:xfrm>
              <a:off x="6123130" y="2492869"/>
              <a:ext cx="298992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원본 이미지와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Bounding Box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를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Segment Anything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모델에 입력하여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Object Mask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추출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5C1EC52-B135-8570-23CB-E0782E0ABABD}"/>
                </a:ext>
              </a:extLst>
            </p:cNvPr>
            <p:cNvSpPr txBox="1"/>
            <p:nvPr/>
          </p:nvSpPr>
          <p:spPr>
            <a:xfrm>
              <a:off x="6897269" y="1745707"/>
              <a:ext cx="14398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Image Pre-Process</a:t>
              </a:r>
              <a:endPara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47E09B-CDD5-1159-CD37-576B14814CEF}"/>
                </a:ext>
              </a:extLst>
            </p:cNvPr>
            <p:cNvSpPr txBox="1"/>
            <p:nvPr/>
          </p:nvSpPr>
          <p:spPr>
            <a:xfrm>
              <a:off x="6123130" y="2917263"/>
              <a:ext cx="28777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Object Mask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부위만 원본 이미지에서 추출하여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DDAD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학습 데이터 생성</a:t>
              </a:r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DD3214EB-FE54-5725-DA9B-E25BC87AF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210" y="4362328"/>
            <a:ext cx="1440000" cy="1440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16B33DE-C177-0BE2-6084-2F7448E04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880" y="4336686"/>
            <a:ext cx="1440000" cy="1440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EF8AAE7-8E57-BF4D-E298-43286F151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7689" y="4336686"/>
            <a:ext cx="1440000" cy="144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81D22EE-2377-E77F-9D20-7C7944A87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86" y="4336686"/>
            <a:ext cx="1440000" cy="1440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ADDC703-65D5-F62B-C8E9-7B24167DBA90}"/>
              </a:ext>
            </a:extLst>
          </p:cNvPr>
          <p:cNvSpPr txBox="1"/>
          <p:nvPr/>
        </p:nvSpPr>
        <p:spPr>
          <a:xfrm>
            <a:off x="547949" y="5736533"/>
            <a:ext cx="6734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i="1" dirty="0">
                <a:latin typeface="Arial Narrow" panose="020B0606020202030204" pitchFamily="34" charset="0"/>
              </a:rPr>
              <a:t>“A leaf”</a:t>
            </a:r>
            <a:endParaRPr lang="ko-KR" altLang="en-US" sz="1100" i="1" dirty="0">
              <a:latin typeface="Arial Narrow" panose="020B0606020202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AF410F-5C75-165F-1A32-D3782DCDEE73}"/>
              </a:ext>
            </a:extLst>
          </p:cNvPr>
          <p:cNvSpPr txBox="1"/>
          <p:nvPr/>
        </p:nvSpPr>
        <p:spPr>
          <a:xfrm>
            <a:off x="1710637" y="5882018"/>
            <a:ext cx="14782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en-US" altLang="ko-KR" dirty="0" err="1"/>
              <a:t>GroundingDino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(Bounding Box </a:t>
            </a:r>
            <a:r>
              <a:rPr lang="ko-KR" altLang="en-US" dirty="0"/>
              <a:t>추출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6CA6FD-288F-BA92-D800-EE4FDC3CEEF0}"/>
              </a:ext>
            </a:extLst>
          </p:cNvPr>
          <p:cNvSpPr txBox="1"/>
          <p:nvPr/>
        </p:nvSpPr>
        <p:spPr>
          <a:xfrm>
            <a:off x="3271089" y="5878169"/>
            <a:ext cx="18181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en-US" altLang="ko-KR" dirty="0"/>
              <a:t>Segment Anything</a:t>
            </a:r>
          </a:p>
          <a:p>
            <a:pPr marL="0" indent="0">
              <a:buNone/>
            </a:pPr>
            <a:r>
              <a:rPr lang="en-US" altLang="ko-KR" dirty="0"/>
              <a:t>(Salient Object Mask </a:t>
            </a:r>
            <a:r>
              <a:rPr lang="ko-KR" altLang="en-US" dirty="0"/>
              <a:t>추출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AEF43B-0988-52B9-3378-65DEE5DDFE1A}"/>
              </a:ext>
            </a:extLst>
          </p:cNvPr>
          <p:cNvSpPr txBox="1"/>
          <p:nvPr/>
        </p:nvSpPr>
        <p:spPr>
          <a:xfrm>
            <a:off x="5071773" y="5874695"/>
            <a:ext cx="156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ko-KR" altLang="en-US" dirty="0"/>
              <a:t>학습 데이터 생성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1BABCB-2287-4076-1014-A85B4DFC6646}"/>
              </a:ext>
            </a:extLst>
          </p:cNvPr>
          <p:cNvSpPr txBox="1"/>
          <p:nvPr/>
        </p:nvSpPr>
        <p:spPr>
          <a:xfrm>
            <a:off x="334697" y="5913504"/>
            <a:ext cx="10999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ko-KR" altLang="en-US" dirty="0"/>
              <a:t>원본 이미지 및</a:t>
            </a:r>
          </a:p>
          <a:p>
            <a:pPr marL="0" indent="0">
              <a:buNone/>
            </a:pPr>
            <a:r>
              <a:rPr lang="ko-KR" altLang="en-US" dirty="0"/>
              <a:t>텍스트 프롬프트</a:t>
            </a:r>
          </a:p>
        </p:txBody>
      </p:sp>
    </p:spTree>
    <p:extLst>
      <p:ext uri="{BB962C8B-B14F-4D97-AF65-F5344CB8AC3E}">
        <p14:creationId xmlns:p14="http://schemas.microsoft.com/office/powerpoint/2010/main" val="2740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1D0CD-9D91-B9E9-7234-3B898B073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C9EAEC-E8AA-7FD7-FF65-EACAA2822819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auto">
              <a:spcBef>
                <a:spcPts val="0"/>
              </a:spcBef>
              <a:spcAft>
                <a:spcPts val="0"/>
              </a:spcAft>
              <a:defRPr kumimoji="0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Unsupervised</a:t>
            </a:r>
            <a:r>
              <a:rPr lang="ko-KR" altLang="en-US" dirty="0"/>
              <a:t> </a:t>
            </a:r>
            <a:r>
              <a:rPr lang="en-US" altLang="ko-KR" dirty="0"/>
              <a:t>Learning </a:t>
            </a:r>
            <a:r>
              <a:rPr lang="ko-KR" altLang="en-US" b="0" dirty="0"/>
              <a:t>기반 </a:t>
            </a:r>
            <a:r>
              <a:rPr lang="en-US" altLang="ko-KR" dirty="0"/>
              <a:t>Object Detection</a:t>
            </a:r>
            <a:endParaRPr lang="ko-KR" altLang="en-US" dirty="0"/>
          </a:p>
        </p:txBody>
      </p:sp>
      <p:sp>
        <p:nvSpPr>
          <p:cNvPr id="59" name="Text Box 64">
            <a:extLst>
              <a:ext uri="{FF2B5EF4-FFF2-40B4-BE49-F238E27FC236}">
                <a16:creationId xmlns:a16="http://schemas.microsoft.com/office/drawing/2014/main" id="{E982C84D-BDF4-A608-A402-BFADF392B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en-US" altLang="ko-KR" sz="1400" b="1" dirty="0">
                <a:solidFill>
                  <a:srgbClr val="000000"/>
                </a:solidFill>
              </a:rPr>
              <a:t> DDAD(</a:t>
            </a:r>
            <a:r>
              <a:rPr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Denoising Diffusion Anomaly Detection</a:t>
            </a:r>
            <a:r>
              <a:rPr lang="en-US" altLang="ko-KR" sz="1400" b="1" dirty="0">
                <a:solidFill>
                  <a:srgbClr val="000000"/>
                </a:solidFill>
              </a:rPr>
              <a:t>) </a:t>
            </a:r>
            <a:r>
              <a:rPr lang="ko-KR" altLang="en-US" sz="1400" b="1" dirty="0">
                <a:solidFill>
                  <a:srgbClr val="000000"/>
                </a:solidFill>
              </a:rPr>
              <a:t>모델을 사용하여 </a:t>
            </a:r>
            <a:r>
              <a:rPr lang="en-US" altLang="ko-KR" sz="1400" b="1" dirty="0">
                <a:solidFill>
                  <a:srgbClr val="000000"/>
                </a:solidFill>
              </a:rPr>
              <a:t>Reconstruction</a:t>
            </a:r>
            <a:r>
              <a:rPr lang="ko-KR" altLang="en-US" sz="1400" b="1" dirty="0">
                <a:solidFill>
                  <a:srgbClr val="000000"/>
                </a:solidFill>
              </a:rPr>
              <a:t>을 수행한 후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</a:rPr>
              <a:t>원본 이미지와 </a:t>
            </a:r>
            <a:r>
              <a:rPr lang="en-US" altLang="ko-KR" sz="1400" b="1" dirty="0">
                <a:solidFill>
                  <a:srgbClr val="000000"/>
                </a:solidFill>
              </a:rPr>
              <a:t>Comparison</a:t>
            </a:r>
            <a:r>
              <a:rPr lang="ko-KR" altLang="en-US" sz="1400" b="1" dirty="0">
                <a:solidFill>
                  <a:srgbClr val="000000"/>
                </a:solidFill>
              </a:rPr>
              <a:t>을 통해 </a:t>
            </a:r>
            <a:r>
              <a:rPr lang="en-US" altLang="ko-KR" sz="1400" b="1" dirty="0">
                <a:solidFill>
                  <a:srgbClr val="000000"/>
                </a:solidFill>
              </a:rPr>
              <a:t>Anomaly Map </a:t>
            </a:r>
            <a:r>
              <a:rPr lang="ko-KR" altLang="en-US" sz="1400" b="1" dirty="0">
                <a:solidFill>
                  <a:srgbClr val="000000"/>
                </a:solidFill>
              </a:rPr>
              <a:t>계산</a:t>
            </a:r>
            <a:r>
              <a:rPr lang="en-US" altLang="ko-KR" sz="1400" b="1" dirty="0">
                <a:solidFill>
                  <a:srgbClr val="000000"/>
                </a:solidFill>
              </a:rPr>
              <a:t>. DDAD </a:t>
            </a:r>
            <a:r>
              <a:rPr lang="ko-KR" altLang="en-US" sz="1400" b="1" dirty="0">
                <a:solidFill>
                  <a:srgbClr val="000000"/>
                </a:solidFill>
              </a:rPr>
              <a:t>모델 학습에 정상 데이터만 사용하여 </a:t>
            </a:r>
            <a:r>
              <a:rPr lang="en-US" altLang="ko-KR" sz="1400" b="1" dirty="0">
                <a:solidFill>
                  <a:srgbClr val="000000"/>
                </a:solidFill>
              </a:rPr>
              <a:t>Original Image</a:t>
            </a:r>
            <a:r>
              <a:rPr lang="ko-KR" altLang="en-US" sz="1400" b="1" dirty="0">
                <a:solidFill>
                  <a:srgbClr val="000000"/>
                </a:solidFill>
              </a:rPr>
              <a:t>와 </a:t>
            </a:r>
            <a:r>
              <a:rPr lang="en-US" altLang="ko-KR" sz="1400" b="1" dirty="0">
                <a:solidFill>
                  <a:srgbClr val="000000"/>
                </a:solidFill>
              </a:rPr>
              <a:t>Reconstructed Image </a:t>
            </a:r>
            <a:r>
              <a:rPr lang="ko-KR" altLang="en-US" sz="1400" b="1" dirty="0">
                <a:solidFill>
                  <a:srgbClr val="000000"/>
                </a:solidFill>
              </a:rPr>
              <a:t>비교를 통해 </a:t>
            </a:r>
            <a:r>
              <a:rPr lang="en-US" altLang="ko-KR" sz="1400" b="1" dirty="0">
                <a:solidFill>
                  <a:srgbClr val="000000"/>
                </a:solidFill>
              </a:rPr>
              <a:t>Anomaly Map </a:t>
            </a:r>
            <a:r>
              <a:rPr lang="ko-KR" altLang="en-US" sz="1400" b="1" dirty="0">
                <a:solidFill>
                  <a:srgbClr val="000000"/>
                </a:solidFill>
              </a:rPr>
              <a:t>생성</a:t>
            </a:r>
          </a:p>
        </p:txBody>
      </p:sp>
      <p:sp>
        <p:nvSpPr>
          <p:cNvPr id="15" name="Text Box 64">
            <a:extLst>
              <a:ext uri="{FF2B5EF4-FFF2-40B4-BE49-F238E27FC236}">
                <a16:creationId xmlns:a16="http://schemas.microsoft.com/office/drawing/2014/main" id="{5E8775CC-7D36-2285-31CD-DDC1D5F11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3574363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en-US" altLang="ko-KR" sz="1400" b="1" dirty="0" err="1">
                <a:solidFill>
                  <a:srgbClr val="000000"/>
                </a:solidFill>
              </a:rPr>
              <a:t>GroundingDino</a:t>
            </a:r>
            <a:r>
              <a:rPr lang="ko-KR" altLang="en-US" sz="1400" b="1" dirty="0">
                <a:solidFill>
                  <a:srgbClr val="000000"/>
                </a:solidFill>
              </a:rPr>
              <a:t>가 </a:t>
            </a:r>
            <a:r>
              <a:rPr lang="en-US" altLang="ko-KR" sz="1400" b="1" dirty="0">
                <a:solidFill>
                  <a:srgbClr val="000000"/>
                </a:solidFill>
              </a:rPr>
              <a:t>Proposal</a:t>
            </a:r>
            <a:r>
              <a:rPr lang="ko-KR" altLang="en-US" sz="1400" b="1" dirty="0">
                <a:solidFill>
                  <a:srgbClr val="000000"/>
                </a:solidFill>
              </a:rPr>
              <a:t>하는 </a:t>
            </a:r>
            <a:r>
              <a:rPr lang="en-US" altLang="ko-KR" sz="1400" b="1" dirty="0">
                <a:solidFill>
                  <a:srgbClr val="000000"/>
                </a:solidFill>
              </a:rPr>
              <a:t>Box</a:t>
            </a:r>
            <a:r>
              <a:rPr lang="ko-KR" altLang="en-US" sz="1400" b="1" dirty="0">
                <a:solidFill>
                  <a:srgbClr val="000000"/>
                </a:solidFill>
              </a:rPr>
              <a:t>에 대해 </a:t>
            </a:r>
            <a:r>
              <a:rPr lang="en-US" altLang="ko-KR" sz="1400" b="1" dirty="0">
                <a:solidFill>
                  <a:srgbClr val="000000"/>
                </a:solidFill>
              </a:rPr>
              <a:t>Anomaly Map</a:t>
            </a:r>
            <a:r>
              <a:rPr lang="ko-KR" altLang="en-US" sz="1400" b="1" dirty="0">
                <a:solidFill>
                  <a:srgbClr val="000000"/>
                </a:solidFill>
              </a:rPr>
              <a:t>에 </a:t>
            </a:r>
            <a:r>
              <a:rPr lang="en-US" altLang="ko-KR" sz="1400" b="1" dirty="0">
                <a:solidFill>
                  <a:srgbClr val="000000"/>
                </a:solidFill>
              </a:rPr>
              <a:t>Matching </a:t>
            </a:r>
            <a:r>
              <a:rPr lang="ko-KR" altLang="en-US" sz="1400" b="1" dirty="0">
                <a:solidFill>
                  <a:srgbClr val="000000"/>
                </a:solidFill>
              </a:rPr>
              <a:t>후 </a:t>
            </a:r>
            <a:r>
              <a:rPr lang="en-US" altLang="ko-KR" sz="1400" b="1" dirty="0">
                <a:solidFill>
                  <a:srgbClr val="000000"/>
                </a:solidFill>
              </a:rPr>
              <a:t>Box Region </a:t>
            </a:r>
            <a:r>
              <a:rPr lang="ko-KR" altLang="en-US" sz="1400" b="1" dirty="0">
                <a:solidFill>
                  <a:srgbClr val="000000"/>
                </a:solidFill>
              </a:rPr>
              <a:t>내 </a:t>
            </a:r>
            <a:r>
              <a:rPr lang="en-US" altLang="ko-KR" sz="1400" b="1" dirty="0">
                <a:solidFill>
                  <a:srgbClr val="000000"/>
                </a:solidFill>
              </a:rPr>
              <a:t>Avg. Anomaly Score </a:t>
            </a:r>
            <a:r>
              <a:rPr lang="ko-KR" altLang="en-US" sz="1400" b="1" dirty="0">
                <a:solidFill>
                  <a:srgbClr val="000000"/>
                </a:solidFill>
              </a:rPr>
              <a:t>계산 </a:t>
            </a:r>
            <a:br>
              <a:rPr lang="en-US" altLang="ko-KR" sz="1400" b="1" dirty="0">
                <a:solidFill>
                  <a:srgbClr val="000000"/>
                </a:solidFill>
              </a:rPr>
            </a:br>
            <a:r>
              <a:rPr lang="en-US" altLang="ko-KR" sz="1400" b="1" dirty="0">
                <a:solidFill>
                  <a:srgbClr val="000000"/>
                </a:solidFill>
              </a:rPr>
              <a:t>Threshold 0.2 </a:t>
            </a:r>
            <a:r>
              <a:rPr lang="ko-KR" altLang="en-US" sz="1400" b="1" dirty="0">
                <a:solidFill>
                  <a:srgbClr val="000000"/>
                </a:solidFill>
              </a:rPr>
              <a:t>이상인 </a:t>
            </a:r>
            <a:r>
              <a:rPr lang="en-US" altLang="ko-KR" sz="1400" b="1" dirty="0">
                <a:solidFill>
                  <a:srgbClr val="000000"/>
                </a:solidFill>
              </a:rPr>
              <a:t>Box</a:t>
            </a:r>
            <a:r>
              <a:rPr lang="ko-KR" altLang="en-US" sz="1400" b="1" dirty="0">
                <a:solidFill>
                  <a:srgbClr val="000000"/>
                </a:solidFill>
              </a:rPr>
              <a:t>만 남긴 후 </a:t>
            </a:r>
            <a:r>
              <a:rPr lang="en-US" altLang="ko-KR" sz="1400" b="1" dirty="0">
                <a:solidFill>
                  <a:srgbClr val="000000"/>
                </a:solidFill>
              </a:rPr>
              <a:t>NMS(Non Maximum Suppression) </a:t>
            </a:r>
            <a:r>
              <a:rPr lang="ko-KR" altLang="en-US" sz="1400" b="1" dirty="0">
                <a:solidFill>
                  <a:srgbClr val="000000"/>
                </a:solidFill>
              </a:rPr>
              <a:t>적용 후 최종 </a:t>
            </a:r>
            <a:r>
              <a:rPr lang="en-US" altLang="ko-KR" sz="1400" b="1" dirty="0">
                <a:solidFill>
                  <a:srgbClr val="000000"/>
                </a:solidFill>
              </a:rPr>
              <a:t>Label </a:t>
            </a:r>
            <a:r>
              <a:rPr lang="ko-KR" altLang="en-US" sz="1400" b="1" dirty="0">
                <a:solidFill>
                  <a:srgbClr val="000000"/>
                </a:solidFill>
              </a:rPr>
              <a:t>생성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4A38E70-1A5F-3004-5AE0-B9648875F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01" y="1225643"/>
            <a:ext cx="4298911" cy="222790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4753A3-82A0-8C0D-25A0-513A04BC5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334" y="1384775"/>
            <a:ext cx="3757237" cy="202867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D91E740-1388-64B7-D34F-84E8A8E08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648" y="4161508"/>
            <a:ext cx="3928101" cy="2171342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F9D4830E-0270-307A-814C-666D12AF6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74" y="4207426"/>
            <a:ext cx="4555184" cy="2247139"/>
          </a:xfrm>
          <a:prstGeom prst="rect">
            <a:avLst/>
          </a:prstGeom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id="{8A22EF49-B59F-B58D-9D9D-64729B401359}"/>
              </a:ext>
            </a:extLst>
          </p:cNvPr>
          <p:cNvSpPr/>
          <p:nvPr/>
        </p:nvSpPr>
        <p:spPr>
          <a:xfrm>
            <a:off x="1139340" y="6396775"/>
            <a:ext cx="75781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Unsupervised </a:t>
            </a:r>
            <a:r>
              <a:rPr lang="ko-KR" altLang="en-US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학습이지만</a:t>
            </a:r>
            <a:r>
              <a:rPr lang="en-US" altLang="ko-KR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Fine-tune </a:t>
            </a:r>
            <a:r>
              <a:rPr lang="ko-KR" altLang="en-US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 모델에 필적하는 </a:t>
            </a:r>
            <a:r>
              <a:rPr lang="en-US" altLang="ko-KR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Performance </a:t>
            </a:r>
            <a:r>
              <a:rPr lang="ko-KR" altLang="en-US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보여줌 </a:t>
            </a:r>
          </a:p>
        </p:txBody>
      </p:sp>
    </p:spTree>
    <p:extLst>
      <p:ext uri="{BB962C8B-B14F-4D97-AF65-F5344CB8AC3E}">
        <p14:creationId xmlns:p14="http://schemas.microsoft.com/office/powerpoint/2010/main" val="20370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13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96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2CD7F-2669-FE87-C5E8-5F877C307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B0ECA5-560C-88BC-B042-2A2CD200C156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진단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DX</a:t>
            </a:r>
            <a:endParaRPr kumimoji="0" lang="ko-KR" altLang="en-US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EA28802-7085-9393-7854-ACCDD7E415F8}"/>
              </a:ext>
            </a:extLst>
          </p:cNvPr>
          <p:cNvGrpSpPr/>
          <p:nvPr/>
        </p:nvGrpSpPr>
        <p:grpSpPr>
          <a:xfrm>
            <a:off x="198247" y="1291759"/>
            <a:ext cx="678391" cy="1175128"/>
            <a:chOff x="198247" y="1245106"/>
            <a:chExt cx="678391" cy="1175128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D7127DB-B944-B749-D9B4-3A13BC7704FF}"/>
                </a:ext>
              </a:extLst>
            </p:cNvPr>
            <p:cNvSpPr/>
            <p:nvPr/>
          </p:nvSpPr>
          <p:spPr bwMode="auto">
            <a:xfrm>
              <a:off x="229593" y="1245106"/>
              <a:ext cx="612820" cy="117512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073FB5-01E1-495F-5A3A-3B1FE895106E}"/>
                </a:ext>
              </a:extLst>
            </p:cNvPr>
            <p:cNvSpPr txBox="1"/>
            <p:nvPr/>
          </p:nvSpPr>
          <p:spPr>
            <a:xfrm>
              <a:off x="290356" y="1358622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i="1" dirty="0">
                  <a:latin typeface="Arial Narrow" panose="020B0606020202030204" pitchFamily="34" charset="0"/>
                </a:rPr>
                <a:t>As-is</a:t>
              </a:r>
              <a:endParaRPr lang="ko-KR" altLang="en-US" sz="1200" b="1" i="1" dirty="0">
                <a:latin typeface="Arial Narrow" panose="020B0606020202030204" pitchFamily="34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C518C0F-C616-6EBF-9640-AE9D9DA064E9}"/>
                </a:ext>
              </a:extLst>
            </p:cNvPr>
            <p:cNvSpPr/>
            <p:nvPr/>
          </p:nvSpPr>
          <p:spPr>
            <a:xfrm>
              <a:off x="198247" y="1671822"/>
              <a:ext cx="678391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1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현장진단</a:t>
              </a:r>
              <a:endPara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11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위주</a:t>
              </a:r>
              <a:br>
                <a:rPr lang="en-US" altLang="ko-KR" sz="11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1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정기진단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93EF1C-2EFE-5BEA-6DB9-EE4D7F6E744A}"/>
              </a:ext>
            </a:extLst>
          </p:cNvPr>
          <p:cNvGrpSpPr/>
          <p:nvPr/>
        </p:nvGrpSpPr>
        <p:grpSpPr>
          <a:xfrm>
            <a:off x="190563" y="2597264"/>
            <a:ext cx="678391" cy="1044136"/>
            <a:chOff x="190563" y="2858503"/>
            <a:chExt cx="678391" cy="104413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68E1991-6034-CF3D-887D-F980E0D9A330}"/>
                </a:ext>
              </a:extLst>
            </p:cNvPr>
            <p:cNvSpPr/>
            <p:nvPr/>
          </p:nvSpPr>
          <p:spPr bwMode="auto">
            <a:xfrm>
              <a:off x="223349" y="2858503"/>
              <a:ext cx="612820" cy="104413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altLang="ko-KR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ko-KR" sz="1400" b="1" u="sng" dirty="0">
                <a:solidFill>
                  <a:srgbClr val="000000"/>
                </a:solidFill>
                <a:latin typeface="Arial" charset="0"/>
                <a:ea typeface="Dotum" pitchFamily="50" charset="-127"/>
              </a:endParaRPr>
            </a:p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827A9CE-C457-803A-CC48-DA2BA3D4252F}"/>
                </a:ext>
              </a:extLst>
            </p:cNvPr>
            <p:cNvSpPr txBox="1"/>
            <p:nvPr/>
          </p:nvSpPr>
          <p:spPr>
            <a:xfrm>
              <a:off x="290356" y="2886014"/>
              <a:ext cx="5162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i="1" dirty="0">
                  <a:latin typeface="Arial Narrow" panose="020B0606020202030204" pitchFamily="34" charset="0"/>
                </a:rPr>
                <a:t>To-be</a:t>
              </a:r>
              <a:endParaRPr lang="ko-KR" altLang="en-US" sz="1200" b="1" i="1" dirty="0">
                <a:latin typeface="Arial Narrow" panose="020B0606020202030204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1A3C410-B472-3687-C337-979F1C307C83}"/>
                </a:ext>
              </a:extLst>
            </p:cNvPr>
            <p:cNvSpPr/>
            <p:nvPr/>
          </p:nvSpPr>
          <p:spPr>
            <a:xfrm>
              <a:off x="190563" y="3182174"/>
              <a:ext cx="678391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’</a:t>
              </a:r>
              <a:r>
                <a:rPr lang="ko-KR" altLang="en-US" sz="11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평상시</a:t>
              </a:r>
              <a:r>
                <a:rPr lang="en-US" altLang="ko-KR" sz="11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’</a:t>
              </a:r>
            </a:p>
            <a:p>
              <a:pPr algn="ctr"/>
              <a:r>
                <a:rPr lang="ko-KR" altLang="en-US" sz="11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리스크</a:t>
              </a:r>
              <a:endPara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11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선행관리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A6C6691-8603-2DE6-EBAE-7B8C098844E1}"/>
              </a:ext>
            </a:extLst>
          </p:cNvPr>
          <p:cNvSpPr txBox="1"/>
          <p:nvPr/>
        </p:nvSpPr>
        <p:spPr>
          <a:xfrm>
            <a:off x="5803188" y="1133745"/>
            <a:ext cx="3951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진단 방식 성숙도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지속적 진단 →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지속적 오퍼레이션 모니터링 →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리스크 분석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4D89D24-D1A8-889B-29C3-AEE928E57374}"/>
              </a:ext>
            </a:extLst>
          </p:cNvPr>
          <p:cNvGrpSpPr/>
          <p:nvPr/>
        </p:nvGrpSpPr>
        <p:grpSpPr>
          <a:xfrm>
            <a:off x="5993143" y="1460492"/>
            <a:ext cx="3233483" cy="2042527"/>
            <a:chOff x="6123130" y="1745707"/>
            <a:chExt cx="3233483" cy="204252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4061DE5-11A9-33D1-80A1-D495885EB303}"/>
                </a:ext>
              </a:extLst>
            </p:cNvPr>
            <p:cNvSpPr txBox="1"/>
            <p:nvPr/>
          </p:nvSpPr>
          <p:spPr>
            <a:xfrm>
              <a:off x="6123130" y="2080032"/>
              <a:ext cx="18133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진단 커버리지가 제한적임</a:t>
              </a:r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BF114A91-B073-B960-966F-514CE7E31CED}"/>
                </a:ext>
              </a:extLst>
            </p:cNvPr>
            <p:cNvCxnSpPr/>
            <p:nvPr/>
          </p:nvCxnSpPr>
          <p:spPr bwMode="auto">
            <a:xfrm>
              <a:off x="6685702" y="2014530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DC6BD0E-8A24-8F17-C6DD-1AA1C6EBE569}"/>
                </a:ext>
              </a:extLst>
            </p:cNvPr>
            <p:cNvSpPr txBox="1"/>
            <p:nvPr/>
          </p:nvSpPr>
          <p:spPr>
            <a:xfrm>
              <a:off x="6131278" y="2747372"/>
              <a:ext cx="322533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진단인 개인 역량</a:t>
              </a:r>
              <a:r>
                <a:rPr lang="en-US" altLang="ko-KR" dirty="0"/>
                <a:t>/</a:t>
              </a:r>
              <a:r>
                <a:rPr lang="ko-KR" altLang="en-US" dirty="0"/>
                <a:t>경험에 의존하여 리스크 점검이</a:t>
              </a:r>
              <a:br>
                <a:rPr lang="en-US" altLang="ko-KR" dirty="0"/>
              </a:br>
              <a:r>
                <a:rPr lang="ko-KR" altLang="en-US" dirty="0"/>
                <a:t>누락</a:t>
              </a:r>
              <a:r>
                <a:rPr lang="en-US" altLang="ko-KR" dirty="0"/>
                <a:t>/</a:t>
              </a:r>
              <a:r>
                <a:rPr lang="ko-KR" altLang="en-US" dirty="0"/>
                <a:t>부실할 수 있음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E570BA5-B569-39C2-3CBD-D19F9A48E866}"/>
                </a:ext>
              </a:extLst>
            </p:cNvPr>
            <p:cNvSpPr/>
            <p:nvPr/>
          </p:nvSpPr>
          <p:spPr>
            <a:xfrm>
              <a:off x="7795587" y="2107283"/>
              <a:ext cx="141897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r>
                <a:rPr lang="ko-KR" altLang="en-US" sz="9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 법인 진단에 </a:t>
              </a:r>
              <a:r>
                <a:rPr lang="en-US" altLang="ko-KR" sz="9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</a:t>
              </a:r>
              <a:r>
                <a:rPr lang="ko-KR" altLang="en-US" sz="9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개월 소요</a:t>
              </a:r>
              <a:endPara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020E8AD-0DAF-F9AF-8FD3-02D60F524CDD}"/>
                </a:ext>
              </a:extLst>
            </p:cNvPr>
            <p:cNvSpPr txBox="1"/>
            <p:nvPr/>
          </p:nvSpPr>
          <p:spPr>
            <a:xfrm>
              <a:off x="6123130" y="2341202"/>
              <a:ext cx="28648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과거 데이터 수집 및 분석에 과다한 시간 투입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B268995-FD1D-532F-C653-BB6C8110BED7}"/>
                </a:ext>
              </a:extLst>
            </p:cNvPr>
            <p:cNvSpPr txBox="1"/>
            <p:nvPr/>
          </p:nvSpPr>
          <p:spPr>
            <a:xfrm>
              <a:off x="6123130" y="3188070"/>
              <a:ext cx="3091435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과다검출로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소명 제대로 이뤄지지 못하고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따라서 정기 진단과 연계되지 못함 → 발생 원인 파악 및 재발 방지 개선안 도출에 어려움 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C7B6823-8449-F808-8B2A-E6A36C2D6306}"/>
                </a:ext>
              </a:extLst>
            </p:cNvPr>
            <p:cNvSpPr/>
            <p:nvPr/>
          </p:nvSpPr>
          <p:spPr>
            <a:xfrm>
              <a:off x="6313301" y="2507312"/>
              <a:ext cx="2723823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9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분석하지 못허가나 잘못 분석한 데이터 발생 가능성 있음</a:t>
              </a:r>
              <a:endPara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311676D-D6EC-BF10-8B1D-FD9923052A6C}"/>
                </a:ext>
              </a:extLst>
            </p:cNvPr>
            <p:cNvSpPr txBox="1"/>
            <p:nvPr/>
          </p:nvSpPr>
          <p:spPr>
            <a:xfrm>
              <a:off x="7345783" y="1745707"/>
              <a:ext cx="8996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개선 포인트</a:t>
              </a:r>
            </a:p>
          </p:txBody>
        </p:sp>
      </p:grpSp>
      <p:sp>
        <p:nvSpPr>
          <p:cNvPr id="59" name="Text Box 64">
            <a:extLst>
              <a:ext uri="{FF2B5EF4-FFF2-40B4-BE49-F238E27FC236}">
                <a16:creationId xmlns:a16="http://schemas.microsoft.com/office/drawing/2014/main" id="{3DD663AA-C6EC-AC41-12CF-844AECE1E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해외법인 오퍼레이션 전반의 </a:t>
            </a:r>
            <a:r>
              <a:rPr lang="ko-KR" altLang="en-US" sz="1400" b="1" u="sng" dirty="0">
                <a:solidFill>
                  <a:srgbClr val="000000"/>
                </a:solidFill>
              </a:rPr>
              <a:t>데이터를 수집</a:t>
            </a:r>
            <a:r>
              <a:rPr lang="ko-KR" altLang="en-US" sz="1400" b="1" dirty="0">
                <a:solidFill>
                  <a:srgbClr val="000000"/>
                </a:solidFill>
              </a:rPr>
              <a:t> 후 리스크 징후를 실시간 자동 예측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분석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리포팅 하는 체계를 기반으로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u="sng" dirty="0">
                <a:solidFill>
                  <a:srgbClr val="000000"/>
                </a:solidFill>
              </a:rPr>
              <a:t>현업 및 리스크 주관부서까지 리스크를 상시 점검</a:t>
            </a:r>
            <a:r>
              <a:rPr lang="ko-KR" altLang="en-US" sz="1400" b="1" dirty="0">
                <a:solidFill>
                  <a:srgbClr val="000000"/>
                </a:solidFill>
              </a:rPr>
              <a:t>토록 하는 프로세스를 구축하여 정기진단 방식의 한계점을 극복한 </a:t>
            </a:r>
            <a:r>
              <a:rPr lang="en-US" altLang="ko-KR" sz="1400" b="1" dirty="0">
                <a:solidFill>
                  <a:srgbClr val="000000"/>
                </a:solidFill>
              </a:rPr>
              <a:t>‘</a:t>
            </a:r>
            <a:r>
              <a:rPr lang="ko-KR" altLang="en-US" sz="1400" b="1" dirty="0">
                <a:solidFill>
                  <a:srgbClr val="000000"/>
                </a:solidFill>
              </a:rPr>
              <a:t>평상시 리스크 관리</a:t>
            </a:r>
            <a:r>
              <a:rPr lang="en-US" altLang="ko-KR" sz="1400" b="1" dirty="0">
                <a:solidFill>
                  <a:srgbClr val="000000"/>
                </a:solidFill>
              </a:rPr>
              <a:t>’ </a:t>
            </a:r>
            <a:r>
              <a:rPr lang="ko-KR" altLang="en-US" sz="1400" b="1" dirty="0">
                <a:solidFill>
                  <a:srgbClr val="000000"/>
                </a:solidFill>
              </a:rPr>
              <a:t>체제를 강화함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pic>
        <p:nvPicPr>
          <p:cNvPr id="126" name="그림 125">
            <a:extLst>
              <a:ext uri="{FF2B5EF4-FFF2-40B4-BE49-F238E27FC236}">
                <a16:creationId xmlns:a16="http://schemas.microsoft.com/office/drawing/2014/main" id="{C7B45FF6-4F72-73B6-E2B2-72108B252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37" y="1297441"/>
            <a:ext cx="3751149" cy="1137849"/>
          </a:xfrm>
          <a:prstGeom prst="rect">
            <a:avLst/>
          </a:prstGeom>
        </p:spPr>
      </p:pic>
      <p:sp>
        <p:nvSpPr>
          <p:cNvPr id="196" name="Text Box 64">
            <a:extLst>
              <a:ext uri="{FF2B5EF4-FFF2-40B4-BE49-F238E27FC236}">
                <a16:creationId xmlns:a16="http://schemas.microsoft.com/office/drawing/2014/main" id="{133541B6-E264-308E-F03A-AF40CDCF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3943884"/>
            <a:ext cx="955423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데이터 이동이 빈번한 추론부는 데이터 환경에 배치하고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</a:rPr>
              <a:t>최소한의 학습 데이터를 학습 환경으로 전송하여 높은 데이터 보안 수준 유지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D0BE0B3-3808-AAE8-A6F2-DD987CF98093}"/>
              </a:ext>
            </a:extLst>
          </p:cNvPr>
          <p:cNvSpPr txBox="1"/>
          <p:nvPr/>
        </p:nvSpPr>
        <p:spPr>
          <a:xfrm>
            <a:off x="317452" y="4829545"/>
            <a:ext cx="2576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Edge App(</a:t>
            </a: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추론부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GCP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환경에 존재</a:t>
            </a:r>
          </a:p>
        </p:txBody>
      </p: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AD4A084C-E294-1942-6633-A102601CC57D}"/>
              </a:ext>
            </a:extLst>
          </p:cNvPr>
          <p:cNvCxnSpPr>
            <a:cxnSpLocks/>
          </p:cNvCxnSpPr>
          <p:nvPr/>
        </p:nvCxnSpPr>
        <p:spPr bwMode="auto">
          <a:xfrm>
            <a:off x="394249" y="4764043"/>
            <a:ext cx="1962998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35ECE3EB-95B0-BDBB-68FB-CB7FA2933DCB}"/>
              </a:ext>
            </a:extLst>
          </p:cNvPr>
          <p:cNvSpPr txBox="1"/>
          <p:nvPr/>
        </p:nvSpPr>
        <p:spPr>
          <a:xfrm>
            <a:off x="317452" y="5103350"/>
            <a:ext cx="33970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Edge Conductor(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추론 관리부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및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AI Conductor(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학습 부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는</a:t>
            </a:r>
            <a:b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AWS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환경에 존재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5330DE7-D5A2-AE8E-F27E-1851986F0B9A}"/>
              </a:ext>
            </a:extLst>
          </p:cNvPr>
          <p:cNvSpPr txBox="1"/>
          <p:nvPr/>
        </p:nvSpPr>
        <p:spPr>
          <a:xfrm>
            <a:off x="557834" y="4495220"/>
            <a:ext cx="1479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시스템 </a:t>
            </a:r>
            <a:r>
              <a:rPr lang="ko-KR" altLang="en-US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아키텍쳐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구조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3AE8798F-BBBE-0E70-C671-C1D15C8B7197}"/>
              </a:ext>
            </a:extLst>
          </p:cNvPr>
          <p:cNvSpPr txBox="1"/>
          <p:nvPr/>
        </p:nvSpPr>
        <p:spPr>
          <a:xfrm>
            <a:off x="317452" y="5547137"/>
            <a:ext cx="31758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GCP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환경의 진단 데이터가 학습을 위해</a:t>
            </a:r>
            <a:b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AWS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환경으로 전달 되고 학습 후 즉시 삭제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회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AE104022-B43D-D1EA-0AAF-290C2CB21DB2}"/>
              </a:ext>
            </a:extLst>
          </p:cNvPr>
          <p:cNvSpPr txBox="1"/>
          <p:nvPr/>
        </p:nvSpPr>
        <p:spPr>
          <a:xfrm>
            <a:off x="317452" y="6009974"/>
            <a:ext cx="32335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Edge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App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의 추론 결과물 중 일부는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Edge Conductor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</a:t>
            </a:r>
            <a:b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전달되어 추론 성능 모니터링에 활용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F2149375-96CA-E2DD-659A-F78FEAAF26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479"/>
          <a:stretch/>
        </p:blipFill>
        <p:spPr>
          <a:xfrm>
            <a:off x="1082353" y="2500604"/>
            <a:ext cx="3694922" cy="12401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7F265B1-3B2E-BC3C-5163-30538B0B5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531" y="4307751"/>
            <a:ext cx="5535037" cy="227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2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1F613-096E-4C5E-711F-228A0A41E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9BD534-E3B9-A2F1-ED9C-80F1683A1CE1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진단 </a:t>
            </a:r>
            <a:r>
              <a:rPr kumimoji="0" lang="en-US" altLang="ko-KR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DX</a:t>
            </a:r>
            <a:endParaRPr kumimoji="0" lang="ko-KR" altLang="en-US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59" name="Text Box 64">
            <a:extLst>
              <a:ext uri="{FF2B5EF4-FFF2-40B4-BE49-F238E27FC236}">
                <a16:creationId xmlns:a16="http://schemas.microsoft.com/office/drawing/2014/main" id="{6837DBA8-3978-62F3-ADAB-B9AD1E5C0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 err="1">
                <a:solidFill>
                  <a:srgbClr val="000000"/>
                </a:solidFill>
              </a:rPr>
              <a:t>선매출이란</a:t>
            </a:r>
            <a:r>
              <a:rPr lang="ko-KR" altLang="en-US" sz="1400" b="1" dirty="0">
                <a:solidFill>
                  <a:srgbClr val="000000"/>
                </a:solidFill>
              </a:rPr>
              <a:t> 회계 기준에서 정한 매출 인식 가능 시점보다 앞서 매출을 인식하는 것을 의미</a:t>
            </a:r>
            <a:r>
              <a:rPr lang="en-US" altLang="ko-KR" sz="1400" b="1" dirty="0">
                <a:solidFill>
                  <a:srgbClr val="000000"/>
                </a:solidFill>
              </a:rPr>
              <a:t>. </a:t>
            </a:r>
            <a:r>
              <a:rPr lang="ko-KR" altLang="en-US" sz="1400" b="1" dirty="0">
                <a:solidFill>
                  <a:srgbClr val="000000"/>
                </a:solidFill>
              </a:rPr>
              <a:t>선매출이 발생할 경우 재무제표에 영향을 미쳐 경영 상태 왜곡을 초래</a:t>
            </a:r>
            <a:r>
              <a:rPr lang="en-US" altLang="ko-KR" sz="1400" b="1" dirty="0">
                <a:solidFill>
                  <a:srgbClr val="000000"/>
                </a:solidFill>
              </a:rPr>
              <a:t>. </a:t>
            </a:r>
            <a:r>
              <a:rPr lang="ko-KR" altLang="en-US" sz="1400" b="1" dirty="0">
                <a:solidFill>
                  <a:srgbClr val="000000"/>
                </a:solidFill>
              </a:rPr>
              <a:t>월 매출 목표 달성이나 월말 배송 집중에 따른 배송 </a:t>
            </a:r>
            <a:r>
              <a:rPr lang="en-US" altLang="ko-KR" sz="1400" b="1" dirty="0" err="1">
                <a:solidFill>
                  <a:srgbClr val="000000"/>
                </a:solidFill>
              </a:rPr>
              <a:t>Capa</a:t>
            </a:r>
            <a:r>
              <a:rPr lang="en-US" altLang="ko-KR" sz="1400" b="1" dirty="0">
                <a:solidFill>
                  <a:srgbClr val="000000"/>
                </a:solidFill>
              </a:rPr>
              <a:t>. </a:t>
            </a:r>
            <a:r>
              <a:rPr lang="ko-KR" altLang="en-US" sz="1400" b="1" dirty="0">
                <a:solidFill>
                  <a:srgbClr val="000000"/>
                </a:solidFill>
              </a:rPr>
              <a:t>부족을 회피하고자 하는 특수 목적으로 의도 되기도 함</a:t>
            </a:r>
            <a:r>
              <a:rPr lang="en-US" altLang="ko-KR" sz="1400" b="1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4F40CC3-A472-8EB5-600B-DF8A57BC8788}"/>
              </a:ext>
            </a:extLst>
          </p:cNvPr>
          <p:cNvSpPr txBox="1"/>
          <p:nvPr/>
        </p:nvSpPr>
        <p:spPr>
          <a:xfrm>
            <a:off x="2448957" y="1767259"/>
            <a:ext cx="18934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통계적 지식 및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경험 기반의</a:t>
            </a:r>
            <a:b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 Engineering</a:t>
            </a:r>
            <a:endParaRPr lang="ko-KR" altLang="en-US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BFB3AF47-891D-15CC-7CC0-897CB4AB6D99}"/>
              </a:ext>
            </a:extLst>
          </p:cNvPr>
          <p:cNvCxnSpPr/>
          <p:nvPr/>
        </p:nvCxnSpPr>
        <p:spPr bwMode="auto">
          <a:xfrm>
            <a:off x="2559666" y="1701757"/>
            <a:ext cx="2219769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4BAF49C2-99A3-4BDB-23DA-690CA0E02AF7}"/>
              </a:ext>
            </a:extLst>
          </p:cNvPr>
          <p:cNvSpPr txBox="1"/>
          <p:nvPr/>
        </p:nvSpPr>
        <p:spPr>
          <a:xfrm>
            <a:off x="2448957" y="2218929"/>
            <a:ext cx="25923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지도 학습을 위해 법인 및</a:t>
            </a:r>
            <a:b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현업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담당자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Feedback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 Y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 생성</a:t>
            </a:r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1872CE3-FDBE-B205-5B65-E4927EC15CF4}"/>
              </a:ext>
            </a:extLst>
          </p:cNvPr>
          <p:cNvSpPr txBox="1"/>
          <p:nvPr/>
        </p:nvSpPr>
        <p:spPr>
          <a:xfrm>
            <a:off x="3219747" y="1432934"/>
            <a:ext cx="1326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ML </a:t>
            </a:r>
            <a:r>
              <a:rPr lang="ko-KR" altLang="en-US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진단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방법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829944B-C9F0-FD6C-4856-EA05FA0E6A93}"/>
              </a:ext>
            </a:extLst>
          </p:cNvPr>
          <p:cNvSpPr txBox="1"/>
          <p:nvPr/>
        </p:nvSpPr>
        <p:spPr>
          <a:xfrm>
            <a:off x="179530" y="1767259"/>
            <a:ext cx="18069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비정상적 매출인식</a:t>
            </a:r>
            <a:b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출하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배송완료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리드타임</a:t>
            </a:r>
          </a:p>
        </p:txBody>
      </p: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A69D7B36-6D1C-AB2A-C206-711FBF9B8F69}"/>
              </a:ext>
            </a:extLst>
          </p:cNvPr>
          <p:cNvCxnSpPr>
            <a:cxnSpLocks/>
          </p:cNvCxnSpPr>
          <p:nvPr/>
        </p:nvCxnSpPr>
        <p:spPr bwMode="auto">
          <a:xfrm>
            <a:off x="256327" y="1701757"/>
            <a:ext cx="1962998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253AA001-BB25-C227-A7E7-A679F12AD641}"/>
              </a:ext>
            </a:extLst>
          </p:cNvPr>
          <p:cNvSpPr txBox="1"/>
          <p:nvPr/>
        </p:nvSpPr>
        <p:spPr>
          <a:xfrm>
            <a:off x="179530" y="2190354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월말 매출 집중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CA65903-D8D8-B5F2-2D9D-666049490573}"/>
              </a:ext>
            </a:extLst>
          </p:cNvPr>
          <p:cNvSpPr txBox="1"/>
          <p:nvPr/>
        </p:nvSpPr>
        <p:spPr>
          <a:xfrm>
            <a:off x="916408" y="1432934"/>
            <a:ext cx="899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선매출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징후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33DBEAC-AAAB-8DE9-55DC-40D85E4D9D5F}"/>
              </a:ext>
            </a:extLst>
          </p:cNvPr>
          <p:cNvSpPr txBox="1"/>
          <p:nvPr/>
        </p:nvSpPr>
        <p:spPr>
          <a:xfrm>
            <a:off x="179530" y="2447529"/>
            <a:ext cx="17876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월말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Customer pickup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증가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9BAF00F-1593-8708-EFE3-75B60E61C201}"/>
              </a:ext>
            </a:extLst>
          </p:cNvPr>
          <p:cNvSpPr txBox="1"/>
          <p:nvPr/>
        </p:nvSpPr>
        <p:spPr>
          <a:xfrm>
            <a:off x="179530" y="2723754"/>
            <a:ext cx="1047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반품 증가 등</a:t>
            </a:r>
          </a:p>
        </p:txBody>
      </p:sp>
      <p:pic>
        <p:nvPicPr>
          <p:cNvPr id="234" name="그림 233">
            <a:extLst>
              <a:ext uri="{FF2B5EF4-FFF2-40B4-BE49-F238E27FC236}">
                <a16:creationId xmlns:a16="http://schemas.microsoft.com/office/drawing/2014/main" id="{2B6D76F1-467C-3AB0-6576-BB814145B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896" y="1334745"/>
            <a:ext cx="3773047" cy="1768367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FB387747-3380-1816-B9E4-0A486032F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45" y="3676670"/>
            <a:ext cx="3467058" cy="2227605"/>
          </a:xfrm>
          <a:prstGeom prst="rect">
            <a:avLst/>
          </a:prstGeom>
        </p:spPr>
      </p:pic>
      <p:sp>
        <p:nvSpPr>
          <p:cNvPr id="56" name="Text Box 64">
            <a:extLst>
              <a:ext uri="{FF2B5EF4-FFF2-40B4-BE49-F238E27FC236}">
                <a16:creationId xmlns:a16="http://schemas.microsoft.com/office/drawing/2014/main" id="{71BDD28D-0D62-2549-BA12-DE7B5A790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3276547"/>
            <a:ext cx="955423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앙상블 트리 계열의 </a:t>
            </a:r>
            <a:r>
              <a:rPr lang="ko-KR" altLang="en-US" sz="1400" b="1" dirty="0" err="1">
                <a:solidFill>
                  <a:srgbClr val="000000"/>
                </a:solidFill>
              </a:rPr>
              <a:t>머신러닝</a:t>
            </a:r>
            <a:r>
              <a:rPr lang="ko-KR" altLang="en-US" sz="1400" b="1" dirty="0">
                <a:solidFill>
                  <a:srgbClr val="000000"/>
                </a:solidFill>
              </a:rPr>
              <a:t> 모델들 </a:t>
            </a:r>
            <a:r>
              <a:rPr lang="en-US" altLang="ko-KR" sz="1400" b="1" dirty="0">
                <a:solidFill>
                  <a:srgbClr val="000000"/>
                </a:solidFill>
              </a:rPr>
              <a:t>(</a:t>
            </a:r>
            <a:r>
              <a:rPr lang="en-US" altLang="ko-KR" sz="1400" b="1" dirty="0" err="1">
                <a:solidFill>
                  <a:srgbClr val="000000"/>
                </a:solidFill>
              </a:rPr>
              <a:t>LightGBM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en-US" altLang="ko-KR" sz="1400" b="1" dirty="0" err="1">
                <a:solidFill>
                  <a:srgbClr val="000000"/>
                </a:solidFill>
              </a:rPr>
              <a:t>CatBoost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en-US" altLang="ko-KR" sz="1400" b="1" dirty="0" err="1">
                <a:solidFill>
                  <a:srgbClr val="000000"/>
                </a:solidFill>
              </a:rPr>
              <a:t>XGBoost</a:t>
            </a:r>
            <a:r>
              <a:rPr lang="en-US" altLang="ko-KR" sz="1400" b="1" dirty="0">
                <a:solidFill>
                  <a:srgbClr val="000000"/>
                </a:solidFill>
              </a:rPr>
              <a:t>, GBM, Random Forest) </a:t>
            </a:r>
            <a:r>
              <a:rPr lang="ko-KR" altLang="en-US" sz="1400" b="1" dirty="0">
                <a:solidFill>
                  <a:srgbClr val="000000"/>
                </a:solidFill>
              </a:rPr>
              <a:t>기반 </a:t>
            </a:r>
            <a:r>
              <a:rPr lang="en-US" altLang="ko-KR" sz="1400" b="1" dirty="0">
                <a:solidFill>
                  <a:srgbClr val="000000"/>
                </a:solidFill>
              </a:rPr>
              <a:t>Classification </a:t>
            </a:r>
            <a:r>
              <a:rPr lang="ko-KR" altLang="en-US" sz="1400" b="1" dirty="0">
                <a:solidFill>
                  <a:srgbClr val="000000"/>
                </a:solidFill>
              </a:rPr>
              <a:t>모델 개발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1CA6031F-06BD-AD8C-01C7-C62BD1AEA99C}"/>
              </a:ext>
            </a:extLst>
          </p:cNvPr>
          <p:cNvGrpSpPr/>
          <p:nvPr/>
        </p:nvGrpSpPr>
        <p:grpSpPr>
          <a:xfrm>
            <a:off x="4007895" y="3717467"/>
            <a:ext cx="4104009" cy="2168600"/>
            <a:chOff x="407495" y="3625939"/>
            <a:chExt cx="4104009" cy="2168600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918D60B-C823-F0F6-DA06-B84236F622FB}"/>
                </a:ext>
              </a:extLst>
            </p:cNvPr>
            <p:cNvSpPr txBox="1"/>
            <p:nvPr/>
          </p:nvSpPr>
          <p:spPr>
            <a:xfrm>
              <a:off x="407495" y="5290333"/>
              <a:ext cx="30460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F1-Score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기준 성능을 비교하여 최적 모델 선택</a:t>
              </a:r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62FD19E4-C4FE-AF38-9628-FC0E24C59AC9}"/>
                </a:ext>
              </a:extLst>
            </p:cNvPr>
            <p:cNvCxnSpPr/>
            <p:nvPr/>
          </p:nvCxnSpPr>
          <p:spPr bwMode="auto">
            <a:xfrm>
              <a:off x="970067" y="3894762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00596FF-0FE3-A99B-A2F5-C64D807007DF}"/>
                </a:ext>
              </a:extLst>
            </p:cNvPr>
            <p:cNvSpPr txBox="1"/>
            <p:nvPr/>
          </p:nvSpPr>
          <p:spPr>
            <a:xfrm>
              <a:off x="415643" y="5028723"/>
              <a:ext cx="322533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en-US" altLang="ko-KR" dirty="0" err="1"/>
                <a:t>Crocss</a:t>
              </a:r>
              <a:r>
                <a:rPr lang="en-US" altLang="ko-KR" dirty="0"/>
                <a:t> Validation </a:t>
              </a:r>
              <a:r>
                <a:rPr lang="ko-KR" altLang="en-US" dirty="0"/>
                <a:t>기반 모델 성능 평가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201E30C-BB66-7896-987E-6FC83826F0F9}"/>
                </a:ext>
              </a:extLst>
            </p:cNvPr>
            <p:cNvSpPr txBox="1"/>
            <p:nvPr/>
          </p:nvSpPr>
          <p:spPr>
            <a:xfrm>
              <a:off x="407495" y="4769477"/>
              <a:ext cx="39773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Oversampling / </a:t>
              </a:r>
              <a:r>
                <a:rPr lang="en-US" altLang="ko-KR" sz="1100" dirty="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Undersampling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을 사용하여 클래스 간 </a:t>
              </a:r>
              <a:r>
                <a:rPr lang="ko-KR" altLang="en-US" sz="1100" dirty="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언밸런싱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완화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ACC465B-2732-16F6-E3DE-A52A7F2C176B}"/>
                </a:ext>
              </a:extLst>
            </p:cNvPr>
            <p:cNvSpPr txBox="1"/>
            <p:nvPr/>
          </p:nvSpPr>
          <p:spPr>
            <a:xfrm>
              <a:off x="1630148" y="3625939"/>
              <a:ext cx="13260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ML </a:t>
              </a:r>
              <a:r>
                <a:rPr lang="ko-KR" altLang="en-US" sz="1200" b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모델</a:t>
              </a:r>
              <a:r>
                <a:rPr lang="en-US" altLang="ko-KR" sz="1200" b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200" b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개발 방향</a:t>
              </a:r>
              <a:endPara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9C5833-CB82-A7F0-6DDC-3F516521A838}"/>
                </a:ext>
              </a:extLst>
            </p:cNvPr>
            <p:cNvSpPr txBox="1"/>
            <p:nvPr/>
          </p:nvSpPr>
          <p:spPr>
            <a:xfrm>
              <a:off x="407495" y="3946725"/>
              <a:ext cx="410400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Train </a:t>
              </a:r>
              <a:r>
                <a:rPr lang="en-US" altLang="ko-KR" sz="11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Piepeline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: 6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개의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asset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Input – Readiness – Preprocess – Sampling – Train - Output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2A29737-AA26-E3C6-D6F5-7A8A7FF776C1}"/>
                </a:ext>
              </a:extLst>
            </p:cNvPr>
            <p:cNvSpPr txBox="1"/>
            <p:nvPr/>
          </p:nvSpPr>
          <p:spPr>
            <a:xfrm>
              <a:off x="407495" y="4338610"/>
              <a:ext cx="36455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Inference </a:t>
              </a:r>
              <a:r>
                <a:rPr lang="en-US" altLang="ko-KR" sz="11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Piepeline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: 5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개의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asset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Input – Readiness – Preprocess – Inference - Output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F20252A-D17C-691D-D3C6-4C052444E5EF}"/>
                </a:ext>
              </a:extLst>
            </p:cNvPr>
            <p:cNvSpPr txBox="1"/>
            <p:nvPr/>
          </p:nvSpPr>
          <p:spPr>
            <a:xfrm>
              <a:off x="407495" y="5532929"/>
              <a:ext cx="35605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Shapley Value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및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Rule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검증을 혼합하여 진단 가설 생성</a:t>
              </a: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1DD3B5D-5D60-1FFC-7145-B1E4DE2C3357}"/>
              </a:ext>
            </a:extLst>
          </p:cNvPr>
          <p:cNvSpPr/>
          <p:nvPr/>
        </p:nvSpPr>
        <p:spPr>
          <a:xfrm>
            <a:off x="1237826" y="6013853"/>
            <a:ext cx="72157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AI </a:t>
            </a:r>
            <a:r>
              <a:rPr lang="ko-KR" altLang="en-US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진단</a:t>
            </a:r>
            <a:r>
              <a:rPr lang="en-US" altLang="ko-KR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솔루션은 기존 룰 기반 진단 방식에 비해 </a:t>
            </a:r>
            <a:r>
              <a:rPr lang="ko-KR" altLang="en-US" sz="1600" b="1" dirty="0" err="1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과다검출을</a:t>
            </a:r>
            <a:r>
              <a:rPr lang="ko-KR" altLang="en-US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약 </a:t>
            </a:r>
            <a:r>
              <a:rPr lang="en-US" altLang="ko-KR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88% </a:t>
            </a:r>
            <a:r>
              <a:rPr lang="ko-KR" altLang="en-US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감소</a:t>
            </a:r>
            <a:r>
              <a:rPr lang="en-US" altLang="ko-KR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br>
              <a:rPr lang="en-US" altLang="ko-KR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 법인 당 </a:t>
            </a:r>
            <a:r>
              <a:rPr lang="en-US" altLang="ko-KR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600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개월 소요되는 진단을 전체 법인 대상으로 상시 진단 수행</a:t>
            </a:r>
            <a:endParaRPr lang="en-US" altLang="ko-KR" sz="1600" b="1" dirty="0">
              <a:solidFill>
                <a:srgbClr val="F5493C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74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BCC02-96D8-E2AF-4440-9B225352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D98D96-AB14-49A5-5675-5709BBAFE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16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64C5E-DD67-DDBB-E30B-21B6483570B0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NPS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AI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Agent </a:t>
            </a:r>
            <a:r>
              <a:rPr kumimoji="0" lang="ko-KR" altLang="en-US" sz="2000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</a:p>
        </p:txBody>
      </p:sp>
      <p:sp>
        <p:nvSpPr>
          <p:cNvPr id="4" name="Text Box 64">
            <a:extLst>
              <a:ext uri="{FF2B5EF4-FFF2-40B4-BE49-F238E27FC236}">
                <a16:creationId xmlns:a16="http://schemas.microsoft.com/office/drawing/2014/main" id="{5B9BBDA0-D771-CCBD-92A8-571F16EEA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해외법인 오퍼레이션 전반의 </a:t>
            </a:r>
            <a:r>
              <a:rPr lang="ko-KR" altLang="en-US" sz="1400" b="1" u="sng" dirty="0">
                <a:solidFill>
                  <a:srgbClr val="000000"/>
                </a:solidFill>
              </a:rPr>
              <a:t>데이터를 수집</a:t>
            </a:r>
            <a:r>
              <a:rPr lang="ko-KR" altLang="en-US" sz="1400" b="1" dirty="0">
                <a:solidFill>
                  <a:srgbClr val="000000"/>
                </a:solidFill>
              </a:rPr>
              <a:t> 후 리스크 징후를 실시간 자동 예측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분석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리포팅 하는 체계를 기반으로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u="sng" dirty="0">
                <a:solidFill>
                  <a:srgbClr val="000000"/>
                </a:solidFill>
              </a:rPr>
              <a:t>현업 및 리스크 주관부서까지 리스크를 상시 점검</a:t>
            </a:r>
            <a:r>
              <a:rPr lang="ko-KR" altLang="en-US" sz="1400" b="1" dirty="0">
                <a:solidFill>
                  <a:srgbClr val="000000"/>
                </a:solidFill>
              </a:rPr>
              <a:t>토록 하는 프로세스를 구축하여 정기진단 방식의 한계점을 극복한 </a:t>
            </a:r>
            <a:r>
              <a:rPr lang="en-US" altLang="ko-KR" sz="1400" b="1" dirty="0">
                <a:solidFill>
                  <a:srgbClr val="000000"/>
                </a:solidFill>
              </a:rPr>
              <a:t>‘</a:t>
            </a:r>
            <a:r>
              <a:rPr lang="ko-KR" altLang="en-US" sz="1400" b="1" dirty="0">
                <a:solidFill>
                  <a:srgbClr val="000000"/>
                </a:solidFill>
              </a:rPr>
              <a:t>평상시 리스크 선행관리</a:t>
            </a:r>
            <a:r>
              <a:rPr lang="en-US" altLang="ko-KR" sz="1400" b="1" dirty="0">
                <a:solidFill>
                  <a:srgbClr val="000000"/>
                </a:solidFill>
              </a:rPr>
              <a:t>’ </a:t>
            </a:r>
            <a:r>
              <a:rPr lang="ko-KR" altLang="en-US" sz="1400" b="1" dirty="0">
                <a:solidFill>
                  <a:srgbClr val="000000"/>
                </a:solidFill>
              </a:rPr>
              <a:t>체제를 강화함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81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E4A9E-61F2-82C5-BEC7-CC02FAE6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9C4B5D-83B4-544D-D33C-DB1FFD208787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NPS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AI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Agent </a:t>
            </a:r>
            <a:r>
              <a:rPr kumimoji="0" lang="ko-KR" altLang="en-US" sz="2000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</a:p>
        </p:txBody>
      </p:sp>
      <p:sp>
        <p:nvSpPr>
          <p:cNvPr id="4" name="Text Box 64">
            <a:extLst>
              <a:ext uri="{FF2B5EF4-FFF2-40B4-BE49-F238E27FC236}">
                <a16:creationId xmlns:a16="http://schemas.microsoft.com/office/drawing/2014/main" id="{83ADE111-318E-08E0-3631-9F90DDE4C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글로벌 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21</a:t>
            </a:r>
            <a:r>
              <a:rPr lang="ko-KR" altLang="en-US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개국 고객 피드백 데이터를 분석하여 고객 경험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(CX) </a:t>
            </a:r>
            <a:r>
              <a:rPr lang="ko-KR" altLang="en-US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개선 인사이트를 빠르고 편리하게 도출할 수 있도록 돕는 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AI </a:t>
            </a:r>
            <a:r>
              <a:rPr lang="ko-KR" altLang="en-US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기반 고객경험 분석 </a:t>
            </a:r>
            <a:r>
              <a:rPr lang="ko-KR" altLang="en-US" sz="1400" b="0" i="0" dirty="0" err="1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챗봇</a:t>
            </a:r>
            <a:r>
              <a:rPr lang="ko-KR" altLang="en-US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 서비스 구축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EA97F6-42C4-157E-55E7-D83BD46CD8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66" r="3649"/>
          <a:stretch/>
        </p:blipFill>
        <p:spPr>
          <a:xfrm>
            <a:off x="4484017" y="1147664"/>
            <a:ext cx="5238481" cy="3134051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DA639E5-5AD0-B8AF-3519-7D8CF93A2BD5}"/>
              </a:ext>
            </a:extLst>
          </p:cNvPr>
          <p:cNvGrpSpPr/>
          <p:nvPr/>
        </p:nvGrpSpPr>
        <p:grpSpPr>
          <a:xfrm>
            <a:off x="233178" y="2617290"/>
            <a:ext cx="4222631" cy="1636500"/>
            <a:chOff x="205187" y="1581592"/>
            <a:chExt cx="4222631" cy="16365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EAAF97-79E8-0573-0F79-73912C7137B7}"/>
                </a:ext>
              </a:extLst>
            </p:cNvPr>
            <p:cNvSpPr txBox="1"/>
            <p:nvPr/>
          </p:nvSpPr>
          <p:spPr>
            <a:xfrm>
              <a:off x="205187" y="1915917"/>
              <a:ext cx="305885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자연어 질의를 통해 편리하게 데이터를 분석하고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구체적인 개선 방안을 효율적으로 도출</a:t>
              </a: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7E47384-7B61-FF20-6A47-8E43AEAB2E03}"/>
                </a:ext>
              </a:extLst>
            </p:cNvPr>
            <p:cNvCxnSpPr/>
            <p:nvPr/>
          </p:nvCxnSpPr>
          <p:spPr bwMode="auto">
            <a:xfrm>
              <a:off x="767759" y="1850415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6DF097-7FA0-ABAD-FC70-75A71D50BE39}"/>
                </a:ext>
              </a:extLst>
            </p:cNvPr>
            <p:cNvSpPr txBox="1"/>
            <p:nvPr/>
          </p:nvSpPr>
          <p:spPr>
            <a:xfrm>
              <a:off x="213335" y="2704555"/>
              <a:ext cx="399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온라인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VOC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데이터를 연계 분석하여 정성적 피드백까지 함께 분석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F14FB7-A07F-D7F7-0C91-3284F4B29E4B}"/>
                </a:ext>
              </a:extLst>
            </p:cNvPr>
            <p:cNvSpPr txBox="1"/>
            <p:nvPr/>
          </p:nvSpPr>
          <p:spPr>
            <a:xfrm>
              <a:off x="205187" y="2307892"/>
              <a:ext cx="4222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R-NPS (Relationship Net Promoter Score)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조사 결과를 기반으로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국가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제품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여정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터치포인트 별 현황 점검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13E56E-40F8-2CF8-5E7F-0C9A7A9C8E51}"/>
                </a:ext>
              </a:extLst>
            </p:cNvPr>
            <p:cNvSpPr txBox="1"/>
            <p:nvPr/>
          </p:nvSpPr>
          <p:spPr>
            <a:xfrm>
              <a:off x="1427840" y="1581592"/>
              <a:ext cx="8996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서비스 내용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D0E9F3-0512-C733-593D-8791408203E6}"/>
                </a:ext>
              </a:extLst>
            </p:cNvPr>
            <p:cNvSpPr txBox="1"/>
            <p:nvPr/>
          </p:nvSpPr>
          <p:spPr>
            <a:xfrm>
              <a:off x="213335" y="2956482"/>
              <a:ext cx="322533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sz="1100" b="0" i="0" dirty="0" err="1">
                  <a:solidFill>
                    <a:srgbClr val="172B4D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법인별</a:t>
              </a:r>
              <a:r>
                <a:rPr lang="ko-KR" altLang="en-US" sz="1100" b="0" i="0" dirty="0">
                  <a:solidFill>
                    <a:srgbClr val="172B4D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 </a:t>
              </a:r>
              <a:r>
                <a:rPr lang="en-US" altLang="ko-KR" sz="1100" b="0" i="0" dirty="0">
                  <a:solidFill>
                    <a:srgbClr val="172B4D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CX </a:t>
              </a:r>
              <a:r>
                <a:rPr lang="ko-KR" altLang="en-US" sz="1100" b="0" i="0" dirty="0">
                  <a:solidFill>
                    <a:srgbClr val="172B4D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개선 과제 리스트 조회를 지원</a:t>
              </a:r>
              <a:endParaRPr lang="ko-KR" altLang="en-US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F268EC9-4E75-E1F6-F1F9-76E38C3586E5}"/>
              </a:ext>
            </a:extLst>
          </p:cNvPr>
          <p:cNvGrpSpPr/>
          <p:nvPr/>
        </p:nvGrpSpPr>
        <p:grpSpPr>
          <a:xfrm>
            <a:off x="233178" y="1394980"/>
            <a:ext cx="3233483" cy="1273932"/>
            <a:chOff x="205187" y="1581592"/>
            <a:chExt cx="3233483" cy="12739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3C88DD-F530-7E17-1592-C2A9FDBB28D4}"/>
                </a:ext>
              </a:extLst>
            </p:cNvPr>
            <p:cNvSpPr txBox="1"/>
            <p:nvPr/>
          </p:nvSpPr>
          <p:spPr>
            <a:xfrm>
              <a:off x="205187" y="1915917"/>
              <a:ext cx="31774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R-NPS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기반 상세 원인 분석과 개선과제 도출 원함</a:t>
              </a:r>
              <a:endPara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17604E4-A0F8-5BA0-838A-E9800842FFC9}"/>
                </a:ext>
              </a:extLst>
            </p:cNvPr>
            <p:cNvCxnSpPr/>
            <p:nvPr/>
          </p:nvCxnSpPr>
          <p:spPr bwMode="auto">
            <a:xfrm>
              <a:off x="767759" y="1850415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1C2A3D-3E21-7032-E56D-357DA33EFD91}"/>
                </a:ext>
              </a:extLst>
            </p:cNvPr>
            <p:cNvSpPr txBox="1"/>
            <p:nvPr/>
          </p:nvSpPr>
          <p:spPr>
            <a:xfrm>
              <a:off x="213335" y="2424637"/>
              <a:ext cx="322533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연계분석이 필요한 내부 </a:t>
              </a:r>
              <a:r>
                <a:rPr lang="en-US" altLang="ko-KR" dirty="0"/>
                <a:t>Data</a:t>
              </a:r>
              <a:r>
                <a:rPr lang="ko-KR" altLang="en-US" dirty="0"/>
                <a:t>들도 일일이 찾아 확인해야 하는 어려움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DFD6372-AA07-5199-8AA3-AAA87B1C1928}"/>
                </a:ext>
              </a:extLst>
            </p:cNvPr>
            <p:cNvSpPr txBox="1"/>
            <p:nvPr/>
          </p:nvSpPr>
          <p:spPr>
            <a:xfrm>
              <a:off x="205187" y="2177264"/>
              <a:ext cx="31085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법인 담당자의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Data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활용 및 분석 역량에 편차가 큼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9CDE8C-020D-D3F9-FDCD-313BF8FBDE58}"/>
                </a:ext>
              </a:extLst>
            </p:cNvPr>
            <p:cNvSpPr txBox="1"/>
            <p:nvPr/>
          </p:nvSpPr>
          <p:spPr>
            <a:xfrm>
              <a:off x="1427840" y="1581592"/>
              <a:ext cx="18181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현업 </a:t>
              </a:r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Needs </a:t>
              </a:r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및 </a:t>
              </a:r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Pain Point</a:t>
              </a:r>
              <a:endPara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D36A944-37D7-735A-FB9F-98057DD8A684}"/>
              </a:ext>
            </a:extLst>
          </p:cNvPr>
          <p:cNvGrpSpPr/>
          <p:nvPr/>
        </p:nvGrpSpPr>
        <p:grpSpPr>
          <a:xfrm>
            <a:off x="5178025" y="4520965"/>
            <a:ext cx="3998343" cy="1953741"/>
            <a:chOff x="205187" y="1581592"/>
            <a:chExt cx="3998343" cy="19537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869D81-B47A-86A1-56BC-531F6A2FC1F7}"/>
                </a:ext>
              </a:extLst>
            </p:cNvPr>
            <p:cNvSpPr txBox="1"/>
            <p:nvPr/>
          </p:nvSpPr>
          <p:spPr>
            <a:xfrm>
              <a:off x="205187" y="1915917"/>
              <a:ext cx="29145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Supervisor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기반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Multi Agent </a:t>
              </a:r>
              <a:r>
                <a:rPr lang="ko-KR" altLang="en-US" sz="11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아키텍쳐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구축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8BB06D9-88EF-840F-9EC1-8F2A891BCCF5}"/>
                </a:ext>
              </a:extLst>
            </p:cNvPr>
            <p:cNvCxnSpPr/>
            <p:nvPr/>
          </p:nvCxnSpPr>
          <p:spPr bwMode="auto">
            <a:xfrm>
              <a:off x="767759" y="1850415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1E3F87-363C-FCBB-D840-FE5BC0044786}"/>
                </a:ext>
              </a:extLst>
            </p:cNvPr>
            <p:cNvSpPr txBox="1"/>
            <p:nvPr/>
          </p:nvSpPr>
          <p:spPr>
            <a:xfrm>
              <a:off x="213335" y="2695224"/>
              <a:ext cx="399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LangGraph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dirty="0">
                  <a:latin typeface="Arial Narrow" panose="020B0606020202030204" pitchFamily="34" charset="0"/>
                </a:rPr>
                <a:t>진행 사항을 확인하기 위해 </a:t>
              </a:r>
              <a:r>
                <a:rPr lang="en-US" altLang="ko-KR" dirty="0">
                  <a:latin typeface="Arial Narrow" panose="020B0606020202030204" pitchFamily="34" charset="0"/>
                </a:rPr>
                <a:t>Streaming </a:t>
              </a:r>
              <a:r>
                <a:rPr lang="ko-KR" altLang="en-US" dirty="0">
                  <a:latin typeface="Arial Narrow" panose="020B0606020202030204" pitchFamily="34" charset="0"/>
                </a:rPr>
                <a:t>기능 구축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72943F-929A-79A2-5D8C-19CF07A47347}"/>
                </a:ext>
              </a:extLst>
            </p:cNvPr>
            <p:cNvSpPr txBox="1"/>
            <p:nvPr/>
          </p:nvSpPr>
          <p:spPr>
            <a:xfrm>
              <a:off x="205187" y="2419859"/>
              <a:ext cx="398698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RAG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정확도 향상을 위해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Long Context Reordering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기법 사용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79BA09-AA9E-10EF-586F-EA1BB51DCC38}"/>
                </a:ext>
              </a:extLst>
            </p:cNvPr>
            <p:cNvSpPr txBox="1"/>
            <p:nvPr/>
          </p:nvSpPr>
          <p:spPr>
            <a:xfrm>
              <a:off x="882465" y="1581592"/>
              <a:ext cx="21050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Agent </a:t>
              </a:r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구축에 사용된 주요 기능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96AF6C-6B7B-A88F-BEA7-1F72A763F40F}"/>
                </a:ext>
              </a:extLst>
            </p:cNvPr>
            <p:cNvSpPr txBox="1"/>
            <p:nvPr/>
          </p:nvSpPr>
          <p:spPr>
            <a:xfrm>
              <a:off x="213335" y="3273723"/>
              <a:ext cx="38172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en-US" altLang="ko-KR" dirty="0" err="1"/>
                <a:t>Postgre</a:t>
              </a:r>
              <a:r>
                <a:rPr lang="en-US" altLang="ko-KR" dirty="0"/>
                <a:t> DB</a:t>
              </a:r>
              <a:r>
                <a:rPr lang="ko-KR" altLang="en-US" dirty="0"/>
                <a:t>에 </a:t>
              </a:r>
              <a:r>
                <a:rPr lang="en-US" altLang="ko-KR" dirty="0"/>
                <a:t>Chat history </a:t>
              </a:r>
              <a:r>
                <a:rPr lang="ko-KR" altLang="en-US" dirty="0"/>
                <a:t>저장하여 </a:t>
              </a:r>
              <a:r>
                <a:rPr lang="en-US" altLang="ko-KR" dirty="0"/>
                <a:t>Multi-turn </a:t>
              </a:r>
              <a:r>
                <a:rPr lang="ko-KR" altLang="en-US" dirty="0"/>
                <a:t>기능 구축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EF7943-C332-7C82-3103-820440E94A4C}"/>
                </a:ext>
              </a:extLst>
            </p:cNvPr>
            <p:cNvSpPr txBox="1"/>
            <p:nvPr/>
          </p:nvSpPr>
          <p:spPr>
            <a:xfrm>
              <a:off x="213335" y="2975143"/>
              <a:ext cx="399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LangSmith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연동을 통해 사용자 피드백 수집 및 연계 질문 생성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299D1B3-ED64-4EB8-F67D-9FD02B2D28ED}"/>
                </a:ext>
              </a:extLst>
            </p:cNvPr>
            <p:cNvSpPr txBox="1"/>
            <p:nvPr/>
          </p:nvSpPr>
          <p:spPr>
            <a:xfrm>
              <a:off x="205187" y="2167475"/>
              <a:ext cx="26677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Domain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특화된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NL2SQL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프로세스 구축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22DEA232-9880-BAFF-258E-7D6EE2041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90" y="4749325"/>
            <a:ext cx="4494863" cy="177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2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EE7D-4C59-B87D-0548-F79BF28B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3535F8-704D-6725-F59D-59392B272056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NPS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AI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Agent </a:t>
            </a:r>
            <a:r>
              <a:rPr kumimoji="0" lang="ko-KR" altLang="en-US" sz="2000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</a:p>
        </p:txBody>
      </p:sp>
      <p:sp>
        <p:nvSpPr>
          <p:cNvPr id="4" name="Text Box 64">
            <a:extLst>
              <a:ext uri="{FF2B5EF4-FFF2-40B4-BE49-F238E27FC236}">
                <a16:creationId xmlns:a16="http://schemas.microsoft.com/office/drawing/2014/main" id="{E74C430C-4443-71AB-F321-C20DD5907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다양한 데이터 분석 시 단일 </a:t>
            </a:r>
            <a:r>
              <a:rPr lang="en-US" altLang="ko-KR" sz="1400" b="1" dirty="0">
                <a:solidFill>
                  <a:srgbClr val="000000"/>
                </a:solidFill>
              </a:rPr>
              <a:t>Agent </a:t>
            </a:r>
            <a:r>
              <a:rPr lang="ko-KR" altLang="en-US" sz="1400" b="1" dirty="0">
                <a:solidFill>
                  <a:srgbClr val="000000"/>
                </a:solidFill>
              </a:rPr>
              <a:t>기반 모델의 문제점</a:t>
            </a:r>
            <a:r>
              <a:rPr lang="en-US" altLang="ko-KR" sz="1400" b="1" dirty="0">
                <a:solidFill>
                  <a:srgbClr val="000000"/>
                </a:solidFill>
              </a:rPr>
              <a:t>(</a:t>
            </a:r>
            <a:r>
              <a:rPr lang="ko-KR" altLang="en-US" sz="1400" b="1" dirty="0">
                <a:solidFill>
                  <a:srgbClr val="000000"/>
                </a:solidFill>
              </a:rPr>
              <a:t>테이블 및 컬럼 선택 정확도 낮음</a:t>
            </a:r>
            <a:r>
              <a:rPr lang="en-US" altLang="ko-KR" sz="1400" b="1" dirty="0">
                <a:solidFill>
                  <a:srgbClr val="000000"/>
                </a:solidFill>
              </a:rPr>
              <a:t>)</a:t>
            </a:r>
            <a:r>
              <a:rPr lang="ko-KR" altLang="en-US" sz="1400" b="1" dirty="0">
                <a:solidFill>
                  <a:srgbClr val="000000"/>
                </a:solidFill>
              </a:rPr>
              <a:t>을 개선하기 위해  </a:t>
            </a:r>
            <a:r>
              <a:rPr lang="en-US" altLang="ko-KR" sz="1400" b="1" dirty="0">
                <a:solidFill>
                  <a:srgbClr val="000000"/>
                </a:solidFill>
              </a:rPr>
              <a:t>Multi Agent Supervisor </a:t>
            </a:r>
            <a:r>
              <a:rPr lang="ko-KR" altLang="en-US" sz="1400" b="1" dirty="0">
                <a:solidFill>
                  <a:srgbClr val="000000"/>
                </a:solidFill>
              </a:rPr>
              <a:t>구조 </a:t>
            </a:r>
            <a:r>
              <a:rPr lang="en-US" altLang="ko-KR" sz="1400" b="1" dirty="0">
                <a:solidFill>
                  <a:srgbClr val="000000"/>
                </a:solidFill>
              </a:rPr>
              <a:t>(Supervisor </a:t>
            </a:r>
            <a:r>
              <a:rPr lang="ko-KR" altLang="en-US" sz="1400" b="1" dirty="0">
                <a:solidFill>
                  <a:srgbClr val="000000"/>
                </a:solidFill>
              </a:rPr>
              <a:t>및 특정 테이블에 특화된 </a:t>
            </a:r>
            <a:r>
              <a:rPr lang="en-US" altLang="ko-KR" sz="1400" b="1" dirty="0">
                <a:solidFill>
                  <a:srgbClr val="000000"/>
                </a:solidFill>
              </a:rPr>
              <a:t>Sub-Agent)</a:t>
            </a:r>
            <a:r>
              <a:rPr lang="ko-KR" altLang="en-US" sz="1400" b="1" dirty="0">
                <a:solidFill>
                  <a:srgbClr val="000000"/>
                </a:solidFill>
              </a:rPr>
              <a:t>를 도입</a:t>
            </a:r>
            <a:r>
              <a:rPr lang="en-US" altLang="ko-KR" sz="1400" b="1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ADAD6A-7A62-7A6C-0BC4-3F302433F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689" y="1010960"/>
            <a:ext cx="4974329" cy="2558358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7804B2A4-C01F-4040-2CCB-8118487FE3CF}"/>
              </a:ext>
            </a:extLst>
          </p:cNvPr>
          <p:cNvGrpSpPr/>
          <p:nvPr/>
        </p:nvGrpSpPr>
        <p:grpSpPr>
          <a:xfrm>
            <a:off x="317485" y="1302229"/>
            <a:ext cx="4762842" cy="1917127"/>
            <a:chOff x="205187" y="1581592"/>
            <a:chExt cx="4762842" cy="191712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EB6A59-6EEC-1AF0-5AD1-1D68D4ABC19A}"/>
                </a:ext>
              </a:extLst>
            </p:cNvPr>
            <p:cNvSpPr txBox="1"/>
            <p:nvPr/>
          </p:nvSpPr>
          <p:spPr>
            <a:xfrm>
              <a:off x="205187" y="2003662"/>
              <a:ext cx="476284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Multi Agent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네트워크를 구성하여 질문에 대한 적절한 답변을 생성하기 위해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여러 개의 전문화된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Agent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들로 나누어 처리하는 분할 접근 방식 아키텍처 구축</a:t>
              </a: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01C335EE-B3CE-6430-6D4B-CA9DC92B1F60}"/>
                </a:ext>
              </a:extLst>
            </p:cNvPr>
            <p:cNvCxnSpPr/>
            <p:nvPr/>
          </p:nvCxnSpPr>
          <p:spPr bwMode="auto">
            <a:xfrm>
              <a:off x="767759" y="1850415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DBF38D-F309-E337-1B9B-07AE098DBD2F}"/>
                </a:ext>
              </a:extLst>
            </p:cNvPr>
            <p:cNvSpPr txBox="1"/>
            <p:nvPr/>
          </p:nvSpPr>
          <p:spPr>
            <a:xfrm>
              <a:off x="213335" y="2474527"/>
              <a:ext cx="3990195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Supervisor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는 </a:t>
              </a:r>
              <a:r>
                <a:rPr lang="ko-KR" altLang="en-US" dirty="0">
                  <a:latin typeface="Arial Narrow" panose="020B0606020202030204" pitchFamily="34" charset="0"/>
                </a:rPr>
                <a:t>각 </a:t>
              </a:r>
              <a:r>
                <a:rPr lang="en-US" altLang="ko-KR" dirty="0">
                  <a:latin typeface="Arial Narrow" panose="020B0606020202030204" pitchFamily="34" charset="0"/>
                </a:rPr>
                <a:t>Sub Agent</a:t>
              </a:r>
              <a:r>
                <a:rPr lang="ko-KR" altLang="en-US" dirty="0">
                  <a:latin typeface="Arial Narrow" panose="020B0606020202030204" pitchFamily="34" charset="0"/>
                </a:rPr>
                <a:t>와 </a:t>
              </a:r>
              <a:r>
                <a:rPr lang="en-US" altLang="ko-KR" dirty="0">
                  <a:latin typeface="Arial Narrow" panose="020B0606020202030204" pitchFamily="34" charset="0"/>
                </a:rPr>
                <a:t>Tool</a:t>
              </a:r>
              <a:r>
                <a:rPr lang="ko-KR" altLang="en-US" dirty="0">
                  <a:latin typeface="Arial Narrow" panose="020B0606020202030204" pitchFamily="34" charset="0"/>
                </a:rPr>
                <a:t>의 역할과 특성을 이해하여</a:t>
              </a:r>
              <a:r>
                <a:rPr lang="en-US" altLang="ko-KR" dirty="0">
                  <a:latin typeface="Arial Narrow" panose="020B0606020202030204" pitchFamily="34" charset="0"/>
                </a:rPr>
                <a:t>, </a:t>
              </a:r>
              <a:r>
                <a:rPr lang="ko-KR" altLang="en-US" dirty="0">
                  <a:latin typeface="Arial Narrow" panose="020B0606020202030204" pitchFamily="34" charset="0"/>
                </a:rPr>
                <a:t>질문에 따라 적절한 실행 계획을 수립</a:t>
              </a:r>
              <a:r>
                <a:rPr lang="en-US" altLang="ko-KR" dirty="0">
                  <a:latin typeface="Arial Narrow" panose="020B0606020202030204" pitchFamily="34" charset="0"/>
                </a:rPr>
                <a:t>(Plan)</a:t>
              </a:r>
              <a:r>
                <a:rPr lang="ko-KR" altLang="en-US" dirty="0">
                  <a:latin typeface="Arial Narrow" panose="020B0606020202030204" pitchFamily="34" charset="0"/>
                </a:rPr>
                <a:t>하고</a:t>
              </a:r>
              <a:r>
                <a:rPr lang="en-US" altLang="ko-KR" dirty="0">
                  <a:latin typeface="Arial Narrow" panose="020B0606020202030204" pitchFamily="34" charset="0"/>
                </a:rPr>
                <a:t>, </a:t>
              </a:r>
              <a:r>
                <a:rPr lang="ko-KR" altLang="en-US" dirty="0">
                  <a:latin typeface="Arial Narrow" panose="020B0606020202030204" pitchFamily="34" charset="0"/>
                </a:rPr>
                <a:t>이를 순차적으로 수행</a:t>
              </a:r>
              <a:r>
                <a:rPr lang="en-US" altLang="ko-KR" dirty="0">
                  <a:latin typeface="Arial Narrow" panose="020B0606020202030204" pitchFamily="34" charset="0"/>
                </a:rPr>
                <a:t>(Execute) 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95FE9B-1A20-60E7-195B-BA2C75B9385A}"/>
                </a:ext>
              </a:extLst>
            </p:cNvPr>
            <p:cNvSpPr txBox="1"/>
            <p:nvPr/>
          </p:nvSpPr>
          <p:spPr>
            <a:xfrm>
              <a:off x="205187" y="2307892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8A9216-2081-A284-96AD-B2ADF6BA010A}"/>
                </a:ext>
              </a:extLst>
            </p:cNvPr>
            <p:cNvSpPr txBox="1"/>
            <p:nvPr/>
          </p:nvSpPr>
          <p:spPr>
            <a:xfrm>
              <a:off x="1105287" y="1581592"/>
              <a:ext cx="18357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Multi Agent (Supervisor)</a:t>
              </a:r>
              <a:endPara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717062-1653-4CA4-4647-5F814539225A}"/>
                </a:ext>
              </a:extLst>
            </p:cNvPr>
            <p:cNvSpPr txBox="1"/>
            <p:nvPr/>
          </p:nvSpPr>
          <p:spPr>
            <a:xfrm>
              <a:off x="213335" y="3067832"/>
              <a:ext cx="399019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새로운 테이블이 추가될 경우에도 기존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Sub Agent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를 </a:t>
              </a:r>
              <a:r>
                <a:rPr lang="ko-KR" altLang="en-US" dirty="0">
                  <a:latin typeface="Arial Narrow" panose="020B0606020202030204" pitchFamily="34" charset="0"/>
                </a:rPr>
                <a:t>그대로 유지면서 프롬프트와 테이블 연결 정보만 </a:t>
              </a:r>
              <a:r>
                <a:rPr lang="ko-KR" altLang="en-US" dirty="0" err="1">
                  <a:latin typeface="Arial Narrow" panose="020B0606020202030204" pitchFamily="34" charset="0"/>
                </a:rPr>
                <a:t>교체함으로서</a:t>
              </a:r>
              <a:r>
                <a:rPr lang="ko-KR" altLang="en-US" dirty="0">
                  <a:latin typeface="Arial Narrow" panose="020B0606020202030204" pitchFamily="34" charset="0"/>
                </a:rPr>
                <a:t> 손쉽게 확장 가능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4" name="Text Box 64">
            <a:extLst>
              <a:ext uri="{FF2B5EF4-FFF2-40B4-BE49-F238E27FC236}">
                <a16:creationId xmlns:a16="http://schemas.microsoft.com/office/drawing/2014/main" id="{28E95877-C655-F768-7A58-39BBE0922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3475498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en-US" altLang="ko-KR" sz="1400" b="1" dirty="0">
                <a:solidFill>
                  <a:srgbClr val="000000"/>
                </a:solidFill>
              </a:rPr>
              <a:t>Sub- Agent</a:t>
            </a:r>
            <a:r>
              <a:rPr lang="ko-KR" altLang="en-US" sz="1400" b="1" dirty="0">
                <a:solidFill>
                  <a:srgbClr val="000000"/>
                </a:solidFill>
              </a:rPr>
              <a:t>는 자연어 질의를 </a:t>
            </a:r>
            <a:r>
              <a:rPr lang="en-US" altLang="ko-KR" sz="1400" b="1" dirty="0">
                <a:solidFill>
                  <a:srgbClr val="000000"/>
                </a:solidFill>
              </a:rPr>
              <a:t>SQL</a:t>
            </a:r>
            <a:r>
              <a:rPr lang="ko-KR" altLang="en-US" sz="1400" b="1" dirty="0">
                <a:solidFill>
                  <a:srgbClr val="000000"/>
                </a:solidFill>
              </a:rPr>
              <a:t>로 변환하고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</a:rPr>
              <a:t>데이터를 추출한 뒤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</a:rPr>
              <a:t>분석과 요약을 거쳐 서술형 답변을 생성</a:t>
            </a:r>
            <a:r>
              <a:rPr lang="en-US" altLang="ko-KR" sz="1400" b="1" dirty="0">
                <a:solidFill>
                  <a:srgbClr val="000000"/>
                </a:solidFill>
              </a:rPr>
              <a:t>.</a:t>
            </a:r>
            <a:br>
              <a:rPr lang="en-US" altLang="ko-KR" sz="1400" b="1" dirty="0">
                <a:solidFill>
                  <a:srgbClr val="000000"/>
                </a:solidFill>
              </a:rPr>
            </a:br>
            <a:r>
              <a:rPr lang="ko-KR" altLang="en-US" sz="1400" b="1" dirty="0">
                <a:solidFill>
                  <a:srgbClr val="000000"/>
                </a:solidFill>
              </a:rPr>
              <a:t>각 단계는 </a:t>
            </a:r>
            <a:r>
              <a:rPr lang="en-US" altLang="ko-KR" sz="1400" b="1" dirty="0" err="1">
                <a:solidFill>
                  <a:srgbClr val="000000"/>
                </a:solidFill>
              </a:rPr>
              <a:t>LangGraph</a:t>
            </a:r>
            <a:r>
              <a:rPr lang="en-US" altLang="ko-KR" sz="1400" b="1" dirty="0">
                <a:solidFill>
                  <a:srgbClr val="000000"/>
                </a:solidFill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</a:rPr>
              <a:t>워크플로우의 독립 노드로 구현되어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</a:rPr>
              <a:t>필요 시 특정 단계를 교체하거나 수정하기 쉽게 설계됨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86B8D5D-205A-D0EF-80B2-9B2145ECD94B}"/>
              </a:ext>
            </a:extLst>
          </p:cNvPr>
          <p:cNvGrpSpPr/>
          <p:nvPr/>
        </p:nvGrpSpPr>
        <p:grpSpPr>
          <a:xfrm>
            <a:off x="317485" y="4086000"/>
            <a:ext cx="4164923" cy="2667460"/>
            <a:chOff x="205187" y="1581592"/>
            <a:chExt cx="4164923" cy="266746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8FDAF34-BA70-916E-B989-700703E97175}"/>
                </a:ext>
              </a:extLst>
            </p:cNvPr>
            <p:cNvSpPr txBox="1"/>
            <p:nvPr/>
          </p:nvSpPr>
          <p:spPr>
            <a:xfrm>
              <a:off x="205187" y="1919842"/>
              <a:ext cx="4164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질문 이해 및 구체화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(Clarify)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사용자의 질문을 해당 테이블 관점에서 구체적인 쿼리 의미로 변환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테이블 스키마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컬럼 간 종속 관계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주요 값의 의미를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LLM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제공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질문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쿼리 예시 제공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(few shot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은 코사인 유사도 기준 추출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5FE17672-CF67-30A2-80EF-C95DF67AB699}"/>
                </a:ext>
              </a:extLst>
            </p:cNvPr>
            <p:cNvCxnSpPr/>
            <p:nvPr/>
          </p:nvCxnSpPr>
          <p:spPr bwMode="auto">
            <a:xfrm>
              <a:off x="767759" y="1850415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2CF442A-D35E-E56A-A32D-EBA7B15B7571}"/>
                </a:ext>
              </a:extLst>
            </p:cNvPr>
            <p:cNvSpPr txBox="1"/>
            <p:nvPr/>
          </p:nvSpPr>
          <p:spPr>
            <a:xfrm>
              <a:off x="205187" y="2307892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C7A2F05-EEAD-8B0E-F2F2-56FD54FE6CA2}"/>
                </a:ext>
              </a:extLst>
            </p:cNvPr>
            <p:cNvSpPr txBox="1"/>
            <p:nvPr/>
          </p:nvSpPr>
          <p:spPr>
            <a:xfrm>
              <a:off x="1105287" y="1581592"/>
              <a:ext cx="23246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Sub Agent (NL2SQL </a:t>
              </a:r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및 </a:t>
              </a:r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Analyze)</a:t>
              </a:r>
              <a:endPara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B547CDC-E192-DAB0-0D46-C8A8A818F339}"/>
                </a:ext>
              </a:extLst>
            </p:cNvPr>
            <p:cNvSpPr txBox="1"/>
            <p:nvPr/>
          </p:nvSpPr>
          <p:spPr>
            <a:xfrm>
              <a:off x="213336" y="2679669"/>
              <a:ext cx="40423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SQL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생성 및 실행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(Extract)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구체화된 질문으로 </a:t>
              </a:r>
              <a:r>
                <a:rPr lang="en-US" altLang="ko-KR" sz="1100" dirty="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create_sql_query</a:t>
              </a:r>
              <a:r>
                <a:rPr lang="en-US" altLang="ko-KR" dirty="0" err="1">
                  <a:latin typeface="Arial Narrow" panose="020B0606020202030204" pitchFamily="34" charset="0"/>
                </a:rPr>
                <a:t>_chain</a:t>
              </a:r>
              <a:r>
                <a:rPr lang="en-US" altLang="ko-KR" dirty="0">
                  <a:latin typeface="Arial Narrow" panose="020B0606020202030204" pitchFamily="34" charset="0"/>
                </a:rPr>
                <a:t> </a:t>
              </a:r>
              <a:r>
                <a:rPr lang="ko-KR" altLang="en-US" dirty="0">
                  <a:latin typeface="Arial Narrow" panose="020B0606020202030204" pitchFamily="34" charset="0"/>
                </a:rPr>
                <a:t>기반 </a:t>
              </a:r>
              <a:r>
                <a:rPr lang="en-US" altLang="ko-KR" dirty="0">
                  <a:latin typeface="Arial Narrow" panose="020B0606020202030204" pitchFamily="34" charset="0"/>
                </a:rPr>
                <a:t>SQL </a:t>
              </a:r>
              <a:r>
                <a:rPr lang="ko-KR" altLang="en-US" dirty="0">
                  <a:latin typeface="Arial Narrow" panose="020B0606020202030204" pitchFamily="34" charset="0"/>
                </a:rPr>
                <a:t>생성 및 실행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B0E2E9-F7D4-FAB2-0A96-65D101C32512}"/>
                </a:ext>
              </a:extLst>
            </p:cNvPr>
            <p:cNvSpPr txBox="1"/>
            <p:nvPr/>
          </p:nvSpPr>
          <p:spPr>
            <a:xfrm>
              <a:off x="213336" y="3176448"/>
              <a:ext cx="40423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결과 검증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(Validate)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lang="ko-KR" altLang="en-US" dirty="0">
                  <a:latin typeface="Arial Narrow" panose="020B0606020202030204" pitchFamily="34" charset="0"/>
                </a:rPr>
                <a:t>추출된 </a:t>
              </a:r>
              <a:r>
                <a:rPr lang="en-US" altLang="ko-KR" dirty="0" err="1">
                  <a:latin typeface="Arial Narrow" panose="020B0606020202030204" pitchFamily="34" charset="0"/>
                </a:rPr>
                <a:t>Dataframe</a:t>
              </a:r>
              <a:r>
                <a:rPr lang="ko-KR" altLang="en-US" dirty="0">
                  <a:latin typeface="Arial Narrow" panose="020B0606020202030204" pitchFamily="34" charset="0"/>
                </a:rPr>
                <a:t>이 질문 의도에 부합하는 지 검증 </a:t>
              </a:r>
              <a:r>
                <a:rPr lang="en-US" altLang="ko-KR" dirty="0">
                  <a:latin typeface="Arial Narrow" panose="020B0606020202030204" pitchFamily="34" charset="0"/>
                </a:rPr>
                <a:t>(Feedback Loop)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7BE4975-5693-2CF3-66F6-FF6C2330F659}"/>
                </a:ext>
              </a:extLst>
            </p:cNvPr>
            <p:cNvSpPr txBox="1"/>
            <p:nvPr/>
          </p:nvSpPr>
          <p:spPr>
            <a:xfrm>
              <a:off x="213336" y="3648888"/>
              <a:ext cx="404230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데이터 분석 및 답변 생성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(Analyze)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테이블 종류 별 현업 요구사항에 맞춰 답변 생성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필요 시 차트 생성</a:t>
              </a: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409C241-1FC6-CFBA-A8D4-5D2EF98D33B6}"/>
              </a:ext>
            </a:extLst>
          </p:cNvPr>
          <p:cNvSpPr/>
          <p:nvPr/>
        </p:nvSpPr>
        <p:spPr>
          <a:xfrm>
            <a:off x="5773241" y="4263114"/>
            <a:ext cx="328647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2023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하반기 영국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 고객의 세탁기 제품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NPS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점수를 분석해줘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055F4A8D-07C6-1349-71E6-A93E96DE3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569" y="4249488"/>
            <a:ext cx="1593755" cy="2371197"/>
          </a:xfrm>
          <a:prstGeom prst="rect">
            <a:avLst/>
          </a:prstGeom>
        </p:spPr>
      </p:pic>
      <p:sp>
        <p:nvSpPr>
          <p:cNvPr id="85" name="직사각형 84">
            <a:extLst>
              <a:ext uri="{FF2B5EF4-FFF2-40B4-BE49-F238E27FC236}">
                <a16:creationId xmlns:a16="http://schemas.microsoft.com/office/drawing/2014/main" id="{1FEFBF0B-DA80-E16D-B998-2E6574CAA907}"/>
              </a:ext>
            </a:extLst>
          </p:cNvPr>
          <p:cNvSpPr/>
          <p:nvPr/>
        </p:nvSpPr>
        <p:spPr>
          <a:xfrm>
            <a:off x="5773241" y="4525244"/>
            <a:ext cx="382508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'country'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uk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', 'year'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'20232', '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cej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'total’,</a:t>
            </a:r>
          </a:p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'touchpoint'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'total', 'product'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wm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', 'banner1'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'age’,</a:t>
            </a:r>
          </a:p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'banner2'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'30_39'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row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대해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NPS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결과를 분석해줘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6655C7C-4887-DB9D-BF24-336AD51A8825}"/>
              </a:ext>
            </a:extLst>
          </p:cNvPr>
          <p:cNvSpPr/>
          <p:nvPr/>
        </p:nvSpPr>
        <p:spPr>
          <a:xfrm>
            <a:off x="5773241" y="5025114"/>
            <a:ext cx="41360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SELECT * FROM 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nps_score_table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WHERE LOWER('country) = LOWER('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uk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‘) AND</a:t>
            </a:r>
          </a:p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year = 20232 AND LOWER(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cej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= LOWER('total') AND LOWER('touchpoint) = LOWER('total’) </a:t>
            </a:r>
          </a:p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AND LOWER(product) = LOWER('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wm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') AND LOWER(banner1) = LOWER('age’)</a:t>
            </a:r>
          </a:p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AND LOWER(banner2) = LOWER('30_39');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03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04266-C8C7-2A36-A6BB-0618D9FC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BF6C371-C074-3DD0-26EE-67F882D8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19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E2823-BD53-BB2B-D8C2-76C2482038BF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NPS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AI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Agent </a:t>
            </a:r>
            <a:r>
              <a:rPr kumimoji="0" lang="ko-KR" altLang="en-US" sz="2000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</a:p>
        </p:txBody>
      </p:sp>
      <p:sp>
        <p:nvSpPr>
          <p:cNvPr id="4" name="Text Box 64">
            <a:extLst>
              <a:ext uri="{FF2B5EF4-FFF2-40B4-BE49-F238E27FC236}">
                <a16:creationId xmlns:a16="http://schemas.microsoft.com/office/drawing/2014/main" id="{EFD7FC57-D1DE-D38C-AFF8-74DD08422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해외법인 오퍼레이션 전반의 </a:t>
            </a:r>
            <a:r>
              <a:rPr lang="ko-KR" altLang="en-US" sz="1400" b="1" u="sng" dirty="0">
                <a:solidFill>
                  <a:srgbClr val="000000"/>
                </a:solidFill>
              </a:rPr>
              <a:t>데이터를 수집</a:t>
            </a:r>
            <a:r>
              <a:rPr lang="ko-KR" altLang="en-US" sz="1400" b="1" dirty="0">
                <a:solidFill>
                  <a:srgbClr val="000000"/>
                </a:solidFill>
              </a:rPr>
              <a:t> 후 리스크 징후를 실시간 자동 예측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분석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리포팅 하는 체계를 기반으로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u="sng" dirty="0">
                <a:solidFill>
                  <a:srgbClr val="000000"/>
                </a:solidFill>
              </a:rPr>
              <a:t>현업 및 리스크 주관부서까지 리스크를 상시 점검</a:t>
            </a:r>
            <a:r>
              <a:rPr lang="ko-KR" altLang="en-US" sz="1400" b="1" dirty="0">
                <a:solidFill>
                  <a:srgbClr val="000000"/>
                </a:solidFill>
              </a:rPr>
              <a:t>토록 하는 프로세스를 구축하여 정기진단 방식의 한계점을 극복한 </a:t>
            </a:r>
            <a:r>
              <a:rPr lang="en-US" altLang="ko-KR" sz="1400" b="1" dirty="0">
                <a:solidFill>
                  <a:srgbClr val="000000"/>
                </a:solidFill>
              </a:rPr>
              <a:t>‘</a:t>
            </a:r>
            <a:r>
              <a:rPr lang="ko-KR" altLang="en-US" sz="1400" b="1" dirty="0">
                <a:solidFill>
                  <a:srgbClr val="000000"/>
                </a:solidFill>
              </a:rPr>
              <a:t>평상시 리스크 선행관리</a:t>
            </a:r>
            <a:r>
              <a:rPr lang="en-US" altLang="ko-KR" sz="1400" b="1" dirty="0">
                <a:solidFill>
                  <a:srgbClr val="000000"/>
                </a:solidFill>
              </a:rPr>
              <a:t>’ </a:t>
            </a:r>
            <a:r>
              <a:rPr lang="ko-KR" altLang="en-US" sz="1400" b="1" dirty="0">
                <a:solidFill>
                  <a:srgbClr val="000000"/>
                </a:solidFill>
              </a:rPr>
              <a:t>체제를 강화함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47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337796</TotalTime>
  <Words>3152</Words>
  <Application>Microsoft Office PowerPoint</Application>
  <PresentationFormat>A4 용지(210x297mm)</PresentationFormat>
  <Paragraphs>451</Paragraphs>
  <Slides>19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19</vt:i4>
      </vt:variant>
    </vt:vector>
  </HeadingPairs>
  <TitlesOfParts>
    <vt:vector size="32" baseType="lpstr">
      <vt:lpstr>-apple-system</vt:lpstr>
      <vt:lpstr>HY견고딕</vt:lpstr>
      <vt:lpstr>LG스마트체 Regular</vt:lpstr>
      <vt:lpstr>맑은 고딕</vt:lpstr>
      <vt:lpstr>Arial</vt:lpstr>
      <vt:lpstr>Arial Narrow</vt:lpstr>
      <vt:lpstr>Calibri</vt:lpstr>
      <vt:lpstr>Cambria Math</vt:lpstr>
      <vt:lpstr>Wingdings</vt:lpstr>
      <vt:lpstr>2_디자인 사용자 지정</vt:lpstr>
      <vt:lpstr>4_디자인 사용자 지정</vt:lpstr>
      <vt:lpstr>3_디자인 사용자 지정</vt:lpstr>
      <vt:lpstr>5_디자인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Windows XP</dc:creator>
  <cp:lastModifiedBy>구본상/선임연구원/데이터운영팀</cp:lastModifiedBy>
  <cp:revision>11537</cp:revision>
  <cp:lastPrinted>2021-06-13T22:25:45Z</cp:lastPrinted>
  <dcterms:created xsi:type="dcterms:W3CDTF">2010-10-20T05:46:04Z</dcterms:created>
  <dcterms:modified xsi:type="dcterms:W3CDTF">2026-05-25T08:29:17Z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2024-07-24T07:11:55Z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e72569e6-75a8-4fa4-a298-e982d4061049</vt:lpwstr>
  </property>
  <property fmtid="{D5CDD505-2E9C-101B-9397-08002B2CF9AE}" pid="8" name="MSIP_Label_cc6ed9fc-fefc-4a0c-a6d6-10cf236c0d4f_ContentBits">
    <vt:lpwstr>1</vt:lpwstr>
  </property>
</Properties>
</file>