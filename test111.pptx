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59" r:id="rId3"/>
    <p:sldId id="261" r:id="rId4"/>
    <p:sldId id="256" r:id="rId5"/>
    <p:sldId id="257" r:id="rId6"/>
    <p:sldId id="258" r:id="rId7"/>
    <p:sldId id="260" r:id="rId8"/>
    <p:sldId id="262" r:id="rId9"/>
    <p:sldId id="271" r:id="rId10"/>
    <p:sldId id="263" r:id="rId11"/>
    <p:sldId id="265" r:id="rId12"/>
    <p:sldId id="264" r:id="rId13"/>
    <p:sldId id="269" r:id="rId14"/>
    <p:sldId id="267" r:id="rId15"/>
    <p:sldId id="268" r:id="rId16"/>
    <p:sldId id="270" r:id="rId17"/>
    <p:sldId id="266" r:id="rId18"/>
    <p:sldId id="272" r:id="rId19"/>
    <p:sldId id="273" r:id="rId20"/>
    <p:sldId id="282" r:id="rId21"/>
    <p:sldId id="274" r:id="rId22"/>
    <p:sldId id="276" r:id="rId23"/>
    <p:sldId id="277" r:id="rId24"/>
    <p:sldId id="278" r:id="rId25"/>
    <p:sldId id="279" r:id="rId26"/>
    <p:sldId id="281" r:id="rId27"/>
    <p:sldId id="280" r:id="rId28"/>
    <p:sldId id="283" r:id="rId29"/>
    <p:sldId id="284" r:id="rId3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26" y="10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C10269-D528-D9D0-C13E-22D6462DE4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E786984-7EF4-EAC0-875E-189A17F217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5C390F-7974-F4E9-2CCB-C99344FE1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009422-45A8-6810-8F19-8F137C3ED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F2C7C3-B474-D737-9D0E-C24EEC6A5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81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A6A26E-0F3D-8910-B877-53D7C1839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62E531-D873-3D3B-5909-A49FD4D2C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9A7EBB-A3DB-1042-7AD8-0089C37A5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071D8F-ED51-82A8-FF21-B63BB1839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D50B88-CE65-A5C4-DD47-045374E48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88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7E9D3-4F57-4E10-24AA-1A08F609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6D7E32-B369-0307-7E92-A13170CA4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26900B-3EA3-88C9-5D1D-05ACA7C5D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F1EF7C-DD85-9B49-198F-B0C04D6F68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A93645-A96A-0635-025D-DDBE873F9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075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2056DB-690F-8A3A-077F-185A77C38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4CE035-F612-1A9A-0B55-531E351DF6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8868286-04A1-4084-5681-AEAAD29086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A144DF3-31EA-F70F-1CD3-BFE00E145E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F9D872E-DB79-E839-154C-DB29DA59B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BE4351C-2173-63B9-D0A3-7A18BE520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758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550AE1-3BBE-8F64-CA96-AA67EC5A5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775AA-AD6B-1A83-2F04-FB2AEE59F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E87D09B-6593-7E11-FD37-A22ADCC58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FC7B30-D045-24EC-ECC3-BDBC0F9CF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5EF3FD-2D82-CF86-2610-B848CC422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A939F69-531C-B816-5B7F-CC4FFE6D3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72783F9-F091-5490-F48C-9D4A9EA86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020D4D-83CB-92CC-B533-E04A09A77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4573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C77AB-A5FB-25D5-666B-1791F031F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14FCA41-F480-38AA-7263-6DB2E9669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F83AD89-3195-664A-97DB-28C8FC342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D00F2CE-238F-8AB4-768C-0EBDBC773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390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38E1160-8B27-FCD2-E640-751275C9C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732B93-FFAF-BFF3-5041-F663B43913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EE477D-EDB1-2FD0-02E9-53D6756FB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3298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188A1-E6AE-5C04-C25E-132B3C088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FDD50E-F655-49E2-94BE-0DC0A11AFC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E5C942-4A1C-36A8-0A23-D244AE863D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14D1CBC-6681-C20D-016D-844D5A4E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6AE53B-FA64-439A-64F1-057BF84B3F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DA7C91-5AB8-EF14-CDD2-BDED7CE7F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9726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235253-6552-2F63-4B7B-0D13D1D99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BC516EA-A67A-7E29-E4A9-FABE5780CF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19F107-415C-E7D5-1409-7C5C798731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DA34A91-756C-A0F8-611D-AC1469660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B73CE4F-4D14-258F-FB8C-7FCD779A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734E092-860C-4733-2B20-752264534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486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22A9E1-A4FC-CA14-4028-B9700260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02C8677-6F32-DD86-91D5-F303AB34CA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89E14D-A3D8-4267-E7B3-5F44A814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359E70-5B6D-36F0-70F3-8A08771DE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D02293-589C-147C-1993-7597062B8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7408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6CA129B-DAF0-47FF-D9DF-915657A8DA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DD52AE6-5861-53B3-8F50-182873E29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560BF-8D82-D236-B442-1BDCE21F44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F22713-888C-19F8-D790-7B5580029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4839462-45AA-D7B1-1308-4F9D4D074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0991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E22DD12-39BF-2891-9AC7-8EF2595DA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7D9135-0696-D833-4E58-CFBBE6C7F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F5245C-017F-F597-54A7-4BF2271F7F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E13289-5581-414C-81C1-10A3B7480174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3EFDD2-173D-3C54-CE53-123079FA8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9DC2F9-79B9-E157-1CC7-AA8EFF488C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BD629E-79D7-4BDC-9525-77A37430FE1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1C6ABF-CC5B-25EF-CE8C-65F65F2FBF4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424488" y="63500"/>
            <a:ext cx="1377950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ko-KR" altLang="en-US" sz="12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LGE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5205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57C30-3C32-458A-297B-972CAB635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258DFCF-5051-E0CE-89A5-FE1E5F5B5F75}"/>
              </a:ext>
            </a:extLst>
          </p:cNvPr>
          <p:cNvSpPr/>
          <p:nvPr/>
        </p:nvSpPr>
        <p:spPr>
          <a:xfrm>
            <a:off x="3897745" y="1911927"/>
            <a:ext cx="3980873" cy="19026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진단 </a:t>
            </a:r>
            <a:r>
              <a:rPr lang="en-US" altLang="ko-KR"/>
              <a:t>dx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3995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955A4-4D74-DD71-6295-39B01E1A5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A1EE919D-F5B3-285A-BEF8-0367227D76A4}"/>
              </a:ext>
            </a:extLst>
          </p:cNvPr>
          <p:cNvSpPr/>
          <p:nvPr/>
        </p:nvSpPr>
        <p:spPr bwMode="auto">
          <a:xfrm>
            <a:off x="2900697" y="4775209"/>
            <a:ext cx="3671229" cy="400107"/>
          </a:xfrm>
          <a:prstGeom prst="rightArrow">
            <a:avLst>
              <a:gd name="adj1" fmla="val 50000"/>
              <a:gd name="adj2" fmla="val 51843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50" b="1" i="0" strike="noStrike" cap="none" normalizeH="0" baseline="0" dirty="0">
                <a:ln>
                  <a:noFill/>
                </a:ln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상시점검       </a:t>
            </a: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A3559D3C-9704-3B09-71AA-C893305CED54}"/>
              </a:ext>
            </a:extLst>
          </p:cNvPr>
          <p:cNvCxnSpPr/>
          <p:nvPr/>
        </p:nvCxnSpPr>
        <p:spPr bwMode="auto">
          <a:xfrm>
            <a:off x="0" y="519448"/>
            <a:ext cx="9906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4CC95AE-9C80-ADAD-999D-9C697D03A0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27" y="82126"/>
            <a:ext cx="1786066" cy="4247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  <a:buFont typeface="Arial" charset="0"/>
              <a:buNone/>
            </a:pPr>
            <a:r>
              <a:rPr lang="en-US" altLang="ko-KR" sz="1800" b="1" dirty="0">
                <a:solidFill>
                  <a:srgbClr val="000000"/>
                </a:solidFill>
                <a:latin typeface="바탕체" panose="02030609000101010101" pitchFamily="17" charset="-127"/>
                <a:ea typeface="LG스마트체 Regular" panose="020B0600000101010101" pitchFamily="50" charset="-127"/>
                <a:sym typeface="Wingdings" pitchFamily="2" charset="2"/>
              </a:rPr>
              <a:t>Ⅱ</a:t>
            </a:r>
            <a:r>
              <a:rPr lang="en-US" altLang="ko-KR" sz="1800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. </a:t>
            </a:r>
            <a:r>
              <a:rPr lang="ko-KR" altLang="en-US" sz="1800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구축 기대효과</a:t>
            </a:r>
            <a:endParaRPr lang="ko-KR" altLang="en-US" sz="1600" dirty="0">
              <a:solidFill>
                <a:srgbClr val="000000"/>
              </a:solidFill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B3D39F6-8138-E7C2-B382-F163D26B7692}"/>
              </a:ext>
            </a:extLst>
          </p:cNvPr>
          <p:cNvSpPr/>
          <p:nvPr/>
        </p:nvSpPr>
        <p:spPr bwMode="auto">
          <a:xfrm>
            <a:off x="229593" y="1245105"/>
            <a:ext cx="612820" cy="269736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425CB07-3306-A653-6580-B9A3F7BC3816}"/>
              </a:ext>
            </a:extLst>
          </p:cNvPr>
          <p:cNvSpPr/>
          <p:nvPr/>
        </p:nvSpPr>
        <p:spPr bwMode="auto">
          <a:xfrm>
            <a:off x="229593" y="4128452"/>
            <a:ext cx="612820" cy="2287073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CCD8C3-C0F2-DF8C-87C5-44C111E8DAA9}"/>
              </a:ext>
            </a:extLst>
          </p:cNvPr>
          <p:cNvSpPr txBox="1"/>
          <p:nvPr/>
        </p:nvSpPr>
        <p:spPr>
          <a:xfrm>
            <a:off x="290356" y="1472431"/>
            <a:ext cx="4940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latin typeface="Arial Narrow" panose="020B0606020202030204" pitchFamily="34" charset="0"/>
              </a:rPr>
              <a:t>As-is</a:t>
            </a:r>
            <a:endParaRPr lang="ko-KR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1AFE73-37D0-384A-FA03-934B2E189D7B}"/>
              </a:ext>
            </a:extLst>
          </p:cNvPr>
          <p:cNvSpPr txBox="1"/>
          <p:nvPr/>
        </p:nvSpPr>
        <p:spPr>
          <a:xfrm>
            <a:off x="290356" y="4517243"/>
            <a:ext cx="5162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i="1" dirty="0">
                <a:latin typeface="Arial Narrow" panose="020B0606020202030204" pitchFamily="34" charset="0"/>
              </a:rPr>
              <a:t>To-be</a:t>
            </a:r>
            <a:endParaRPr lang="ko-KR" altLang="en-US" sz="1200" b="1" i="1" dirty="0">
              <a:latin typeface="Arial Narrow" panose="020B060602020203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FEAF078-EDF6-A743-AFE0-D7315EAFCAE0}"/>
              </a:ext>
            </a:extLst>
          </p:cNvPr>
          <p:cNvSpPr/>
          <p:nvPr/>
        </p:nvSpPr>
        <p:spPr>
          <a:xfrm>
            <a:off x="198247" y="2417167"/>
            <a:ext cx="678391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현장진단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위주</a:t>
            </a:r>
            <a:b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정기진단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58774A1-A6B9-2330-BC12-4B7F51547B1C}"/>
              </a:ext>
            </a:extLst>
          </p:cNvPr>
          <p:cNvSpPr/>
          <p:nvPr/>
        </p:nvSpPr>
        <p:spPr>
          <a:xfrm>
            <a:off x="196807" y="5340994"/>
            <a:ext cx="678391" cy="61555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평상시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’</a:t>
            </a: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리스크</a:t>
            </a:r>
            <a:endParaRPr lang="en-US" altLang="ko-KR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선행관리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2594D-2EE6-E781-D248-0724707F99D0}"/>
              </a:ext>
            </a:extLst>
          </p:cNvPr>
          <p:cNvSpPr txBox="1"/>
          <p:nvPr/>
        </p:nvSpPr>
        <p:spPr>
          <a:xfrm>
            <a:off x="0" y="4845544"/>
            <a:ext cx="13356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</a:rPr>
              <a:t>“Am I more informed?”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</a:rPr>
              <a:t>“Is the risk preventable?”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32E75E6B-FF90-945D-AECF-F90A24D79D2B}"/>
              </a:ext>
            </a:extLst>
          </p:cNvPr>
          <p:cNvSpPr/>
          <p:nvPr/>
        </p:nvSpPr>
        <p:spPr bwMode="auto">
          <a:xfrm>
            <a:off x="1085552" y="2836475"/>
            <a:ext cx="1154483" cy="400107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50" b="1" i="0" strike="noStrike" cap="none" normalizeH="0" baseline="0" dirty="0">
                <a:ln>
                  <a:noFill/>
                </a:ln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연간계획</a:t>
            </a:r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2ACDF648-0AF2-4392-1208-BA04C0B09C3B}"/>
              </a:ext>
            </a:extLst>
          </p:cNvPr>
          <p:cNvSpPr/>
          <p:nvPr/>
        </p:nvSpPr>
        <p:spPr bwMode="auto">
          <a:xfrm>
            <a:off x="2237837" y="2836475"/>
            <a:ext cx="1154483" cy="400107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ko-KR" altLang="en-US" sz="1050" b="1" i="0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진단계획</a:t>
            </a: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AF93C844-CA06-47EE-5C9A-86915208F2E5}"/>
              </a:ext>
            </a:extLst>
          </p:cNvPr>
          <p:cNvSpPr/>
          <p:nvPr/>
        </p:nvSpPr>
        <p:spPr bwMode="auto">
          <a:xfrm>
            <a:off x="4809536" y="2822939"/>
            <a:ext cx="1764804" cy="412465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324000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050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보고</a:t>
            </a:r>
            <a:endParaRPr kumimoji="1" lang="ko-KR" altLang="en-US" sz="1050" b="1" i="0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5" name="화살표: 원형 14">
            <a:extLst>
              <a:ext uri="{FF2B5EF4-FFF2-40B4-BE49-F238E27FC236}">
                <a16:creationId xmlns:a16="http://schemas.microsoft.com/office/drawing/2014/main" id="{9F38C85B-E7EF-F094-9861-DA20355C625B}"/>
              </a:ext>
            </a:extLst>
          </p:cNvPr>
          <p:cNvSpPr/>
          <p:nvPr/>
        </p:nvSpPr>
        <p:spPr bwMode="auto">
          <a:xfrm rot="15860516" flipH="1">
            <a:off x="3082911" y="1831254"/>
            <a:ext cx="1398504" cy="1393794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21532886"/>
              <a:gd name="adj5" fmla="val 1339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16" name="화살표: 원형 15">
            <a:extLst>
              <a:ext uri="{FF2B5EF4-FFF2-40B4-BE49-F238E27FC236}">
                <a16:creationId xmlns:a16="http://schemas.microsoft.com/office/drawing/2014/main" id="{079A4FBC-78BC-6B32-1B1A-17521C318B65}"/>
              </a:ext>
            </a:extLst>
          </p:cNvPr>
          <p:cNvSpPr/>
          <p:nvPr/>
        </p:nvSpPr>
        <p:spPr bwMode="auto">
          <a:xfrm rot="8673185">
            <a:off x="4174023" y="1769811"/>
            <a:ext cx="580620" cy="610725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1022611"/>
              <a:gd name="adj5" fmla="val 13391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69BF3FF-7010-E205-8A3A-46A620153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346" y="2571957"/>
            <a:ext cx="652429" cy="56209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2DDB7C4-2850-4A7C-0F72-130D042AD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128" y="2571957"/>
            <a:ext cx="652429" cy="56209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F3B707A5-C603-ADDC-7C67-B328A7C08B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226" t="41320" r="63522" b="36619"/>
          <a:stretch/>
        </p:blipFill>
        <p:spPr>
          <a:xfrm>
            <a:off x="1264316" y="2372005"/>
            <a:ext cx="1875496" cy="41988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4F8BD874-6C80-F289-A404-47C68038E614}"/>
              </a:ext>
            </a:extLst>
          </p:cNvPr>
          <p:cNvSpPr txBox="1"/>
          <p:nvPr/>
        </p:nvSpPr>
        <p:spPr>
          <a:xfrm>
            <a:off x="1134057" y="2123637"/>
            <a:ext cx="2114681" cy="3236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900"/>
              </a:lnSpc>
            </a:pP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진단이력  진단사례    </a:t>
            </a:r>
            <a:r>
              <a:rPr lang="ko-KR" altLang="en-US" sz="9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자료수집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조사항목</a:t>
            </a:r>
            <a:b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                             (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 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2~3</a:t>
            </a:r>
            <a:r>
              <a:rPr lang="ko-KR" altLang="en-US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년</a:t>
            </a:r>
            <a:r>
              <a:rPr lang="en-US" altLang="ko-KR" sz="8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6C44F5E-7505-F397-FDC4-ECEDF6B38810}"/>
              </a:ext>
            </a:extLst>
          </p:cNvPr>
          <p:cNvCxnSpPr>
            <a:cxnSpLocks/>
          </p:cNvCxnSpPr>
          <p:nvPr/>
        </p:nvCxnSpPr>
        <p:spPr bwMode="auto">
          <a:xfrm>
            <a:off x="2194603" y="3199270"/>
            <a:ext cx="0" cy="212068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93F2D4D-378B-53C5-119C-E0F38F75595B}"/>
              </a:ext>
            </a:extLst>
          </p:cNvPr>
          <p:cNvCxnSpPr>
            <a:cxnSpLocks/>
          </p:cNvCxnSpPr>
          <p:nvPr/>
        </p:nvCxnSpPr>
        <p:spPr bwMode="auto">
          <a:xfrm>
            <a:off x="3255150" y="3199270"/>
            <a:ext cx="0" cy="212068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722D764A-E4C6-9259-4EB7-10D5512D8088}"/>
              </a:ext>
            </a:extLst>
          </p:cNvPr>
          <p:cNvCxnSpPr>
            <a:cxnSpLocks/>
          </p:cNvCxnSpPr>
          <p:nvPr/>
        </p:nvCxnSpPr>
        <p:spPr bwMode="auto">
          <a:xfrm>
            <a:off x="2236718" y="3293590"/>
            <a:ext cx="963476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70BE4241-6920-FFFE-6194-7209E0C53920}"/>
              </a:ext>
            </a:extLst>
          </p:cNvPr>
          <p:cNvCxnSpPr>
            <a:cxnSpLocks/>
          </p:cNvCxnSpPr>
          <p:nvPr/>
        </p:nvCxnSpPr>
        <p:spPr bwMode="auto">
          <a:xfrm>
            <a:off x="4608659" y="3202922"/>
            <a:ext cx="0" cy="208416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C86840A2-34FF-D72C-9D94-5783281C3861}"/>
              </a:ext>
            </a:extLst>
          </p:cNvPr>
          <p:cNvCxnSpPr>
            <a:cxnSpLocks/>
          </p:cNvCxnSpPr>
          <p:nvPr/>
        </p:nvCxnSpPr>
        <p:spPr bwMode="auto">
          <a:xfrm>
            <a:off x="6533302" y="3211800"/>
            <a:ext cx="0" cy="199538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AF47B8BC-EA38-EEAA-5DCC-27E72E702E75}"/>
              </a:ext>
            </a:extLst>
          </p:cNvPr>
          <p:cNvCxnSpPr>
            <a:cxnSpLocks/>
          </p:cNvCxnSpPr>
          <p:nvPr/>
        </p:nvCxnSpPr>
        <p:spPr bwMode="auto">
          <a:xfrm>
            <a:off x="4659400" y="3297242"/>
            <a:ext cx="1810520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7" name="화살표: 오른쪽 26">
            <a:extLst>
              <a:ext uri="{FF2B5EF4-FFF2-40B4-BE49-F238E27FC236}">
                <a16:creationId xmlns:a16="http://schemas.microsoft.com/office/drawing/2014/main" id="{1DB1D212-8E3D-A362-56AE-74D940542D21}"/>
              </a:ext>
            </a:extLst>
          </p:cNvPr>
          <p:cNvSpPr/>
          <p:nvPr/>
        </p:nvSpPr>
        <p:spPr bwMode="auto">
          <a:xfrm>
            <a:off x="3816564" y="2825575"/>
            <a:ext cx="913131" cy="400107"/>
          </a:xfrm>
          <a:prstGeom prst="rightArrow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8100000" scaled="1"/>
            <a:tileRect/>
          </a:gra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1F61A63-BC35-325F-CCE8-0F45F3531A52}"/>
              </a:ext>
            </a:extLst>
          </p:cNvPr>
          <p:cNvSpPr txBox="1"/>
          <p:nvPr/>
        </p:nvSpPr>
        <p:spPr>
          <a:xfrm>
            <a:off x="2495276" y="3165117"/>
            <a:ext cx="49494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AAC6F96-C2CE-3A26-CCE2-BD9DC05147AF}"/>
              </a:ext>
            </a:extLst>
          </p:cNvPr>
          <p:cNvSpPr txBox="1"/>
          <p:nvPr/>
        </p:nvSpPr>
        <p:spPr>
          <a:xfrm>
            <a:off x="3528393" y="2302925"/>
            <a:ext cx="49494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현장진단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A5DBAAE0-FD0C-359D-E195-273F68D52B30}"/>
              </a:ext>
            </a:extLst>
          </p:cNvPr>
          <p:cNvCxnSpPr>
            <a:cxnSpLocks/>
          </p:cNvCxnSpPr>
          <p:nvPr/>
        </p:nvCxnSpPr>
        <p:spPr bwMode="auto">
          <a:xfrm>
            <a:off x="3298280" y="3296853"/>
            <a:ext cx="1254951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9A1C688A-920F-7B52-C0EB-B39FB5C675E3}"/>
              </a:ext>
            </a:extLst>
          </p:cNvPr>
          <p:cNvSpPr txBox="1"/>
          <p:nvPr/>
        </p:nvSpPr>
        <p:spPr>
          <a:xfrm>
            <a:off x="3661803" y="3173742"/>
            <a:ext cx="49494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9718772-B436-4970-061B-7CA90CFEB887}"/>
              </a:ext>
            </a:extLst>
          </p:cNvPr>
          <p:cNvSpPr txBox="1"/>
          <p:nvPr/>
        </p:nvSpPr>
        <p:spPr>
          <a:xfrm>
            <a:off x="5277789" y="3182186"/>
            <a:ext cx="49494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4A59607-8351-2949-06F2-477885AF3F80}"/>
              </a:ext>
            </a:extLst>
          </p:cNvPr>
          <p:cNvSpPr txBox="1"/>
          <p:nvPr/>
        </p:nvSpPr>
        <p:spPr>
          <a:xfrm>
            <a:off x="4036864" y="2389652"/>
            <a:ext cx="4949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자료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7380A0-7F31-4F40-C376-671A04ADAE3C}"/>
              </a:ext>
            </a:extLst>
          </p:cNvPr>
          <p:cNvSpPr txBox="1"/>
          <p:nvPr/>
        </p:nvSpPr>
        <p:spPr>
          <a:xfrm>
            <a:off x="3160891" y="2082599"/>
            <a:ext cx="45482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조사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F838F8F-5E4C-95C0-C2C0-4D746F374BDE}"/>
              </a:ext>
            </a:extLst>
          </p:cNvPr>
          <p:cNvSpPr txBox="1"/>
          <p:nvPr/>
        </p:nvSpPr>
        <p:spPr>
          <a:xfrm>
            <a:off x="3635527" y="1926365"/>
            <a:ext cx="4949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8BAE919-F8E6-7488-7615-CC7C44CCA43F}"/>
              </a:ext>
            </a:extLst>
          </p:cNvPr>
          <p:cNvSpPr txBox="1"/>
          <p:nvPr/>
        </p:nvSpPr>
        <p:spPr>
          <a:xfrm>
            <a:off x="3981608" y="2901112"/>
            <a:ext cx="4949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6D094EA-30F5-3777-A25B-7541D1DE7213}"/>
              </a:ext>
            </a:extLst>
          </p:cNvPr>
          <p:cNvSpPr txBox="1"/>
          <p:nvPr/>
        </p:nvSpPr>
        <p:spPr>
          <a:xfrm>
            <a:off x="4216324" y="1939179"/>
            <a:ext cx="4949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Daily</a:t>
            </a:r>
            <a:endParaRPr lang="ko-KR" altLang="en-US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587AC7-21F7-29F2-81BE-13B29F0A0EB1}"/>
              </a:ext>
            </a:extLst>
          </p:cNvPr>
          <p:cNvSpPr txBox="1"/>
          <p:nvPr/>
        </p:nvSpPr>
        <p:spPr>
          <a:xfrm>
            <a:off x="4686710" y="2727318"/>
            <a:ext cx="54136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재확인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953DCA1-9224-FC47-9910-FDC2F1E4D3BE}"/>
              </a:ext>
            </a:extLst>
          </p:cNvPr>
          <p:cNvSpPr txBox="1"/>
          <p:nvPr/>
        </p:nvSpPr>
        <p:spPr>
          <a:xfrm>
            <a:off x="2990219" y="2584317"/>
            <a:ext cx="60317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확인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729A76-C3D8-0204-ED93-8A60CD652AF8}"/>
              </a:ext>
            </a:extLst>
          </p:cNvPr>
          <p:cNvSpPr txBox="1"/>
          <p:nvPr/>
        </p:nvSpPr>
        <p:spPr>
          <a:xfrm>
            <a:off x="1104537" y="3099453"/>
            <a:ext cx="103105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진단대상법인 선정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651A607-E149-E915-E309-BF8E42C85C6A}"/>
              </a:ext>
            </a:extLst>
          </p:cNvPr>
          <p:cNvSpPr txBox="1"/>
          <p:nvPr/>
        </p:nvSpPr>
        <p:spPr>
          <a:xfrm>
            <a:off x="992560" y="3537313"/>
            <a:ext cx="628248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인적자원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일정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개인역량 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경험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이해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자료확보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기법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에 따라 리스크 감지 수준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다양성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, 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커버리지가 좌우됨</a:t>
            </a:r>
            <a:r>
              <a:rPr lang="en-US" altLang="ko-KR" sz="1000" b="1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A974E74-8330-ECFA-3E65-0102B5770916}"/>
              </a:ext>
            </a:extLst>
          </p:cNvPr>
          <p:cNvSpPr txBox="1"/>
          <p:nvPr/>
        </p:nvSpPr>
        <p:spPr>
          <a:xfrm>
            <a:off x="5359037" y="2658068"/>
            <a:ext cx="541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개선</a:t>
            </a:r>
            <a:endParaRPr lang="en-US" altLang="ko-KR" sz="9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9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사항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45D3144-7899-3809-5483-4E78EA13612F}"/>
              </a:ext>
            </a:extLst>
          </p:cNvPr>
          <p:cNvSpPr txBox="1"/>
          <p:nvPr/>
        </p:nvSpPr>
        <p:spPr>
          <a:xfrm>
            <a:off x="6672517" y="1621825"/>
            <a:ext cx="18133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 커버리지가 제한적임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F1E44A1-E2C1-8B40-EEC7-3903654D028F}"/>
              </a:ext>
            </a:extLst>
          </p:cNvPr>
          <p:cNvSpPr txBox="1"/>
          <p:nvPr/>
        </p:nvSpPr>
        <p:spPr>
          <a:xfrm>
            <a:off x="5803188" y="1007889"/>
            <a:ext cx="395151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진단 방식 성숙도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: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진단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지속적 오퍼레이션 모니터링 →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리스크 예측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Wingdings" panose="05000000000000000000" pitchFamily="2" charset="2"/>
              </a:rPr>
              <a:t>분석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34F14B7-5726-6241-EC11-C57E58A238CE}"/>
              </a:ext>
            </a:extLst>
          </p:cNvPr>
          <p:cNvSpPr txBox="1"/>
          <p:nvPr/>
        </p:nvSpPr>
        <p:spPr>
          <a:xfrm>
            <a:off x="1895419" y="1245104"/>
            <a:ext cx="1498466" cy="784830"/>
          </a:xfrm>
          <a:prstGeom prst="rect">
            <a:avLst/>
          </a:prstGeom>
          <a:noFill/>
          <a:ln>
            <a:solidFill>
              <a:srgbClr val="006600"/>
            </a:solidFill>
            <a:prstDash val="sysDot"/>
          </a:ln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진단용 데이터 포털</a:t>
            </a:r>
            <a:endParaRPr lang="en-US" altLang="ko-KR" sz="900" u="sng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원천시스템 데이터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법인에 요청한 자료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보고서</a:t>
            </a:r>
            <a:endParaRPr lang="en-US" altLang="ko-KR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선행점검 시스템 </a:t>
            </a:r>
            <a:r>
              <a:rPr lang="en-US" altLang="ko-KR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(</a:t>
            </a:r>
            <a:r>
              <a:rPr lang="ko-KR" altLang="en-US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선매출 등</a:t>
            </a:r>
            <a:r>
              <a:rPr lang="en-US" altLang="ko-KR" sz="900" u="sng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)</a:t>
            </a:r>
            <a:endParaRPr lang="ko-KR" altLang="en-US" sz="900" u="sng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46" name="직선 연결선 45">
            <a:extLst>
              <a:ext uri="{FF2B5EF4-FFF2-40B4-BE49-F238E27FC236}">
                <a16:creationId xmlns:a16="http://schemas.microsoft.com/office/drawing/2014/main" id="{9C960C30-E8AC-D693-7FC6-2A90BC4A3436}"/>
              </a:ext>
            </a:extLst>
          </p:cNvPr>
          <p:cNvCxnSpPr/>
          <p:nvPr/>
        </p:nvCxnSpPr>
        <p:spPr bwMode="auto">
          <a:xfrm>
            <a:off x="7235089" y="1556323"/>
            <a:ext cx="2219769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0150E85-41F6-109E-A277-FCE4F57679FE}"/>
              </a:ext>
            </a:extLst>
          </p:cNvPr>
          <p:cNvSpPr txBox="1"/>
          <p:nvPr/>
        </p:nvSpPr>
        <p:spPr>
          <a:xfrm>
            <a:off x="6680665" y="2289165"/>
            <a:ext cx="32253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171450" indent="-171450">
              <a:buFont typeface="Wingdings" panose="05000000000000000000" pitchFamily="2" charset="2"/>
              <a:buChar char="ü"/>
              <a:defRPr sz="1100">
                <a:latin typeface="LG스마트체 Regular" panose="020B0600000101010101" pitchFamily="50" charset="-127"/>
                <a:ea typeface="LG스마트체 Regular" panose="020B0600000101010101" pitchFamily="50" charset="-127"/>
              </a:defRPr>
            </a:lvl1pPr>
          </a:lstStyle>
          <a:p>
            <a:r>
              <a:rPr lang="ko-KR" altLang="en-US" dirty="0"/>
              <a:t>진단인 개인 역량</a:t>
            </a:r>
            <a:r>
              <a:rPr lang="en-US" altLang="ko-KR" dirty="0"/>
              <a:t>/</a:t>
            </a:r>
            <a:r>
              <a:rPr lang="ko-KR" altLang="en-US" dirty="0"/>
              <a:t>경험에 의존하여 리스크 점검이</a:t>
            </a:r>
            <a:br>
              <a:rPr lang="en-US" altLang="ko-KR" dirty="0"/>
            </a:br>
            <a:r>
              <a:rPr lang="ko-KR" altLang="en-US" dirty="0"/>
              <a:t>누락</a:t>
            </a:r>
            <a:r>
              <a:rPr lang="en-US" altLang="ko-KR" dirty="0"/>
              <a:t>/</a:t>
            </a:r>
            <a:r>
              <a:rPr lang="ko-KR" altLang="en-US" dirty="0"/>
              <a:t>부실할 수 있음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ADF55B4E-BCFD-315F-09C8-26B3507641A7}"/>
              </a:ext>
            </a:extLst>
          </p:cNvPr>
          <p:cNvSpPr/>
          <p:nvPr/>
        </p:nvSpPr>
        <p:spPr>
          <a:xfrm>
            <a:off x="8344974" y="1649076"/>
            <a:ext cx="141897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 법인 진단에 </a:t>
            </a:r>
            <a:r>
              <a:rPr lang="en-US" altLang="ko-KR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</a:t>
            </a:r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 소요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5288F0-7460-BCA7-E1D0-549F4BAB99B4}"/>
              </a:ext>
            </a:extLst>
          </p:cNvPr>
          <p:cNvSpPr txBox="1"/>
          <p:nvPr/>
        </p:nvSpPr>
        <p:spPr>
          <a:xfrm>
            <a:off x="6672517" y="1882995"/>
            <a:ext cx="286488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 데이터 수집 및 분석에 과다한 시간 투입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4FFD00-94D5-F67F-1D9F-AB7EDB56CAF3}"/>
              </a:ext>
            </a:extLst>
          </p:cNvPr>
          <p:cNvSpPr txBox="1"/>
          <p:nvPr/>
        </p:nvSpPr>
        <p:spPr>
          <a:xfrm>
            <a:off x="6672517" y="2729863"/>
            <a:ext cx="309143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 발생한 문제 위주 진단으로 리스크 예방 및</a:t>
            </a:r>
            <a:b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 적시성 제고 필요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C121A1-4F6E-6474-FF0B-CC7AE63648DC}"/>
              </a:ext>
            </a:extLst>
          </p:cNvPr>
          <p:cNvSpPr txBox="1"/>
          <p:nvPr/>
        </p:nvSpPr>
        <p:spPr>
          <a:xfrm>
            <a:off x="6680665" y="3152593"/>
            <a:ext cx="285369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글로벌한 문제 파악이 어려움  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52B0660-3C15-988E-D32B-65EB056A3F1E}"/>
              </a:ext>
            </a:extLst>
          </p:cNvPr>
          <p:cNvSpPr/>
          <p:nvPr/>
        </p:nvSpPr>
        <p:spPr>
          <a:xfrm>
            <a:off x="6862688" y="2049105"/>
            <a:ext cx="27238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분석하지 못허가나 잘못 분석한 데이터 발생 가능성 있음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D90834A-CB3F-4403-57D6-20D1B9A11D88}"/>
              </a:ext>
            </a:extLst>
          </p:cNvPr>
          <p:cNvSpPr/>
          <p:nvPr/>
        </p:nvSpPr>
        <p:spPr>
          <a:xfrm>
            <a:off x="7933485" y="3327151"/>
            <a:ext cx="200888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유사한 사고의 재발</a:t>
            </a:r>
            <a:r>
              <a:rPr lang="en-US" altLang="ko-KR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900" dirty="0">
                <a:solidFill>
                  <a:srgbClr val="0066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이슈의 복잡도 증가</a:t>
            </a:r>
            <a:endParaRPr lang="ko-KR" altLang="en-US" sz="900" dirty="0">
              <a:solidFill>
                <a:srgbClr val="006600"/>
              </a:solidFill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85BFCF2-0F72-AA23-DFAA-2EA6B46AFBA8}"/>
              </a:ext>
            </a:extLst>
          </p:cNvPr>
          <p:cNvSpPr txBox="1"/>
          <p:nvPr/>
        </p:nvSpPr>
        <p:spPr>
          <a:xfrm>
            <a:off x="7895170" y="1287500"/>
            <a:ext cx="899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개선 포인트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8D0B67AE-3A94-264C-70C4-AECDA975442A}"/>
              </a:ext>
            </a:extLst>
          </p:cNvPr>
          <p:cNvCxnSpPr/>
          <p:nvPr/>
        </p:nvCxnSpPr>
        <p:spPr bwMode="auto">
          <a:xfrm>
            <a:off x="2432720" y="2020650"/>
            <a:ext cx="0" cy="138499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6" name="Text Box 64">
            <a:extLst>
              <a:ext uri="{FF2B5EF4-FFF2-40B4-BE49-F238E27FC236}">
                <a16:creationId xmlns:a16="http://schemas.microsoft.com/office/drawing/2014/main" id="{24F397AD-B8D7-F756-71AB-E861713DF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294" y="577821"/>
            <a:ext cx="9554231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sym typeface="Arial Narrow" panose="020B0606020202030204" pitchFamily="34" charset="0"/>
              </a:defRPr>
            </a:lvl9pPr>
          </a:lstStyle>
          <a:p>
            <a:pPr>
              <a:spcBef>
                <a:spcPct val="50000"/>
              </a:spcBef>
              <a:buSzPct val="90000"/>
              <a:buNone/>
              <a:tabLst>
                <a:tab pos="0" algn="l"/>
              </a:tabLst>
            </a:pPr>
            <a:r>
              <a:rPr lang="ko-KR" altLang="en-US" sz="1400" b="1" dirty="0">
                <a:solidFill>
                  <a:srgbClr val="000000"/>
                </a:solidFill>
              </a:rPr>
              <a:t>해외법인 오퍼레이션 전반의 </a:t>
            </a:r>
            <a:r>
              <a:rPr lang="ko-KR" altLang="en-US" sz="1400" b="1" u="sng" dirty="0">
                <a:solidFill>
                  <a:srgbClr val="000000"/>
                </a:solidFill>
              </a:rPr>
              <a:t>데이터를 수집</a:t>
            </a:r>
            <a:r>
              <a:rPr lang="ko-KR" altLang="en-US" sz="1400" b="1" dirty="0">
                <a:solidFill>
                  <a:srgbClr val="000000"/>
                </a:solidFill>
              </a:rPr>
              <a:t> 후 리스크 징후를 실시간 자동 예측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분석</a:t>
            </a:r>
            <a:r>
              <a:rPr lang="ko-KR" altLang="en-US" sz="1000" b="1" dirty="0">
                <a:solidFill>
                  <a:srgbClr val="000000"/>
                </a:solidFill>
              </a:rPr>
              <a:t>▪</a:t>
            </a:r>
            <a:r>
              <a:rPr lang="ko-KR" altLang="en-US" sz="1400" b="1" dirty="0">
                <a:solidFill>
                  <a:srgbClr val="000000"/>
                </a:solidFill>
              </a:rPr>
              <a:t>리포팅 하는 체계를 기반으로</a:t>
            </a:r>
            <a:r>
              <a:rPr lang="en-US" altLang="ko-KR" sz="1400" b="1" dirty="0">
                <a:solidFill>
                  <a:srgbClr val="000000"/>
                </a:solidFill>
              </a:rPr>
              <a:t>, </a:t>
            </a:r>
            <a:r>
              <a:rPr lang="ko-KR" altLang="en-US" sz="1400" b="1" u="sng" dirty="0">
                <a:solidFill>
                  <a:srgbClr val="000000"/>
                </a:solidFill>
              </a:rPr>
              <a:t>현업 및 리스크 주관부서까지 리스크를 상시 점검</a:t>
            </a:r>
            <a:r>
              <a:rPr lang="ko-KR" altLang="en-US" sz="1400" b="1" dirty="0">
                <a:solidFill>
                  <a:srgbClr val="000000"/>
                </a:solidFill>
              </a:rPr>
              <a:t>토록 하는 프로세스를 구축하여 정기진단 방식의 한계점을 극복한 </a:t>
            </a:r>
            <a:r>
              <a:rPr lang="en-US" altLang="ko-KR" sz="1400" b="1" dirty="0">
                <a:solidFill>
                  <a:srgbClr val="000000"/>
                </a:solidFill>
              </a:rPr>
              <a:t>‘</a:t>
            </a:r>
            <a:r>
              <a:rPr lang="ko-KR" altLang="en-US" sz="1400" b="1" dirty="0">
                <a:solidFill>
                  <a:srgbClr val="000000"/>
                </a:solidFill>
              </a:rPr>
              <a:t>평상시 리스크 선행관리</a:t>
            </a:r>
            <a:r>
              <a:rPr lang="en-US" altLang="ko-KR" sz="1400" b="1" dirty="0">
                <a:solidFill>
                  <a:srgbClr val="000000"/>
                </a:solidFill>
              </a:rPr>
              <a:t>’ </a:t>
            </a:r>
            <a:r>
              <a:rPr lang="ko-KR" altLang="en-US" sz="1400" b="1" dirty="0">
                <a:solidFill>
                  <a:srgbClr val="000000"/>
                </a:solidFill>
              </a:rPr>
              <a:t>체제를 강화함</a:t>
            </a:r>
            <a:endParaRPr lang="en-US" altLang="ko-KR" sz="1400" b="1" dirty="0">
              <a:solidFill>
                <a:srgbClr val="000000"/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6FD7FE-A047-B540-7771-7F0BC01A1012}"/>
              </a:ext>
            </a:extLst>
          </p:cNvPr>
          <p:cNvSpPr txBox="1"/>
          <p:nvPr/>
        </p:nvSpPr>
        <p:spPr>
          <a:xfrm>
            <a:off x="992560" y="3737697"/>
            <a:ext cx="603883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과거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현재 기 발생한 문제를 찾아내는 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‘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</a:t>
            </a:r>
            <a:r>
              <a:rPr lang="en-US" altLang="ko-KR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’</a:t>
            </a:r>
            <a:r>
              <a:rPr lang="ko-KR" altLang="en-US" sz="10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을 위한 진단 방식으로 리스크를 사전에 예측하고 예방하기에 한계 발생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2945FA0-57E1-B714-47CA-6692DD846777}"/>
              </a:ext>
            </a:extLst>
          </p:cNvPr>
          <p:cNvSpPr txBox="1"/>
          <p:nvPr/>
        </p:nvSpPr>
        <p:spPr>
          <a:xfrm>
            <a:off x="32821" y="1813994"/>
            <a:ext cx="11544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</a:rPr>
              <a:t>“What’s going on?”</a:t>
            </a:r>
          </a:p>
          <a:p>
            <a:r>
              <a:rPr lang="en-US" altLang="ko-KR" sz="1000" dirty="0">
                <a:solidFill>
                  <a:srgbClr val="006600"/>
                </a:solidFill>
                <a:latin typeface="Arial Narrow" panose="020B0606020202030204" pitchFamily="34" charset="0"/>
              </a:rPr>
              <a:t>“Is there a problem?”</a:t>
            </a:r>
            <a:endParaRPr lang="ko-KR" altLang="en-US" sz="1000" dirty="0">
              <a:solidFill>
                <a:srgbClr val="006600"/>
              </a:solidFill>
              <a:latin typeface="Arial Narrow" panose="020B0606020202030204" pitchFamily="34" charset="0"/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FC3F2717-A01E-2409-AAC8-CEC7872B7B04}"/>
              </a:ext>
            </a:extLst>
          </p:cNvPr>
          <p:cNvSpPr/>
          <p:nvPr/>
        </p:nvSpPr>
        <p:spPr>
          <a:xfrm>
            <a:off x="8164742" y="2919275"/>
            <a:ext cx="151836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이슈 패턴 및 조사결과의 반복</a:t>
            </a:r>
            <a:endParaRPr lang="ko-KR" altLang="en-US" sz="900" dirty="0"/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277DA10A-81A7-57A2-7410-465AA35C21C1}"/>
              </a:ext>
            </a:extLst>
          </p:cNvPr>
          <p:cNvCxnSpPr>
            <a:cxnSpLocks/>
          </p:cNvCxnSpPr>
          <p:nvPr/>
        </p:nvCxnSpPr>
        <p:spPr bwMode="auto">
          <a:xfrm>
            <a:off x="588233" y="4047438"/>
            <a:ext cx="8866625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50000"/>
              </a:schemeClr>
            </a:solidFill>
            <a:prstDash val="sysDot"/>
            <a:round/>
            <a:headEnd type="none" w="med" len="med"/>
            <a:tailEnd type="none" w="med" len="med"/>
          </a:ln>
          <a:effectLst/>
        </p:spPr>
      </p:cxn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198A22B-1A40-68A2-9D10-9B737FB7D47B}"/>
              </a:ext>
            </a:extLst>
          </p:cNvPr>
          <p:cNvSpPr/>
          <p:nvPr/>
        </p:nvSpPr>
        <p:spPr>
          <a:xfrm>
            <a:off x="6957460" y="4867164"/>
            <a:ext cx="22990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진단뿐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아니라 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현업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주관부서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도</a:t>
            </a:r>
            <a:endParaRPr lang="en-US" altLang="ko-KR" sz="1000" dirty="0"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  <a:p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  데이터 분석결과를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사용</a:t>
            </a:r>
            <a:endParaRPr lang="ko-KR" altLang="en-US" sz="1000" dirty="0">
              <a:latin typeface="Arial Narrow" panose="020B0606020202030204" pitchFamily="34" charset="0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7ED366F-3AD3-F4CD-CBDF-012F915F192E}"/>
              </a:ext>
            </a:extLst>
          </p:cNvPr>
          <p:cNvSpPr/>
          <p:nvPr/>
        </p:nvSpPr>
        <p:spPr>
          <a:xfrm>
            <a:off x="6932584" y="5223389"/>
            <a:ext cx="268917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진단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-defined Rule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과 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AI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 기반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검출 </a:t>
            </a:r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00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</a:t>
            </a:r>
            <a:b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  </a:t>
            </a:r>
            <a:r>
              <a:rPr lang="ko-KR" altLang="en-US" sz="100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시나리오 개발</a:t>
            </a:r>
            <a:endParaRPr lang="ko-KR" altLang="en-US" sz="1000" dirty="0">
              <a:latin typeface="Arial Narrow" panose="020B0606020202030204" pitchFamily="34" charset="0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817E49C1-CE4C-845E-D0AE-AC7DD4820BB1}"/>
              </a:ext>
            </a:extLst>
          </p:cNvPr>
          <p:cNvSpPr/>
          <p:nvPr/>
        </p:nvSpPr>
        <p:spPr>
          <a:xfrm>
            <a:off x="6945818" y="5599301"/>
            <a:ext cx="2412840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- </a:t>
            </a:r>
            <a:r>
              <a:rPr lang="ko-KR" altLang="en-US" sz="100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잠재적 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예외처리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를 고려한</a:t>
            </a:r>
            <a:r>
              <a:rPr lang="en-US" altLang="ko-KR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 </a:t>
            </a:r>
            <a:r>
              <a:rPr lang="ko-KR" altLang="en-US" sz="1000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분석기법 </a:t>
            </a:r>
            <a:r>
              <a:rPr lang="ko-KR" altLang="en-US" sz="1000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고도화</a:t>
            </a:r>
            <a:endParaRPr lang="ko-KR" altLang="en-US" sz="1000" dirty="0">
              <a:latin typeface="Arial Narrow" panose="020B0606020202030204" pitchFamily="34" charset="0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56BECA36-CCD9-6635-39EC-DFA01D5DD10B}"/>
              </a:ext>
            </a:extLst>
          </p:cNvPr>
          <p:cNvCxnSpPr>
            <a:cxnSpLocks/>
          </p:cNvCxnSpPr>
          <p:nvPr/>
        </p:nvCxnSpPr>
        <p:spPr bwMode="auto">
          <a:xfrm>
            <a:off x="2229175" y="4368111"/>
            <a:ext cx="3671230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A74F4CBF-6286-6B67-F031-CB6359053257}"/>
              </a:ext>
            </a:extLst>
          </p:cNvPr>
          <p:cNvSpPr txBox="1"/>
          <p:nvPr/>
        </p:nvSpPr>
        <p:spPr>
          <a:xfrm>
            <a:off x="3175717" y="4099288"/>
            <a:ext cx="16979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빅데이터 기반 상시 점검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16DB953-A35A-40B8-309E-35A6D13D291C}"/>
              </a:ext>
            </a:extLst>
          </p:cNvPr>
          <p:cNvSpPr txBox="1"/>
          <p:nvPr/>
        </p:nvSpPr>
        <p:spPr>
          <a:xfrm>
            <a:off x="6669428" y="4150241"/>
            <a:ext cx="3034805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법인의 포괄적 데이터를 수집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분석하여 진단 활용</a:t>
            </a:r>
            <a:b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</a:b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 → </a:t>
            </a:r>
            <a:r>
              <a:rPr lang="ko-KR" altLang="en-US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빅데이터 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Real-time 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분석 </a:t>
            </a:r>
            <a:r>
              <a:rPr lang="en-US" altLang="ko-KR" sz="1100" b="1" dirty="0"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lang="ko-KR" altLang="en-US" sz="1100" b="1">
                <a:latin typeface="Arial Narrow" panose="020B0606020202030204" pitchFamily="34" charset="0"/>
                <a:ea typeface="LG스마트체 Regular" panose="020B0600000101010101" pitchFamily="50" charset="-127"/>
              </a:rPr>
              <a:t>리스크 적기 센싱</a:t>
            </a:r>
            <a:endParaRPr lang="ko-KR" altLang="en-US" sz="900" dirty="0">
              <a:solidFill>
                <a:srgbClr val="0066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cxnSp>
        <p:nvCxnSpPr>
          <p:cNvPr id="67" name="직선 연결선 66">
            <a:extLst>
              <a:ext uri="{FF2B5EF4-FFF2-40B4-BE49-F238E27FC236}">
                <a16:creationId xmlns:a16="http://schemas.microsoft.com/office/drawing/2014/main" id="{2BF86D4A-2526-27F8-183B-8D439ABBA0C8}"/>
              </a:ext>
            </a:extLst>
          </p:cNvPr>
          <p:cNvCxnSpPr>
            <a:cxnSpLocks/>
          </p:cNvCxnSpPr>
          <p:nvPr/>
        </p:nvCxnSpPr>
        <p:spPr bwMode="auto">
          <a:xfrm>
            <a:off x="1090039" y="5514256"/>
            <a:ext cx="0" cy="530397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DCBB02E3-46E5-44BD-C935-D4FD26C9E5F8}"/>
              </a:ext>
            </a:extLst>
          </p:cNvPr>
          <p:cNvCxnSpPr>
            <a:cxnSpLocks/>
            <a:stCxn id="76" idx="1"/>
          </p:cNvCxnSpPr>
          <p:nvPr/>
        </p:nvCxnSpPr>
        <p:spPr bwMode="auto">
          <a:xfrm>
            <a:off x="4724363" y="5391420"/>
            <a:ext cx="12613" cy="501894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직선 연결선 68">
            <a:extLst>
              <a:ext uri="{FF2B5EF4-FFF2-40B4-BE49-F238E27FC236}">
                <a16:creationId xmlns:a16="http://schemas.microsoft.com/office/drawing/2014/main" id="{192599C0-CE9C-F791-C5D3-55BF2ADD0463}"/>
              </a:ext>
            </a:extLst>
          </p:cNvPr>
          <p:cNvCxnSpPr>
            <a:cxnSpLocks/>
          </p:cNvCxnSpPr>
          <p:nvPr/>
        </p:nvCxnSpPr>
        <p:spPr bwMode="auto">
          <a:xfrm>
            <a:off x="1118658" y="5965683"/>
            <a:ext cx="3592609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C9310675-4FB1-2461-F573-738F04B4839C}"/>
              </a:ext>
            </a:extLst>
          </p:cNvPr>
          <p:cNvSpPr txBox="1"/>
          <p:nvPr/>
        </p:nvSpPr>
        <p:spPr>
          <a:xfrm>
            <a:off x="2549645" y="5866125"/>
            <a:ext cx="80764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실시간</a:t>
            </a: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9B675BE-F722-B9ED-36E0-7287F4E40510}"/>
              </a:ext>
            </a:extLst>
          </p:cNvPr>
          <p:cNvGrpSpPr/>
          <p:nvPr/>
        </p:nvGrpSpPr>
        <p:grpSpPr>
          <a:xfrm>
            <a:off x="1089144" y="5272330"/>
            <a:ext cx="5485196" cy="241926"/>
            <a:chOff x="1089143" y="5583449"/>
            <a:chExt cx="6677575" cy="241926"/>
          </a:xfrm>
        </p:grpSpPr>
        <p:sp>
          <p:nvSpPr>
            <p:cNvPr id="72" name="화살표: 오른쪽 71">
              <a:extLst>
                <a:ext uri="{FF2B5EF4-FFF2-40B4-BE49-F238E27FC236}">
                  <a16:creationId xmlns:a16="http://schemas.microsoft.com/office/drawing/2014/main" id="{23AFEDDA-ED4E-5D43-02B0-A6349F2FCD25}"/>
                </a:ext>
              </a:extLst>
            </p:cNvPr>
            <p:cNvSpPr/>
            <p:nvPr/>
          </p:nvSpPr>
          <p:spPr bwMode="auto">
            <a:xfrm>
              <a:off x="1089143" y="5598778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데이터수집</a:t>
              </a:r>
            </a:p>
          </p:txBody>
        </p:sp>
        <p:sp>
          <p:nvSpPr>
            <p:cNvPr id="73" name="화살표: 오른쪽 72">
              <a:extLst>
                <a:ext uri="{FF2B5EF4-FFF2-40B4-BE49-F238E27FC236}">
                  <a16:creationId xmlns:a16="http://schemas.microsoft.com/office/drawing/2014/main" id="{303C0472-421D-9091-B819-2EA0DA60A499}"/>
                </a:ext>
              </a:extLst>
            </p:cNvPr>
            <p:cNvSpPr/>
            <p:nvPr/>
          </p:nvSpPr>
          <p:spPr bwMode="auto">
            <a:xfrm>
              <a:off x="2188365" y="5589240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분석</a:t>
              </a:r>
            </a:p>
          </p:txBody>
        </p:sp>
        <p:sp>
          <p:nvSpPr>
            <p:cNvPr id="74" name="화살표: 오른쪽 73">
              <a:extLst>
                <a:ext uri="{FF2B5EF4-FFF2-40B4-BE49-F238E27FC236}">
                  <a16:creationId xmlns:a16="http://schemas.microsoft.com/office/drawing/2014/main" id="{364E7557-3ED3-60C6-603B-B6B199C7FB85}"/>
                </a:ext>
              </a:extLst>
            </p:cNvPr>
            <p:cNvSpPr/>
            <p:nvPr/>
          </p:nvSpPr>
          <p:spPr bwMode="auto">
            <a:xfrm>
              <a:off x="3294494" y="5589240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분석결과</a:t>
              </a:r>
            </a:p>
          </p:txBody>
        </p:sp>
        <p:sp>
          <p:nvSpPr>
            <p:cNvPr id="75" name="화살표: 오른쪽 74">
              <a:extLst>
                <a:ext uri="{FF2B5EF4-FFF2-40B4-BE49-F238E27FC236}">
                  <a16:creationId xmlns:a16="http://schemas.microsoft.com/office/drawing/2014/main" id="{23038B33-00D6-4691-7EB4-E8C3027E54DF}"/>
                </a:ext>
              </a:extLst>
            </p:cNvPr>
            <p:cNvSpPr/>
            <p:nvPr/>
          </p:nvSpPr>
          <p:spPr bwMode="auto">
            <a:xfrm>
              <a:off x="4408462" y="5589240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시각화</a:t>
              </a:r>
            </a:p>
          </p:txBody>
        </p:sp>
        <p:sp>
          <p:nvSpPr>
            <p:cNvPr id="76" name="화살표: 오른쪽 75">
              <a:extLst>
                <a:ext uri="{FF2B5EF4-FFF2-40B4-BE49-F238E27FC236}">
                  <a16:creationId xmlns:a16="http://schemas.microsoft.com/office/drawing/2014/main" id="{DBA5AF44-21D4-486E-F365-3EBC0F6A1641}"/>
                </a:ext>
              </a:extLst>
            </p:cNvPr>
            <p:cNvSpPr/>
            <p:nvPr/>
          </p:nvSpPr>
          <p:spPr bwMode="auto">
            <a:xfrm>
              <a:off x="5514591" y="5589240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점검</a:t>
              </a:r>
            </a:p>
          </p:txBody>
        </p:sp>
        <p:sp>
          <p:nvSpPr>
            <p:cNvPr id="77" name="화살표: 오른쪽 76">
              <a:extLst>
                <a:ext uri="{FF2B5EF4-FFF2-40B4-BE49-F238E27FC236}">
                  <a16:creationId xmlns:a16="http://schemas.microsoft.com/office/drawing/2014/main" id="{4D3EEA60-32AD-ACD6-FFDB-78D4767EDDEE}"/>
                </a:ext>
              </a:extLst>
            </p:cNvPr>
            <p:cNvSpPr/>
            <p:nvPr/>
          </p:nvSpPr>
          <p:spPr bwMode="auto">
            <a:xfrm>
              <a:off x="6612235" y="5583449"/>
              <a:ext cx="1154483" cy="226597"/>
            </a:xfrm>
            <a:prstGeom prst="rightArrow">
              <a:avLst>
                <a:gd name="adj1" fmla="val 97919"/>
                <a:gd name="adj2" fmla="val 50000"/>
              </a:avLst>
            </a:prstGeom>
            <a:gradFill flip="none" rotWithShape="1">
              <a:gsLst>
                <a:gs pos="0">
                  <a:schemeClr val="bg1">
                    <a:lumMod val="75000"/>
                    <a:shade val="30000"/>
                    <a:satMod val="115000"/>
                  </a:schemeClr>
                </a:gs>
                <a:gs pos="50000">
                  <a:schemeClr val="bg1">
                    <a:lumMod val="75000"/>
                    <a:shade val="67500"/>
                    <a:satMod val="115000"/>
                  </a:schemeClr>
                </a:gs>
                <a:gs pos="100000">
                  <a:schemeClr val="bg1">
                    <a:lumMod val="75000"/>
                    <a:shade val="100000"/>
                    <a:satMod val="115000"/>
                  </a:schemeClr>
                </a:gs>
              </a:gsLst>
              <a:lin ang="8100000" scaled="1"/>
              <a:tileRect/>
            </a:gra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89585" tIns="44791" rIns="89585" bIns="44791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2813" rtl="0" eaLnBrk="1" fontAlgn="base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1" lang="ko-KR" altLang="en-US" sz="1050" b="1" i="0" strike="noStrike" cap="none" normalizeH="0" baseline="0" dirty="0">
                  <a:ln>
                    <a:noFill/>
                  </a:ln>
                  <a:effectLst/>
                  <a:latin typeface="LG스마트체 Regular" panose="020B0600000101010101" pitchFamily="50" charset="-127"/>
                  <a:ea typeface="LG스마트체 Regular" panose="020B0600000101010101" pitchFamily="50" charset="-127"/>
                </a:rPr>
                <a:t>판단</a:t>
              </a:r>
            </a:p>
          </p:txBody>
        </p:sp>
      </p:grp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695488B2-78D0-E692-1B17-05B0694A769D}"/>
              </a:ext>
            </a:extLst>
          </p:cNvPr>
          <p:cNvCxnSpPr>
            <a:cxnSpLocks/>
          </p:cNvCxnSpPr>
          <p:nvPr/>
        </p:nvCxnSpPr>
        <p:spPr bwMode="auto">
          <a:xfrm>
            <a:off x="6202536" y="5498927"/>
            <a:ext cx="0" cy="560838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7464843D-967B-5F75-BD46-C703C2438934}"/>
              </a:ext>
            </a:extLst>
          </p:cNvPr>
          <p:cNvCxnSpPr>
            <a:cxnSpLocks/>
          </p:cNvCxnSpPr>
          <p:nvPr/>
        </p:nvCxnSpPr>
        <p:spPr bwMode="auto">
          <a:xfrm>
            <a:off x="1134057" y="6248892"/>
            <a:ext cx="5410176" cy="0"/>
          </a:xfrm>
          <a:prstGeom prst="line">
            <a:avLst/>
          </a:prstGeom>
          <a:solidFill>
            <a:schemeClr val="bg1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C1154614-F87E-0CF0-2181-C9EC2841E4D6}"/>
              </a:ext>
            </a:extLst>
          </p:cNvPr>
          <p:cNvSpPr txBox="1"/>
          <p:nvPr/>
        </p:nvSpPr>
        <p:spPr>
          <a:xfrm>
            <a:off x="3552039" y="6135107"/>
            <a:ext cx="80764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1</a:t>
            </a:r>
            <a:r>
              <a:rPr lang="ko-KR" altLang="en-US" sz="1000" dirty="0">
                <a:solidFill>
                  <a:srgbClr val="C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개월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A8C1AB8-1CEA-30C4-9192-484D74EB4848}"/>
              </a:ext>
            </a:extLst>
          </p:cNvPr>
          <p:cNvSpPr txBox="1"/>
          <p:nvPr/>
        </p:nvSpPr>
        <p:spPr>
          <a:xfrm>
            <a:off x="1186190" y="5492294"/>
            <a:ext cx="67839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EDL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E659F49A-4587-0A05-4403-6680A954874C}"/>
              </a:ext>
            </a:extLst>
          </p:cNvPr>
          <p:cNvSpPr txBox="1"/>
          <p:nvPr/>
        </p:nvSpPr>
        <p:spPr>
          <a:xfrm>
            <a:off x="1937845" y="5516387"/>
            <a:ext cx="18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시나리오 설계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개발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10F61C2-3B7A-C5F1-B9FA-E8EC2250D5CD}"/>
              </a:ext>
            </a:extLst>
          </p:cNvPr>
          <p:cNvSpPr txBox="1"/>
          <p:nvPr/>
        </p:nvSpPr>
        <p:spPr>
          <a:xfrm>
            <a:off x="3913704" y="5516195"/>
            <a:ext cx="74696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리포트 개발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77D1504-96B9-183D-D511-E06A754C65A2}"/>
              </a:ext>
            </a:extLst>
          </p:cNvPr>
          <p:cNvSpPr txBox="1"/>
          <p:nvPr/>
        </p:nvSpPr>
        <p:spPr>
          <a:xfrm>
            <a:off x="1101682" y="5621836"/>
            <a:ext cx="81198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본부 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BI 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데이터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6690270-E500-2509-1F8C-36A5B49F6AF7}"/>
              </a:ext>
            </a:extLst>
          </p:cNvPr>
          <p:cNvSpPr txBox="1"/>
          <p:nvPr/>
        </p:nvSpPr>
        <p:spPr>
          <a:xfrm>
            <a:off x="4659400" y="5522509"/>
            <a:ext cx="18540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대시보드 및 커뮤니케이션 플랫폼 개발</a:t>
            </a:r>
          </a:p>
        </p:txBody>
      </p:sp>
      <p:sp>
        <p:nvSpPr>
          <p:cNvPr id="86" name="화살표: 원형 85">
            <a:extLst>
              <a:ext uri="{FF2B5EF4-FFF2-40B4-BE49-F238E27FC236}">
                <a16:creationId xmlns:a16="http://schemas.microsoft.com/office/drawing/2014/main" id="{5204B374-FE27-E67C-4AD0-981A8CC21C4A}"/>
              </a:ext>
            </a:extLst>
          </p:cNvPr>
          <p:cNvSpPr/>
          <p:nvPr/>
        </p:nvSpPr>
        <p:spPr bwMode="auto">
          <a:xfrm rot="15860516" flipH="1">
            <a:off x="3159139" y="4653634"/>
            <a:ext cx="628582" cy="679147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21532886"/>
              <a:gd name="adj5" fmla="val 1339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87" name="화살표: 원형 86">
            <a:extLst>
              <a:ext uri="{FF2B5EF4-FFF2-40B4-BE49-F238E27FC236}">
                <a16:creationId xmlns:a16="http://schemas.microsoft.com/office/drawing/2014/main" id="{E72F57C6-4A2E-F2BE-6171-BF5E6DEB0742}"/>
              </a:ext>
            </a:extLst>
          </p:cNvPr>
          <p:cNvSpPr/>
          <p:nvPr/>
        </p:nvSpPr>
        <p:spPr bwMode="auto">
          <a:xfrm rot="15860516" flipH="1">
            <a:off x="3992599" y="4654761"/>
            <a:ext cx="628582" cy="679147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21532886"/>
              <a:gd name="adj5" fmla="val 1339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88" name="화살표: 원형 87">
            <a:extLst>
              <a:ext uri="{FF2B5EF4-FFF2-40B4-BE49-F238E27FC236}">
                <a16:creationId xmlns:a16="http://schemas.microsoft.com/office/drawing/2014/main" id="{1F4BC984-4242-19DA-3B94-27DE6C90F16E}"/>
              </a:ext>
            </a:extLst>
          </p:cNvPr>
          <p:cNvSpPr/>
          <p:nvPr/>
        </p:nvSpPr>
        <p:spPr bwMode="auto">
          <a:xfrm rot="15860516" flipH="1">
            <a:off x="4826059" y="4654760"/>
            <a:ext cx="628582" cy="679147"/>
          </a:xfrm>
          <a:prstGeom prst="circularArrow">
            <a:avLst>
              <a:gd name="adj1" fmla="val 14431"/>
              <a:gd name="adj2" fmla="val 911623"/>
              <a:gd name="adj3" fmla="val 20243655"/>
              <a:gd name="adj4" fmla="val 21532886"/>
              <a:gd name="adj5" fmla="val 13391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5400000" scaled="1"/>
            <a:tileRect/>
          </a:gradFill>
          <a:ln w="1905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11637BBC-D535-3888-C966-F1C383E91FD6}"/>
              </a:ext>
            </a:extLst>
          </p:cNvPr>
          <p:cNvSpPr txBox="1"/>
          <p:nvPr/>
        </p:nvSpPr>
        <p:spPr>
          <a:xfrm>
            <a:off x="3255150" y="4842460"/>
            <a:ext cx="412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현업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A7793C1B-671D-C157-6359-230883BA805D}"/>
              </a:ext>
            </a:extLst>
          </p:cNvPr>
          <p:cNvSpPr txBox="1"/>
          <p:nvPr/>
        </p:nvSpPr>
        <p:spPr>
          <a:xfrm>
            <a:off x="3992962" y="4855969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주관부서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ABA19CA5-0082-0985-037D-2BBC5CDDD068}"/>
              </a:ext>
            </a:extLst>
          </p:cNvPr>
          <p:cNvSpPr txBox="1"/>
          <p:nvPr/>
        </p:nvSpPr>
        <p:spPr>
          <a:xfrm>
            <a:off x="4943157" y="4855968"/>
            <a:ext cx="41229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rgbClr val="C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</a:t>
            </a:r>
            <a:endParaRPr lang="ko-KR" altLang="en-US" sz="1000" dirty="0">
              <a:solidFill>
                <a:srgbClr val="C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92" name="자유형: 도형 91">
            <a:extLst>
              <a:ext uri="{FF2B5EF4-FFF2-40B4-BE49-F238E27FC236}">
                <a16:creationId xmlns:a16="http://schemas.microsoft.com/office/drawing/2014/main" id="{AB1EBE83-9671-488C-8A51-270D361EBC5C}"/>
              </a:ext>
            </a:extLst>
          </p:cNvPr>
          <p:cNvSpPr/>
          <p:nvPr/>
        </p:nvSpPr>
        <p:spPr bwMode="auto">
          <a:xfrm>
            <a:off x="4233737" y="4621754"/>
            <a:ext cx="973393" cy="148202"/>
          </a:xfrm>
          <a:custGeom>
            <a:avLst/>
            <a:gdLst>
              <a:gd name="connsiteX0" fmla="*/ 973393 w 973393"/>
              <a:gd name="connsiteY0" fmla="*/ 317210 h 317210"/>
              <a:gd name="connsiteX1" fmla="*/ 435077 w 973393"/>
              <a:gd name="connsiteY1" fmla="*/ 120 h 317210"/>
              <a:gd name="connsiteX2" fmla="*/ 0 w 973393"/>
              <a:gd name="connsiteY2" fmla="*/ 287713 h 31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3393" h="317210">
                <a:moveTo>
                  <a:pt x="973393" y="317210"/>
                </a:moveTo>
                <a:cubicBezTo>
                  <a:pt x="785351" y="161123"/>
                  <a:pt x="597309" y="5036"/>
                  <a:pt x="435077" y="120"/>
                </a:cubicBezTo>
                <a:cubicBezTo>
                  <a:pt x="272845" y="-4796"/>
                  <a:pt x="136422" y="141458"/>
                  <a:pt x="0" y="287713"/>
                </a:cubicBezTo>
              </a:path>
            </a:pathLst>
          </a:custGeom>
          <a:noFill/>
          <a:ln w="3175" cap="flat" cmpd="sng" algn="ctr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93" name="자유형: 도형 92">
            <a:extLst>
              <a:ext uri="{FF2B5EF4-FFF2-40B4-BE49-F238E27FC236}">
                <a16:creationId xmlns:a16="http://schemas.microsoft.com/office/drawing/2014/main" id="{097E2952-1352-F925-795A-82DC434185B3}"/>
              </a:ext>
            </a:extLst>
          </p:cNvPr>
          <p:cNvSpPr/>
          <p:nvPr/>
        </p:nvSpPr>
        <p:spPr bwMode="auto">
          <a:xfrm>
            <a:off x="3352448" y="4606671"/>
            <a:ext cx="973393" cy="148202"/>
          </a:xfrm>
          <a:custGeom>
            <a:avLst/>
            <a:gdLst>
              <a:gd name="connsiteX0" fmla="*/ 973393 w 973393"/>
              <a:gd name="connsiteY0" fmla="*/ 317210 h 317210"/>
              <a:gd name="connsiteX1" fmla="*/ 435077 w 973393"/>
              <a:gd name="connsiteY1" fmla="*/ 120 h 317210"/>
              <a:gd name="connsiteX2" fmla="*/ 0 w 973393"/>
              <a:gd name="connsiteY2" fmla="*/ 287713 h 31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3393" h="317210">
                <a:moveTo>
                  <a:pt x="973393" y="317210"/>
                </a:moveTo>
                <a:cubicBezTo>
                  <a:pt x="785351" y="161123"/>
                  <a:pt x="597309" y="5036"/>
                  <a:pt x="435077" y="120"/>
                </a:cubicBezTo>
                <a:cubicBezTo>
                  <a:pt x="272845" y="-4796"/>
                  <a:pt x="136422" y="141458"/>
                  <a:pt x="0" y="287713"/>
                </a:cubicBezTo>
              </a:path>
            </a:pathLst>
          </a:custGeom>
          <a:noFill/>
          <a:ln w="3175" cap="flat" cmpd="sng" algn="ctr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94" name="자유형: 도형 93">
            <a:extLst>
              <a:ext uri="{FF2B5EF4-FFF2-40B4-BE49-F238E27FC236}">
                <a16:creationId xmlns:a16="http://schemas.microsoft.com/office/drawing/2014/main" id="{A19B4C5E-DE60-3F1A-860B-EFF828471426}"/>
              </a:ext>
            </a:extLst>
          </p:cNvPr>
          <p:cNvSpPr/>
          <p:nvPr/>
        </p:nvSpPr>
        <p:spPr bwMode="auto">
          <a:xfrm>
            <a:off x="3392320" y="4527230"/>
            <a:ext cx="1697098" cy="173623"/>
          </a:xfrm>
          <a:custGeom>
            <a:avLst/>
            <a:gdLst>
              <a:gd name="connsiteX0" fmla="*/ 973393 w 973393"/>
              <a:gd name="connsiteY0" fmla="*/ 317210 h 317210"/>
              <a:gd name="connsiteX1" fmla="*/ 435077 w 973393"/>
              <a:gd name="connsiteY1" fmla="*/ 120 h 317210"/>
              <a:gd name="connsiteX2" fmla="*/ 0 w 973393"/>
              <a:gd name="connsiteY2" fmla="*/ 287713 h 31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3393" h="317210">
                <a:moveTo>
                  <a:pt x="973393" y="317210"/>
                </a:moveTo>
                <a:cubicBezTo>
                  <a:pt x="785351" y="161123"/>
                  <a:pt x="597309" y="5036"/>
                  <a:pt x="435077" y="120"/>
                </a:cubicBezTo>
                <a:cubicBezTo>
                  <a:pt x="272845" y="-4796"/>
                  <a:pt x="136422" y="141458"/>
                  <a:pt x="0" y="287713"/>
                </a:cubicBezTo>
              </a:path>
            </a:pathLst>
          </a:custGeom>
          <a:noFill/>
          <a:ln w="3175" cap="flat" cmpd="sng" algn="ctr">
            <a:solidFill>
              <a:srgbClr val="006600"/>
            </a:solidFill>
            <a:prstDash val="sysDot"/>
            <a:round/>
            <a:headEnd type="triangle" w="med" len="med"/>
            <a:tailEnd type="triangle" w="med" len="med"/>
          </a:ln>
          <a:effectLst/>
        </p:spPr>
        <p:txBody>
          <a:bodyPr vert="horz" wrap="none" lIns="89585" tIns="44791" rIns="89585" bIns="44791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2813" rtl="0" eaLnBrk="1" fontAlgn="base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400" b="1" i="0" u="sng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charset="0"/>
              <a:ea typeface="Dotum" pitchFamily="50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D7CCD495-0A75-B629-10E6-0423048DC72E}"/>
              </a:ext>
            </a:extLst>
          </p:cNvPr>
          <p:cNvSpPr txBox="1"/>
          <p:nvPr/>
        </p:nvSpPr>
        <p:spPr>
          <a:xfrm>
            <a:off x="4285919" y="4411416"/>
            <a:ext cx="17517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점검 과정</a:t>
            </a:r>
            <a:r>
              <a:rPr lang="en-US" altLang="ko-KR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</a:t>
            </a:r>
            <a:r>
              <a:rPr lang="ko-KR" altLang="en-US" sz="800" dirty="0">
                <a:solidFill>
                  <a:srgbClr val="0066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결과 커뮤니케이션</a:t>
            </a:r>
          </a:p>
        </p:txBody>
      </p:sp>
      <p:sp>
        <p:nvSpPr>
          <p:cNvPr id="96" name="Line 38">
            <a:extLst>
              <a:ext uri="{FF2B5EF4-FFF2-40B4-BE49-F238E27FC236}">
                <a16:creationId xmlns:a16="http://schemas.microsoft.com/office/drawing/2014/main" id="{376E2D6F-6172-15AB-9188-855C7EF14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-8519" y="6597352"/>
            <a:ext cx="8748000" cy="0"/>
          </a:xfrm>
          <a:prstGeom prst="line">
            <a:avLst/>
          </a:prstGeom>
          <a:noFill/>
          <a:ln w="9525">
            <a:solidFill>
              <a:srgbClr val="A50034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1405" tIns="45703" rIns="91405" bIns="45703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</a:pPr>
            <a:endParaRPr kumimoji="1" lang="ko-KR" altLang="en-US" sz="2000" b="1" dirty="0">
              <a:solidFill>
                <a:srgbClr val="000000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pic>
        <p:nvPicPr>
          <p:cNvPr id="97" name="Picture 3" descr="C:\Users\hyun\Desktop\비전로고_두줄.png">
            <a:extLst>
              <a:ext uri="{FF2B5EF4-FFF2-40B4-BE49-F238E27FC236}">
                <a16:creationId xmlns:a16="http://schemas.microsoft.com/office/drawing/2014/main" id="{CD27B6A0-7B89-62F0-F97D-8A4A8C4E27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09963" y="6391618"/>
            <a:ext cx="971368" cy="421758"/>
          </a:xfrm>
          <a:prstGeom prst="rect">
            <a:avLst/>
          </a:prstGeom>
          <a:noFill/>
        </p:spPr>
      </p:pic>
      <p:pic>
        <p:nvPicPr>
          <p:cNvPr id="98" name="Picture 3" descr="C:\Users\hyun\Desktop\비전로고_두줄.png">
            <a:extLst>
              <a:ext uri="{FF2B5EF4-FFF2-40B4-BE49-F238E27FC236}">
                <a16:creationId xmlns:a16="http://schemas.microsoft.com/office/drawing/2014/main" id="{5D426B08-FCC3-2261-BA06-4A0D21057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809963" y="6391618"/>
            <a:ext cx="971368" cy="421758"/>
          </a:xfrm>
          <a:prstGeom prst="rect">
            <a:avLst/>
          </a:prstGeom>
          <a:noFill/>
        </p:spPr>
      </p:pic>
      <p:sp>
        <p:nvSpPr>
          <p:cNvPr id="99" name="직사각형 98">
            <a:extLst>
              <a:ext uri="{FF2B5EF4-FFF2-40B4-BE49-F238E27FC236}">
                <a16:creationId xmlns:a16="http://schemas.microsoft.com/office/drawing/2014/main" id="{62665AF0-AB48-C9EB-9DBA-41CF7D5C114A}"/>
              </a:ext>
            </a:extLst>
          </p:cNvPr>
          <p:cNvSpPr/>
          <p:nvPr/>
        </p:nvSpPr>
        <p:spPr>
          <a:xfrm>
            <a:off x="4742746" y="6569075"/>
            <a:ext cx="441146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2 </a:t>
            </a:r>
            <a:r>
              <a:rPr kumimoji="1" lang="en-US" altLang="ko-KR" sz="1100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/ </a:t>
            </a:r>
            <a:r>
              <a:rPr kumimoji="1" lang="en-US" altLang="ko-KR" sz="1100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5 </a:t>
            </a:r>
            <a:endParaRPr kumimoji="1" lang="ko-KR" altLang="en-US" sz="1100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sp>
        <p:nvSpPr>
          <p:cNvPr id="100" name="실행 단추: 앞으로 또는 다음 109">
            <a:hlinkClick r:id="rId5" action="ppaction://hlinksldjump" highlightClick="1"/>
            <a:extLst>
              <a:ext uri="{FF2B5EF4-FFF2-40B4-BE49-F238E27FC236}">
                <a16:creationId xmlns:a16="http://schemas.microsoft.com/office/drawing/2014/main" id="{7CA3ADBA-4688-0538-D647-BEBED8171B9E}"/>
              </a:ext>
            </a:extLst>
          </p:cNvPr>
          <p:cNvSpPr/>
          <p:nvPr/>
        </p:nvSpPr>
        <p:spPr>
          <a:xfrm>
            <a:off x="9494819" y="6030807"/>
            <a:ext cx="126000" cy="126000"/>
          </a:xfrm>
          <a:prstGeom prst="actionButtonForwardNex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ko-KR" altLang="en-US">
              <a:solidFill>
                <a:prstClr val="white"/>
              </a:solidFill>
              <a:latin typeface="Arial Narrow" panose="020B0606020202030204" pitchFamily="34" charset="0"/>
              <a:ea typeface="LG스마트체 Regular" panose="020B0600000101010101" pitchFamily="50" charset="-127"/>
            </a:endParaRP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649FF6D-28EE-B793-7291-1816D2EAAC0B}"/>
              </a:ext>
            </a:extLst>
          </p:cNvPr>
          <p:cNvSpPr txBox="1"/>
          <p:nvPr/>
        </p:nvSpPr>
        <p:spPr>
          <a:xfrm>
            <a:off x="6669428" y="4660508"/>
            <a:ext cx="305564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Data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분석의 고도화를 통한 이상징후 사전 포착 </a:t>
            </a:r>
            <a:endParaRPr lang="ko-KR" altLang="en-US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08DDD8C4-0C39-04DD-0676-04DF5B29C1E1}"/>
              </a:ext>
            </a:extLst>
          </p:cNvPr>
          <p:cNvSpPr txBox="1"/>
          <p:nvPr/>
        </p:nvSpPr>
        <p:spPr>
          <a:xfrm>
            <a:off x="6785968" y="5975702"/>
            <a:ext cx="276550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☞ 해외법인</a:t>
            </a:r>
            <a:r>
              <a:rPr lang="en-US" altLang="ko-KR" sz="11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1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반복 발생 이슈를 선제적으로 조치</a:t>
            </a:r>
            <a:endParaRPr lang="ko-KR" altLang="en-US" sz="11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D53CF34-B008-D6C1-BEAC-88E05EE4599E}"/>
              </a:ext>
            </a:extLst>
          </p:cNvPr>
          <p:cNvSpPr txBox="1"/>
          <p:nvPr/>
        </p:nvSpPr>
        <p:spPr>
          <a:xfrm>
            <a:off x="9643729" y="1169047"/>
            <a:ext cx="2478085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특정 리스크의 경우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Rule-based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방식 적용 시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아래의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pain point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 있었음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룰 관리의 어려움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새로운 유형 발견 때마다 룰 추가 개발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과다검출로 소명 제대로 이뤄지지 못하고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따라서 정기 진단과 연계되지 못함 → 발생 원인 파악 및 재발 방지 개선안 도출에 어려움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AI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적용하여 아래의 효과를 기대함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적용하여 예외 학습 후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실질적 이상점 선별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(=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분류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적용하여 기존 </a:t>
            </a:r>
            <a:r>
              <a:rPr lang="en-US" altLang="ko-KR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Rule </a:t>
            </a:r>
            <a:r>
              <a:rPr lang="ko-KR" altLang="en-US" sz="11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기반으로 검출하지 못한 이상점 검출</a:t>
            </a:r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95795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80D96-5520-E183-782F-8EAD91BDA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8EE4A4A-D940-1B53-7252-6CCE62CFCF33}"/>
              </a:ext>
            </a:extLst>
          </p:cNvPr>
          <p:cNvSpPr txBox="1"/>
          <p:nvPr/>
        </p:nvSpPr>
        <p:spPr>
          <a:xfrm>
            <a:off x="522514" y="513806"/>
            <a:ext cx="9884229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 err="1"/>
              <a:t>선매출</a:t>
            </a:r>
            <a:r>
              <a:rPr lang="ko-KR" altLang="en-US" sz="1200" dirty="0"/>
              <a:t> </a:t>
            </a:r>
            <a:r>
              <a:rPr lang="en-US" altLang="ko-KR" sz="1200" dirty="0"/>
              <a:t>(Early Sales) </a:t>
            </a:r>
            <a:r>
              <a:rPr lang="ko-KR" altLang="en-US" sz="1200"/>
              <a:t>이란 회계 기준에서 정한 매출 인식 가능 시점보다 앞서 매출을 인식하는 것을 말하며</a:t>
            </a:r>
            <a:r>
              <a:rPr lang="en-US" altLang="ko-KR" sz="1200" dirty="0"/>
              <a:t>, </a:t>
            </a:r>
            <a:r>
              <a:rPr lang="ko-KR" altLang="en-US" sz="1200"/>
              <a:t>선매출이 발생할 경우 재무제표에 영향을 미쳐 경영 상태 왜곡을 초래할 리스크가 발생합니다</a:t>
            </a:r>
            <a:r>
              <a:rPr lang="en-US" altLang="ko-KR" sz="1200" dirty="0"/>
              <a:t>. </a:t>
            </a:r>
            <a:r>
              <a:rPr lang="ko-KR" altLang="en-US" sz="1200"/>
              <a:t>통상적인 내수 거래일 경우</a:t>
            </a:r>
            <a:r>
              <a:rPr lang="en-US" altLang="ko-KR" sz="1200" dirty="0"/>
              <a:t>, </a:t>
            </a:r>
            <a:r>
              <a:rPr lang="ko-KR" altLang="en-US" sz="1200"/>
              <a:t>매출 인식 기준은 거래선이 재화를 인수한 일자이며 통상적으로 운송 증빙 </a:t>
            </a:r>
            <a:r>
              <a:rPr lang="en-US" altLang="ko-KR" sz="1200" dirty="0"/>
              <a:t>(POD: Proof of Delivery) </a:t>
            </a:r>
            <a:r>
              <a:rPr lang="ko-KR" altLang="en-US" sz="1200"/>
              <a:t>일자로 인수 일자를 갈음하게 됩니다</a:t>
            </a:r>
            <a:r>
              <a:rPr lang="en-US" altLang="ko-KR" sz="1200" dirty="0"/>
              <a:t>. </a:t>
            </a:r>
            <a:r>
              <a:rPr lang="ko-KR" altLang="en-US" sz="1200"/>
              <a:t>수출 거래일 경우</a:t>
            </a:r>
            <a:r>
              <a:rPr lang="en-US" altLang="ko-KR" sz="1200"/>
              <a:t>, </a:t>
            </a:r>
            <a:r>
              <a:rPr lang="ko-KR" altLang="en-US" sz="1200"/>
              <a:t>가장 일반적인 무역거래조건인 </a:t>
            </a:r>
            <a:r>
              <a:rPr lang="en-US" altLang="ko-KR" sz="1200"/>
              <a:t>FOD/CIF </a:t>
            </a:r>
            <a:r>
              <a:rPr lang="ko-KR" altLang="en-US" sz="1200"/>
              <a:t>기준으로 선하증권</a:t>
            </a:r>
            <a:r>
              <a:rPr lang="en-US" altLang="ko-KR" sz="1200"/>
              <a:t>(B/L: Bill of Lading)</a:t>
            </a:r>
            <a:r>
              <a:rPr lang="ko-KR" altLang="en-US" sz="1200"/>
              <a:t>의 선적일 </a:t>
            </a:r>
            <a:r>
              <a:rPr lang="en-US" altLang="ko-KR" sz="1200"/>
              <a:t>(On Board Date)</a:t>
            </a:r>
            <a:r>
              <a:rPr lang="ko-KR" altLang="en-US" sz="1200"/>
              <a:t>이 매출인식 기준이 됩니다</a:t>
            </a:r>
            <a:r>
              <a:rPr lang="en-US" altLang="ko-KR" sz="1200"/>
              <a:t>. </a:t>
            </a:r>
            <a:r>
              <a:rPr lang="ko-KR" altLang="en-US" sz="1200"/>
              <a:t>실무적으로</a:t>
            </a:r>
            <a:r>
              <a:rPr lang="en-US" altLang="ko-KR" sz="1200"/>
              <a:t>, </a:t>
            </a:r>
            <a:r>
              <a:rPr lang="ko-KR" altLang="en-US" sz="1200"/>
              <a:t>거래선이 재화를 수령하기로 한 장소로 재화의 배송을 완료한 자로부터 </a:t>
            </a:r>
            <a:r>
              <a:rPr lang="en-US" altLang="ko-KR" sz="1200"/>
              <a:t>IOD (Information of Delivery) </a:t>
            </a:r>
            <a:r>
              <a:rPr lang="ko-KR" altLang="en-US" sz="1200"/>
              <a:t>입수가 되면 매출 인식을 하게 되며</a:t>
            </a:r>
            <a:r>
              <a:rPr lang="en-US" altLang="ko-KR" sz="1200"/>
              <a:t>, </a:t>
            </a:r>
            <a:r>
              <a:rPr lang="ko-KR" altLang="en-US" sz="1200"/>
              <a:t>추후 </a:t>
            </a:r>
            <a:r>
              <a:rPr lang="en-US" altLang="ko-KR" sz="1200"/>
              <a:t>POD (Proof of Delivery)</a:t>
            </a:r>
            <a:r>
              <a:rPr lang="ko-KR" altLang="en-US" sz="1200"/>
              <a:t>를 입수하여 </a:t>
            </a:r>
            <a:r>
              <a:rPr lang="en-US" altLang="ko-KR" sz="1200"/>
              <a:t>IOD </a:t>
            </a:r>
            <a:r>
              <a:rPr lang="ko-KR" altLang="en-US" sz="1200"/>
              <a:t>와 일자가 동일한지 확인하는 과정을 거칩니다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선매출은 </a:t>
            </a:r>
            <a:r>
              <a:rPr lang="en-US" altLang="ko-KR" sz="1200"/>
              <a:t>IOD </a:t>
            </a:r>
            <a:r>
              <a:rPr lang="ko-KR" altLang="en-US" sz="1200"/>
              <a:t>정보의 오류로 인해 발생할 수도 있으며</a:t>
            </a:r>
            <a:r>
              <a:rPr lang="en-US" altLang="ko-KR" sz="1200"/>
              <a:t>, </a:t>
            </a:r>
            <a:r>
              <a:rPr lang="ko-KR" altLang="en-US" sz="1200"/>
              <a:t>사례를 보면</a:t>
            </a:r>
            <a:r>
              <a:rPr lang="en-US" altLang="ko-KR" sz="1200"/>
              <a:t>, </a:t>
            </a:r>
            <a:r>
              <a:rPr lang="ko-KR" altLang="en-US" sz="1200"/>
              <a:t>단기 </a:t>
            </a:r>
            <a:r>
              <a:rPr lang="en-US" altLang="ko-KR" sz="1200"/>
              <a:t>(</a:t>
            </a:r>
            <a:r>
              <a:rPr lang="ko-KR" altLang="en-US" sz="1200"/>
              <a:t>월</a:t>
            </a:r>
            <a:r>
              <a:rPr lang="en-US" altLang="ko-KR" sz="1200"/>
              <a:t>) </a:t>
            </a:r>
            <a:r>
              <a:rPr lang="ko-KR" altLang="en-US" sz="1200"/>
              <a:t>매출 목표 달성이나 월말 배송 집중에 따른 매출 처리 </a:t>
            </a:r>
            <a:r>
              <a:rPr lang="en-US" altLang="ko-KR" sz="1200"/>
              <a:t>Capa. </a:t>
            </a:r>
            <a:r>
              <a:rPr lang="ko-KR" altLang="en-US" sz="1200"/>
              <a:t>부족을 회피하고자 하는 특수 목적으로 의도되기도 합니다</a:t>
            </a:r>
            <a:r>
              <a:rPr lang="en-US" altLang="ko-KR" sz="1200"/>
              <a:t>. </a:t>
            </a:r>
            <a:r>
              <a:rPr lang="ko-KR" altLang="en-US" sz="1200"/>
              <a:t>또한</a:t>
            </a:r>
            <a:r>
              <a:rPr lang="en-US" altLang="ko-KR" sz="1200"/>
              <a:t>, </a:t>
            </a:r>
            <a:r>
              <a:rPr lang="ko-KR" altLang="en-US" sz="1200"/>
              <a:t>창고 </a:t>
            </a:r>
            <a:r>
              <a:rPr lang="en-US" altLang="ko-KR" sz="1200"/>
              <a:t>Capa. </a:t>
            </a:r>
            <a:r>
              <a:rPr lang="ko-KR" altLang="en-US" sz="1200"/>
              <a:t>부족과 같은 거래선 사정에 따라 편법을 동원하여 매출 처리하는 경우에도 발생합니다</a:t>
            </a:r>
            <a:r>
              <a:rPr lang="en-US" altLang="ko-KR" sz="1200"/>
              <a:t>. </a:t>
            </a:r>
          </a:p>
          <a:p>
            <a:endParaRPr lang="en-US" altLang="ko-KR" sz="1200" dirty="0"/>
          </a:p>
          <a:p>
            <a:r>
              <a:rPr lang="ko-KR" altLang="en-US" sz="1200"/>
              <a:t>선매출의 징후에는 다음과 같은 것들이 있을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비정상적 매출인식</a:t>
            </a:r>
            <a:r>
              <a:rPr lang="en-US" altLang="ko-KR" sz="1200"/>
              <a:t>(</a:t>
            </a:r>
            <a:r>
              <a:rPr lang="ko-KR" altLang="en-US" sz="1200"/>
              <a:t>출하</a:t>
            </a:r>
            <a:r>
              <a:rPr lang="en-US" altLang="ko-KR" sz="1200"/>
              <a:t>-</a:t>
            </a:r>
            <a:r>
              <a:rPr lang="ko-KR" altLang="en-US" sz="1200"/>
              <a:t>배송완료</a:t>
            </a:r>
            <a:r>
              <a:rPr lang="en-US" altLang="ko-KR" sz="1200"/>
              <a:t>) </a:t>
            </a:r>
            <a:r>
              <a:rPr lang="ko-KR" altLang="en-US" sz="1200"/>
              <a:t>리드타임</a:t>
            </a:r>
          </a:p>
          <a:p>
            <a:r>
              <a:rPr lang="ko-KR" altLang="en-US" sz="1200" dirty="0"/>
              <a:t>반품의 증가</a:t>
            </a:r>
          </a:p>
          <a:p>
            <a:r>
              <a:rPr lang="ko-KR" altLang="en-US" sz="1200" dirty="0"/>
              <a:t>연체채권의 증가</a:t>
            </a:r>
          </a:p>
          <a:p>
            <a:r>
              <a:rPr lang="ko-KR" altLang="en-US" sz="1200" dirty="0"/>
              <a:t>매출 적</a:t>
            </a:r>
            <a:r>
              <a:rPr lang="en-US" altLang="ko-KR" sz="1200"/>
              <a:t>/</a:t>
            </a:r>
            <a:r>
              <a:rPr lang="ko-KR" altLang="en-US" sz="1200"/>
              <a:t>흑자 발생</a:t>
            </a:r>
          </a:p>
          <a:p>
            <a:r>
              <a:rPr lang="ko-KR" altLang="en-US" sz="1200" dirty="0"/>
              <a:t>월말 매출 집중</a:t>
            </a:r>
          </a:p>
          <a:p>
            <a:r>
              <a:rPr lang="ko-KR" altLang="en-US" sz="1200" dirty="0"/>
              <a:t>월말 </a:t>
            </a:r>
            <a:r>
              <a:rPr lang="en-US" altLang="ko-KR" sz="1200"/>
              <a:t>Customer pickup </a:t>
            </a:r>
            <a:r>
              <a:rPr lang="ko-KR" altLang="en-US" sz="1200"/>
              <a:t>증가</a:t>
            </a:r>
          </a:p>
          <a:p>
            <a:r>
              <a:rPr lang="ko-KR" altLang="en-US" sz="1200" dirty="0"/>
              <a:t>비정상적 물류비용 발생</a:t>
            </a:r>
          </a:p>
          <a:p>
            <a:r>
              <a:rPr lang="ko-KR" altLang="en-US" sz="1200" dirty="0"/>
              <a:t>결제조건의 연장 등 </a:t>
            </a:r>
          </a:p>
          <a:p>
            <a:endParaRPr lang="ko-KR" altLang="en-US" sz="1200" dirty="0"/>
          </a:p>
          <a:p>
            <a:endParaRPr lang="ko-KR" altLang="en-US" sz="1200" dirty="0"/>
          </a:p>
          <a:p>
            <a:r>
              <a:rPr lang="en-US" altLang="ko-KR" sz="1200"/>
              <a:t>2) </a:t>
            </a:r>
            <a:r>
              <a:rPr lang="ko-KR" altLang="en-US" sz="1200"/>
              <a:t>기존 방식의 한계 및 제안</a:t>
            </a:r>
          </a:p>
          <a:p>
            <a:endParaRPr lang="ko-KR" altLang="en-US" sz="1200" dirty="0"/>
          </a:p>
          <a:p>
            <a:r>
              <a:rPr lang="ko-KR" altLang="en-US" sz="1200" dirty="0"/>
              <a:t>정도경영센터에서는 사내 </a:t>
            </a:r>
            <a:r>
              <a:rPr lang="en-US" altLang="ko-KR" sz="1200"/>
              <a:t>GFVS (Global Financial Validation System, </a:t>
            </a:r>
            <a:r>
              <a:rPr lang="ko-KR" altLang="en-US" sz="1200"/>
              <a:t>전사 재무검증 시스템</a:t>
            </a:r>
            <a:r>
              <a:rPr lang="en-US" altLang="ko-KR" sz="1200"/>
              <a:t>)</a:t>
            </a:r>
            <a:r>
              <a:rPr lang="ko-KR" altLang="en-US" sz="1200"/>
              <a:t>에 룰 기반 선매출 이상점 검출</a:t>
            </a:r>
            <a:r>
              <a:rPr lang="en-US" altLang="ko-KR" sz="1200"/>
              <a:t>/</a:t>
            </a:r>
            <a:r>
              <a:rPr lang="ko-KR" altLang="en-US" sz="1200"/>
              <a:t>점검 프로세스를 구축하였으나</a:t>
            </a:r>
            <a:r>
              <a:rPr lang="en-US" altLang="ko-KR" sz="1200"/>
              <a:t>, </a:t>
            </a:r>
            <a:r>
              <a:rPr lang="ko-KR" altLang="en-US" sz="1200"/>
              <a:t>개별적 리스크 점검 시나리오가 다수이고 이상점이 과다 검출되어 업무 부담이 적지 않아 개선 요구사항이 도출되었습니다</a:t>
            </a:r>
            <a:r>
              <a:rPr lang="en-US" altLang="ko-KR" sz="1200"/>
              <a:t>.  </a:t>
            </a:r>
          </a:p>
          <a:p>
            <a:endParaRPr lang="en-US" altLang="ko-KR" sz="1200" dirty="0"/>
          </a:p>
          <a:p>
            <a:r>
              <a:rPr lang="ko-KR" altLang="en-US" sz="1200"/>
              <a:t>선매출 리스크 이상점 검출을 위한 기존의 </a:t>
            </a:r>
            <a:r>
              <a:rPr lang="en-US" altLang="ko-KR" sz="1200"/>
              <a:t>8</a:t>
            </a:r>
            <a:r>
              <a:rPr lang="ko-KR" altLang="en-US" sz="1200"/>
              <a:t>가지 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1) </a:t>
            </a:r>
            <a:r>
              <a:rPr lang="ko-KR" altLang="en-US" sz="1200"/>
              <a:t>배송 리드타임의 단축</a:t>
            </a:r>
            <a:r>
              <a:rPr lang="en-US" altLang="ko-KR" sz="1200"/>
              <a:t>: </a:t>
            </a:r>
            <a:r>
              <a:rPr lang="ko-KR" altLang="en-US" sz="1200"/>
              <a:t>월말 </a:t>
            </a:r>
            <a:r>
              <a:rPr lang="en-US" altLang="ko-KR" sz="1200"/>
              <a:t>3</a:t>
            </a:r>
            <a:r>
              <a:rPr lang="ko-KR" altLang="en-US" sz="1200"/>
              <a:t>일 매출 중 동일 거래선</a:t>
            </a:r>
            <a:r>
              <a:rPr lang="en-US" altLang="ko-KR" sz="1200"/>
              <a:t>/</a:t>
            </a:r>
            <a:r>
              <a:rPr lang="ko-KR" altLang="en-US" sz="1200"/>
              <a:t>제품</a:t>
            </a:r>
            <a:r>
              <a:rPr lang="en-US" altLang="ko-KR" sz="1200"/>
              <a:t>/</a:t>
            </a:r>
            <a:r>
              <a:rPr lang="ko-KR" altLang="en-US" sz="1200"/>
              <a:t>운송구간에 대해 출하</a:t>
            </a:r>
            <a:r>
              <a:rPr lang="en-US" altLang="ko-KR" sz="1200"/>
              <a:t>-</a:t>
            </a:r>
            <a:r>
              <a:rPr lang="ko-KR" altLang="en-US" sz="1200"/>
              <a:t>배송 간 리드타임이 전년평균 대비 </a:t>
            </a:r>
            <a:r>
              <a:rPr lang="en-US" altLang="ko-KR" sz="1200"/>
              <a:t>50% </a:t>
            </a:r>
            <a:r>
              <a:rPr lang="ko-KR" altLang="en-US" sz="1200"/>
              <a:t>이상 짧은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2) </a:t>
            </a:r>
            <a:r>
              <a:rPr lang="ko-KR" altLang="en-US" sz="1200"/>
              <a:t>매출 확정 리드타임의 단축</a:t>
            </a:r>
            <a:r>
              <a:rPr lang="en-US" altLang="ko-KR" sz="1200"/>
              <a:t>: </a:t>
            </a:r>
            <a:r>
              <a:rPr lang="ko-KR" altLang="en-US" sz="1200"/>
              <a:t>월말 </a:t>
            </a:r>
            <a:r>
              <a:rPr lang="en-US" altLang="ko-KR" sz="1200"/>
              <a:t>3</a:t>
            </a:r>
            <a:r>
              <a:rPr lang="ko-KR" altLang="en-US" sz="1200"/>
              <a:t>일 매출 중 동일 거래선</a:t>
            </a:r>
            <a:r>
              <a:rPr lang="en-US" altLang="ko-KR" sz="1200"/>
              <a:t>/</a:t>
            </a:r>
            <a:r>
              <a:rPr lang="ko-KR" altLang="en-US" sz="1200"/>
              <a:t>제품 출하</a:t>
            </a:r>
            <a:r>
              <a:rPr lang="en-US" altLang="ko-KR" sz="1200"/>
              <a:t>-</a:t>
            </a:r>
            <a:r>
              <a:rPr lang="ko-KR" altLang="en-US" sz="1200"/>
              <a:t>배송 간 리드타임이 </a:t>
            </a:r>
            <a:r>
              <a:rPr lang="en-US" altLang="ko-KR" sz="1200"/>
              <a:t>1</a:t>
            </a:r>
            <a:r>
              <a:rPr lang="ko-KR" altLang="en-US" sz="1200"/>
              <a:t>시간 이내로 짧은 경우</a:t>
            </a:r>
            <a:r>
              <a:rPr lang="en-US" altLang="ko-KR" sz="1200"/>
              <a:t>, </a:t>
            </a:r>
            <a:r>
              <a:rPr lang="ko-KR" altLang="en-US" sz="1200"/>
              <a:t>단</a:t>
            </a:r>
            <a:r>
              <a:rPr lang="en-US" altLang="ko-KR" sz="1200"/>
              <a:t>, Customer pickup </a:t>
            </a:r>
            <a:r>
              <a:rPr lang="ko-KR" altLang="en-US" sz="1200"/>
              <a:t>이거나 자사 창고와 거래선 창고가 동일 </a:t>
            </a:r>
            <a:r>
              <a:rPr lang="en-US" altLang="ko-KR" sz="1200"/>
              <a:t>zone </a:t>
            </a:r>
            <a:r>
              <a:rPr lang="ko-KR" altLang="en-US" sz="1200"/>
              <a:t>에 위치하면 제외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3) </a:t>
            </a:r>
            <a:r>
              <a:rPr lang="ko-KR" altLang="en-US" sz="1200"/>
              <a:t>위탁 매출</a:t>
            </a:r>
            <a:r>
              <a:rPr lang="en-US" altLang="ko-KR" sz="1200"/>
              <a:t>-1: Product </a:t>
            </a:r>
            <a:r>
              <a:rPr lang="ko-KR" altLang="en-US" sz="1200"/>
              <a:t>레벨</a:t>
            </a:r>
            <a:r>
              <a:rPr lang="en-US" altLang="ko-KR" sz="1200"/>
              <a:t>4 </a:t>
            </a:r>
            <a:r>
              <a:rPr lang="ko-KR" altLang="en-US" sz="1200"/>
              <a:t>기준</a:t>
            </a:r>
            <a:r>
              <a:rPr lang="en-US" altLang="ko-KR" sz="1200"/>
              <a:t>, 3</a:t>
            </a:r>
            <a:r>
              <a:rPr lang="ko-KR" altLang="en-US" sz="1200"/>
              <a:t>개월간 특정 거래선</a:t>
            </a:r>
            <a:r>
              <a:rPr lang="en-US" altLang="ko-KR" sz="1200"/>
              <a:t>/</a:t>
            </a:r>
            <a:r>
              <a:rPr lang="ko-KR" altLang="en-US" sz="1200"/>
              <a:t>제품 매출 없다가 당월 매출 발생한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4) </a:t>
            </a:r>
            <a:r>
              <a:rPr lang="ko-KR" altLang="en-US" sz="1200"/>
              <a:t>위탁 매출</a:t>
            </a:r>
            <a:r>
              <a:rPr lang="en-US" altLang="ko-KR" sz="1200"/>
              <a:t>-2: </a:t>
            </a:r>
            <a:r>
              <a:rPr lang="ko-KR" altLang="en-US" sz="1200"/>
              <a:t>동일 거래선</a:t>
            </a:r>
            <a:r>
              <a:rPr lang="en-US" altLang="ko-KR" sz="1200"/>
              <a:t>/</a:t>
            </a:r>
            <a:r>
              <a:rPr lang="ko-KR" altLang="en-US" sz="1200"/>
              <a:t>제품 매출이 전년 동분기 평균대비 </a:t>
            </a:r>
            <a:r>
              <a:rPr lang="en-US" altLang="ko-KR" sz="1200"/>
              <a:t>3</a:t>
            </a:r>
            <a:r>
              <a:rPr lang="ko-KR" altLang="en-US" sz="1200"/>
              <a:t>배 이상 증가한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5) </a:t>
            </a:r>
            <a:r>
              <a:rPr lang="ko-KR" altLang="en-US" sz="1200"/>
              <a:t>위탁 매출</a:t>
            </a:r>
            <a:r>
              <a:rPr lang="en-US" altLang="ko-KR" sz="1200"/>
              <a:t>-3: Sales Program </a:t>
            </a:r>
            <a:r>
              <a:rPr lang="ko-KR" altLang="en-US" sz="1200"/>
              <a:t>등록 내용에 선매출 지원 목적으로 의심해볼 수 있는 단어가 포함된 경우 </a:t>
            </a:r>
            <a:r>
              <a:rPr lang="en-US" altLang="ko-KR" sz="1200"/>
              <a:t>- </a:t>
            </a:r>
            <a:r>
              <a:rPr lang="ko-KR" altLang="en-US" sz="1200"/>
              <a:t>예</a:t>
            </a:r>
            <a:r>
              <a:rPr lang="en-US" altLang="ko-KR" sz="1200"/>
              <a:t>) warehouse support, early delivery </a:t>
            </a:r>
            <a:r>
              <a:rPr lang="ko-KR" altLang="en-US" sz="1200"/>
              <a:t>등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6) Customer pickup </a:t>
            </a:r>
            <a:r>
              <a:rPr lang="ko-KR" altLang="en-US" sz="1200"/>
              <a:t>매출</a:t>
            </a:r>
            <a:r>
              <a:rPr lang="en-US" altLang="ko-KR" sz="1200"/>
              <a:t>: </a:t>
            </a:r>
            <a:r>
              <a:rPr lang="ko-KR" altLang="en-US" sz="1200"/>
              <a:t>통상 자사가 배송하나 월말에 </a:t>
            </a:r>
            <a:r>
              <a:rPr lang="en-US" altLang="ko-KR" sz="1200"/>
              <a:t>Customer pickup</a:t>
            </a:r>
            <a:r>
              <a:rPr lang="ko-KR" altLang="en-US" sz="1200"/>
              <a:t>으로 변경하여 매출한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7) </a:t>
            </a:r>
            <a:r>
              <a:rPr lang="ko-KR" altLang="en-US" sz="1200"/>
              <a:t>월말매출 집중도</a:t>
            </a:r>
            <a:r>
              <a:rPr lang="en-US" altLang="ko-KR" sz="1200"/>
              <a:t>: </a:t>
            </a:r>
            <a:r>
              <a:rPr lang="ko-KR" altLang="en-US" sz="1200"/>
              <a:t>월말 </a:t>
            </a:r>
            <a:r>
              <a:rPr lang="en-US" altLang="ko-KR" sz="1200"/>
              <a:t>3</a:t>
            </a:r>
            <a:r>
              <a:rPr lang="ko-KR" altLang="en-US" sz="1200"/>
              <a:t>일 매출 비중이 </a:t>
            </a:r>
            <a:r>
              <a:rPr lang="en-US" altLang="ko-KR" sz="1200"/>
              <a:t>30% </a:t>
            </a:r>
            <a:r>
              <a:rPr lang="ko-KR" altLang="en-US" sz="1200"/>
              <a:t>이상으로</a:t>
            </a:r>
            <a:r>
              <a:rPr lang="en-US" altLang="ko-KR" sz="1200"/>
              <a:t>, </a:t>
            </a:r>
            <a:r>
              <a:rPr lang="ko-KR" altLang="en-US" sz="1200"/>
              <a:t>전년 동월 및 전월 대비 </a:t>
            </a:r>
            <a:r>
              <a:rPr lang="en-US" altLang="ko-KR" sz="1200"/>
              <a:t>10% </a:t>
            </a:r>
            <a:r>
              <a:rPr lang="ko-KR" altLang="en-US" sz="1200"/>
              <a:t>이상 증가한 경우</a:t>
            </a:r>
          </a:p>
          <a:p>
            <a:r>
              <a:rPr lang="ko-KR" altLang="en-US" sz="1200" dirty="0"/>
              <a:t>시나리오 </a:t>
            </a:r>
            <a:r>
              <a:rPr lang="en-US" altLang="ko-KR" sz="1200"/>
              <a:t>8) </a:t>
            </a:r>
            <a:r>
              <a:rPr lang="ko-KR" altLang="en-US" sz="1200"/>
              <a:t>월말 지연매출</a:t>
            </a:r>
            <a:r>
              <a:rPr lang="en-US" altLang="ko-KR" sz="1200"/>
              <a:t>: </a:t>
            </a:r>
            <a:r>
              <a:rPr lang="ko-KR" altLang="en-US" sz="1200"/>
              <a:t>월말 </a:t>
            </a:r>
            <a:r>
              <a:rPr lang="en-US" altLang="ko-KR" sz="1200"/>
              <a:t>3</a:t>
            </a:r>
            <a:r>
              <a:rPr lang="ko-KR" altLang="en-US" sz="1200"/>
              <a:t>일의 출하</a:t>
            </a:r>
            <a:r>
              <a:rPr lang="en-US" altLang="ko-KR" sz="1200"/>
              <a:t>-</a:t>
            </a:r>
            <a:r>
              <a:rPr lang="ko-KR" altLang="en-US" sz="1200"/>
              <a:t>배송 간 리드타임이 전년비 </a:t>
            </a:r>
            <a:r>
              <a:rPr lang="en-US" altLang="ko-KR" sz="1200"/>
              <a:t>3</a:t>
            </a:r>
            <a:r>
              <a:rPr lang="ko-KR" altLang="en-US" sz="1200"/>
              <a:t>배 이상 긴 경우 → 지연 매출은 선매출과 구분 필요하여</a:t>
            </a:r>
            <a:r>
              <a:rPr lang="en-US" altLang="ko-KR" sz="1200"/>
              <a:t>, &lt;AI </a:t>
            </a:r>
            <a:r>
              <a:rPr lang="ko-KR" altLang="en-US" sz="1200"/>
              <a:t>기반 진단</a:t>
            </a:r>
            <a:r>
              <a:rPr lang="en-US" altLang="ko-KR" sz="1200"/>
              <a:t>DX </a:t>
            </a:r>
            <a:r>
              <a:rPr lang="ko-KR" altLang="en-US" sz="1200"/>
              <a:t>체계 구축</a:t>
            </a:r>
            <a:r>
              <a:rPr lang="en-US" altLang="ko-KR" sz="1200"/>
              <a:t>&gt; </a:t>
            </a:r>
            <a:r>
              <a:rPr lang="ko-KR" altLang="en-US" sz="1200"/>
              <a:t>과제에서는 제외함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88764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29861FB-63E8-5158-F579-A88F888A69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64" y="10716"/>
            <a:ext cx="7943970" cy="50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</a:pPr>
            <a:r>
              <a:rPr lang="en-US" altLang="ko-KR" sz="2215" b="1" dirty="0">
                <a:solidFill>
                  <a:srgbClr val="000000"/>
                </a:solidFill>
                <a:latin typeface="바탕체" panose="02030609000101010101" pitchFamily="17" charset="-127"/>
                <a:ea typeface="LG스마트체 Regular" panose="020B0600000101010101" pitchFamily="50" charset="-127"/>
                <a:sym typeface="Wingdings" pitchFamily="2" charset="2"/>
              </a:rPr>
              <a:t>Ⅱ</a:t>
            </a:r>
            <a:r>
              <a:rPr lang="en-US" altLang="ko-KR" sz="2215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. ML </a:t>
            </a:r>
            <a:r>
              <a:rPr lang="ko-KR" altLang="en-US" sz="2215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기반 진단</a:t>
            </a:r>
            <a:r>
              <a:rPr lang="en-US" altLang="ko-KR" sz="2215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– </a:t>
            </a:r>
            <a:r>
              <a:rPr lang="ko-KR" altLang="en-US" sz="2215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기술 제안 </a:t>
            </a:r>
            <a:r>
              <a:rPr lang="en-US" altLang="ko-KR" sz="2215" dirty="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(ML </a:t>
            </a:r>
            <a:r>
              <a:rPr lang="ko-KR" altLang="en-US" sz="2215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기반 진단을 위한 데이터 준비 예시</a:t>
            </a:r>
            <a:r>
              <a:rPr lang="en-US" altLang="ko-KR" sz="2215" dirty="0">
                <a:solidFill>
                  <a:srgbClr val="000000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itchFamily="2" charset="2"/>
              </a:rPr>
              <a:t>)</a:t>
            </a:r>
            <a:endParaRPr lang="ko-KR" altLang="en-US" sz="1800" dirty="0">
              <a:solidFill>
                <a:srgbClr val="000000"/>
              </a:solidFill>
              <a:ea typeface="LG스마트체 Regular" panose="020B0600000101010101" pitchFamily="50" charset="-127"/>
            </a:endParaRPr>
          </a:p>
        </p:txBody>
      </p:sp>
      <p:sp>
        <p:nvSpPr>
          <p:cNvPr id="5" name="오른쪽 중괄호 4">
            <a:extLst>
              <a:ext uri="{FF2B5EF4-FFF2-40B4-BE49-F238E27FC236}">
                <a16:creationId xmlns:a16="http://schemas.microsoft.com/office/drawing/2014/main" id="{AE0A1926-1174-0987-8669-F48BB01F4FFE}"/>
              </a:ext>
            </a:extLst>
          </p:cNvPr>
          <p:cNvSpPr/>
          <p:nvPr/>
        </p:nvSpPr>
        <p:spPr>
          <a:xfrm rot="16200000">
            <a:off x="3946293" y="270956"/>
            <a:ext cx="216023" cy="3795361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CA3761-D8CB-B657-C10B-ABC07883DCB6}"/>
              </a:ext>
            </a:extLst>
          </p:cNvPr>
          <p:cNvSpPr txBox="1"/>
          <p:nvPr/>
        </p:nvSpPr>
        <p:spPr>
          <a:xfrm>
            <a:off x="3500785" y="1783849"/>
            <a:ext cx="109998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Features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7" name="오른쪽 중괄호 6">
            <a:extLst>
              <a:ext uri="{FF2B5EF4-FFF2-40B4-BE49-F238E27FC236}">
                <a16:creationId xmlns:a16="http://schemas.microsoft.com/office/drawing/2014/main" id="{4B430388-F880-43FF-3446-9ABE0D2A2EA4}"/>
              </a:ext>
            </a:extLst>
          </p:cNvPr>
          <p:cNvSpPr/>
          <p:nvPr/>
        </p:nvSpPr>
        <p:spPr>
          <a:xfrm rot="16200000">
            <a:off x="7788190" y="294964"/>
            <a:ext cx="216023" cy="3744416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DBCA8-2886-24FB-32CE-E6FAF4EDF6D1}"/>
              </a:ext>
            </a:extLst>
          </p:cNvPr>
          <p:cNvSpPr txBox="1"/>
          <p:nvPr/>
        </p:nvSpPr>
        <p:spPr>
          <a:xfrm>
            <a:off x="6404760" y="1782382"/>
            <a:ext cx="29674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 Engineering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통한 신규 인자 생성</a:t>
            </a: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A8AC087-B958-9169-D139-1CE42F679316}"/>
              </a:ext>
            </a:extLst>
          </p:cNvPr>
          <p:cNvCxnSpPr/>
          <p:nvPr/>
        </p:nvCxnSpPr>
        <p:spPr bwMode="auto">
          <a:xfrm>
            <a:off x="0" y="548680"/>
            <a:ext cx="12192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오른쪽 중괄호 9">
            <a:extLst>
              <a:ext uri="{FF2B5EF4-FFF2-40B4-BE49-F238E27FC236}">
                <a16:creationId xmlns:a16="http://schemas.microsoft.com/office/drawing/2014/main" id="{85595257-77ED-F6AA-96F5-E3458D0C4B85}"/>
              </a:ext>
            </a:extLst>
          </p:cNvPr>
          <p:cNvSpPr/>
          <p:nvPr/>
        </p:nvSpPr>
        <p:spPr>
          <a:xfrm rot="16200000">
            <a:off x="9934926" y="1918043"/>
            <a:ext cx="216023" cy="498257"/>
          </a:xfrm>
          <a:prstGeom prst="rightBrace">
            <a:avLst>
              <a:gd name="adj1" fmla="val 70692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513C7-F53D-033D-C080-EE5C163EEEA9}"/>
              </a:ext>
            </a:extLst>
          </p:cNvPr>
          <p:cNvSpPr txBox="1"/>
          <p:nvPr/>
        </p:nvSpPr>
        <p:spPr>
          <a:xfrm>
            <a:off x="9656159" y="1783849"/>
            <a:ext cx="20409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②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지도 학습을 위한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Target Y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2" name="Text Box 118">
            <a:extLst>
              <a:ext uri="{FF2B5EF4-FFF2-40B4-BE49-F238E27FC236}">
                <a16:creationId xmlns:a16="http://schemas.microsoft.com/office/drawing/2014/main" id="{17A98A3A-8BD6-9A42-A5E5-CB6B596810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20" y="794827"/>
            <a:ext cx="11530420" cy="7755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6213" indent="-176213" fontAlgn="base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defRPr kumimoji="1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en-US" altLang="ko-KR" sz="1400" dirty="0">
                <a:latin typeface="LG스마트체 Regular" panose="020B0600000101010101" pitchFamily="50" charset="-127"/>
              </a:rPr>
              <a:t>ML </a:t>
            </a:r>
            <a:r>
              <a:rPr lang="ko-KR" altLang="en-US" sz="1400">
                <a:latin typeface="LG스마트체 Regular" panose="020B0600000101010101" pitchFamily="50" charset="-127"/>
              </a:rPr>
              <a:t>기반 진단을 위해서는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2</a:t>
            </a:r>
            <a:r>
              <a:rPr lang="ko-KR" altLang="en-US" sz="1400">
                <a:latin typeface="LG스마트체 Regular" panose="020B0600000101010101" pitchFamily="50" charset="-127"/>
              </a:rPr>
              <a:t>가지 데이터에 대한 준비가 필요하며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>
                <a:latin typeface="LG스마트체 Regular" panose="020B0600000101010101" pitchFamily="50" charset="-127"/>
              </a:rPr>
              <a:t>이는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ML </a:t>
            </a:r>
            <a:r>
              <a:rPr lang="ko-KR" altLang="en-US" sz="1400">
                <a:latin typeface="LG스마트체 Regular" panose="020B0600000101010101" pitchFamily="50" charset="-127"/>
              </a:rPr>
              <a:t>모델링의 성능에 큰 영향을 미치는 요소임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r>
              <a:rPr lang="en-US" altLang="ko-KR" sz="1400" dirty="0">
                <a:latin typeface="LG스마트체 Regular" panose="020B0600000101010101" pitchFamily="50" charset="-127"/>
              </a:rPr>
              <a:t> 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-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① 통계적 지식 및 경험 기반의 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Feature Engineering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b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-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②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지도 </a:t>
            </a:r>
            <a:r>
              <a:rPr lang="ko-KR" altLang="en-US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학습을 위해 법인 및 현업 담당자 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Feedback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기반 </a:t>
            </a:r>
            <a:r>
              <a:rPr lang="en-US" altLang="ko-KR" sz="14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Target Y </a:t>
            </a:r>
            <a:r>
              <a:rPr lang="ko-KR" altLang="en-US" sz="14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생성</a:t>
            </a:r>
            <a:endParaRPr lang="en-US" altLang="ko-KR" sz="14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ECAAC40-2C5D-45A4-7C70-C58CAF3BEACE}"/>
              </a:ext>
            </a:extLst>
          </p:cNvPr>
          <p:cNvSpPr/>
          <p:nvPr/>
        </p:nvSpPr>
        <p:spPr>
          <a:xfrm>
            <a:off x="11563255" y="6447288"/>
            <a:ext cx="502061" cy="3007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354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3  / 5</a:t>
            </a:r>
            <a:endParaRPr kumimoji="1" lang="ko-KR" altLang="en-US" sz="1354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5E069EAE-3854-F9AB-B072-0B7F6711A7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0535079"/>
              </p:ext>
            </p:extLst>
          </p:nvPr>
        </p:nvGraphicFramePr>
        <p:xfrm>
          <a:off x="1079190" y="3521948"/>
          <a:ext cx="3835976" cy="29167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9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9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2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2,535,274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44763862-D43B-DA8F-6949-53641DBC4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449287"/>
              </p:ext>
            </p:extLst>
          </p:nvPr>
        </p:nvGraphicFramePr>
        <p:xfrm>
          <a:off x="1596553" y="2997737"/>
          <a:ext cx="3835976" cy="29167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94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29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62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202312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5,225,273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EAEE2556-E857-3FC0-5AEF-66E1C08A7D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855137"/>
              </p:ext>
            </p:extLst>
          </p:nvPr>
        </p:nvGraphicFramePr>
        <p:xfrm>
          <a:off x="2141752" y="2291512"/>
          <a:ext cx="8151449" cy="318487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79497">
                  <a:extLst>
                    <a:ext uri="{9D8B030D-6E8A-4147-A177-3AD203B41FA5}">
                      <a16:colId xmlns:a16="http://schemas.microsoft.com/office/drawing/2014/main" val="1872165449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525056143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04352034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552460527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181474068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601147300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879617901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631365039"/>
                    </a:ext>
                  </a:extLst>
                </a:gridCol>
                <a:gridCol w="958994">
                  <a:extLst>
                    <a:ext uri="{9D8B030D-6E8A-4147-A177-3AD203B41FA5}">
                      <a16:colId xmlns:a16="http://schemas.microsoft.com/office/drawing/2014/main" val="3751986453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46476098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44340000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60707092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3042810527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2802524446"/>
                    </a:ext>
                  </a:extLst>
                </a:gridCol>
                <a:gridCol w="479497">
                  <a:extLst>
                    <a:ext uri="{9D8B030D-6E8A-4147-A177-3AD203B41FA5}">
                      <a16:colId xmlns:a16="http://schemas.microsoft.com/office/drawing/2014/main" val="1160544846"/>
                    </a:ext>
                  </a:extLst>
                </a:gridCol>
              </a:tblGrid>
              <a:tr h="52983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Period Month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Entity Code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Ship confirmed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LT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IOD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Input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Sales Amount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Delivery Type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통계적 수치 데이터</a:t>
                      </a:r>
                    </a:p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(Min, Max, </a:t>
                      </a:r>
                      <a:b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</a:b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Mean, …)</a:t>
                      </a:r>
                    </a:p>
                  </a:txBody>
                  <a:tcPr marL="0" marR="0" marT="18000" marB="18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Google Map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기반 </a:t>
                      </a: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운송거리 및 소요시간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월중 리드타임과 월말 </a:t>
                      </a: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일 리드타임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동일 구간의 타제품 운송 리드타임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과거 </a:t>
                      </a: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3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개월 </a:t>
                      </a:r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실적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Google Map</a:t>
                      </a:r>
                      <a:r>
                        <a:rPr lang="ko-KR" altLang="en-US" sz="1000" baseline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 </a:t>
                      </a:r>
                      <a:r>
                        <a:rPr lang="ko-KR" altLang="en-US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기준 자사 운송 시 가능여부</a:t>
                      </a: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rgbClr val="FF0000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Target Y</a:t>
                      </a:r>
                      <a:endParaRPr lang="ko-KR" altLang="en-US" sz="1000" baseline="0" dirty="0">
                        <a:solidFill>
                          <a:srgbClr val="FF0000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370345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7.79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0382843"/>
                  </a:ext>
                </a:extLst>
              </a:tr>
              <a:tr h="5298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EAIN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6.67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2024-01-29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8094817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5815320"/>
                  </a:ext>
                </a:extLst>
              </a:tr>
              <a:tr h="428649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EEUK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2024-01-31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Customer Pick-Up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018934"/>
                  </a:ext>
                </a:extLst>
              </a:tr>
              <a:tr h="22627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202401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ENUS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7,525,271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-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…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LG스마트체 Regular" panose="020B0600000101010101" pitchFamily="50" charset="-127"/>
                          <a:ea typeface="LG스마트체 Regular" panose="020B0600000101010101" pitchFamily="50" charset="-127"/>
                        </a:rPr>
                        <a:t>0</a:t>
                      </a:r>
                      <a:endParaRPr lang="ko-KR" altLang="en-US" sz="1000" baseline="0" dirty="0">
                        <a:solidFill>
                          <a:schemeClr val="tx1"/>
                        </a:solidFill>
                        <a:latin typeface="LG스마트체 Regular" panose="020B0600000101010101" pitchFamily="50" charset="-127"/>
                        <a:ea typeface="LG스마트체 Regular" panose="020B0600000101010101" pitchFamily="50" charset="-127"/>
                      </a:endParaRPr>
                    </a:p>
                  </a:txBody>
                  <a:tcPr marL="0" marR="0" marT="18000" marB="1800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0061135"/>
                  </a:ext>
                </a:extLst>
              </a:tr>
            </a:tbl>
          </a:graphicData>
        </a:graphic>
      </p:graphicFrame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2A9ABB25-3D26-8F73-967B-8D2A23012D01}"/>
              </a:ext>
            </a:extLst>
          </p:cNvPr>
          <p:cNvCxnSpPr/>
          <p:nvPr/>
        </p:nvCxnSpPr>
        <p:spPr>
          <a:xfrm>
            <a:off x="4915166" y="6237312"/>
            <a:ext cx="29090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D8115867-227B-CD5B-3992-ABF323722264}"/>
              </a:ext>
            </a:extLst>
          </p:cNvPr>
          <p:cNvCxnSpPr/>
          <p:nvPr/>
        </p:nvCxnSpPr>
        <p:spPr>
          <a:xfrm flipV="1">
            <a:off x="7824192" y="5476384"/>
            <a:ext cx="0" cy="76092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11B2841-789A-4DA8-3E5F-431D7F65DACB}"/>
              </a:ext>
            </a:extLst>
          </p:cNvPr>
          <p:cNvCxnSpPr/>
          <p:nvPr/>
        </p:nvCxnSpPr>
        <p:spPr>
          <a:xfrm flipV="1">
            <a:off x="1079190" y="2358922"/>
            <a:ext cx="874398" cy="8099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676AB948-27E3-7172-BB1B-A98941F9B91A}"/>
              </a:ext>
            </a:extLst>
          </p:cNvPr>
          <p:cNvSpPr txBox="1"/>
          <p:nvPr/>
        </p:nvSpPr>
        <p:spPr>
          <a:xfrm>
            <a:off x="7888499" y="6058972"/>
            <a:ext cx="33185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①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기존 진단 경험 및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인사이트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기반의 유용한 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발굴 필요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과거 데이터에서 해당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추출하여 모델링에 반영 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02B424A-244F-EE0B-5F98-C4E2A2C18A68}"/>
              </a:ext>
            </a:extLst>
          </p:cNvPr>
          <p:cNvSpPr/>
          <p:nvPr/>
        </p:nvSpPr>
        <p:spPr>
          <a:xfrm>
            <a:off x="9656159" y="1777211"/>
            <a:ext cx="2040943" cy="30751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B2FB5B3B-BE8F-4257-FC2A-DD218ACF5E56}"/>
              </a:ext>
            </a:extLst>
          </p:cNvPr>
          <p:cNvSpPr/>
          <p:nvPr/>
        </p:nvSpPr>
        <p:spPr>
          <a:xfrm>
            <a:off x="7883090" y="6036923"/>
            <a:ext cx="3253470" cy="668379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90AD98-9BD4-493B-95C5-877EF4605F7E}"/>
              </a:ext>
            </a:extLst>
          </p:cNvPr>
          <p:cNvSpPr txBox="1"/>
          <p:nvPr/>
        </p:nvSpPr>
        <p:spPr>
          <a:xfrm rot="19010242">
            <a:off x="1190270" y="2551520"/>
            <a:ext cx="4571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시간</a:t>
            </a:r>
            <a:endParaRPr lang="ko-KR" altLang="en-US" sz="1200" dirty="0"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7315122-37E0-D85A-E2CB-AC139AF46B91}"/>
              </a:ext>
            </a:extLst>
          </p:cNvPr>
          <p:cNvSpPr txBox="1"/>
          <p:nvPr/>
        </p:nvSpPr>
        <p:spPr>
          <a:xfrm>
            <a:off x="6023993" y="3325651"/>
            <a:ext cx="8640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월중</a:t>
            </a:r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리드타임 </a:t>
            </a: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Min, Max, Mean</a:t>
            </a:r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B884A5-AFDE-FE56-0880-97507DA13D58}"/>
              </a:ext>
            </a:extLst>
          </p:cNvPr>
          <p:cNvSpPr txBox="1"/>
          <p:nvPr/>
        </p:nvSpPr>
        <p:spPr>
          <a:xfrm>
            <a:off x="6023993" y="4726386"/>
            <a:ext cx="864000" cy="5078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ko-KR" altLang="en-US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매출액</a:t>
            </a:r>
            <a:b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en-US" altLang="ko-KR" sz="11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Min, Max, Mean</a:t>
            </a:r>
            <a:endParaRPr lang="ko-KR" altLang="en-US" sz="11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49DB51-0BCA-AA4C-5754-A9AE69A13B83}"/>
              </a:ext>
            </a:extLst>
          </p:cNvPr>
          <p:cNvSpPr txBox="1"/>
          <p:nvPr/>
        </p:nvSpPr>
        <p:spPr>
          <a:xfrm>
            <a:off x="7605476" y="3308718"/>
            <a:ext cx="1082812" cy="4616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리드타임 관련</a:t>
            </a:r>
            <a:endParaRPr lang="en-US" altLang="ko-KR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신규 인자들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9AC79D-CD6F-A662-5E1D-5457226C62FB}"/>
              </a:ext>
            </a:extLst>
          </p:cNvPr>
          <p:cNvSpPr txBox="1"/>
          <p:nvPr/>
        </p:nvSpPr>
        <p:spPr>
          <a:xfrm>
            <a:off x="8855444" y="4150821"/>
            <a:ext cx="80071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운송 타입 관련 신규 인자들</a:t>
            </a:r>
          </a:p>
        </p:txBody>
      </p:sp>
    </p:spTree>
    <p:extLst>
      <p:ext uri="{BB962C8B-B14F-4D97-AF65-F5344CB8AC3E}">
        <p14:creationId xmlns:p14="http://schemas.microsoft.com/office/powerpoint/2010/main" val="807722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10035B4-9867-A7A4-AC78-58F3A7CDB01D}"/>
              </a:ext>
            </a:extLst>
          </p:cNvPr>
          <p:cNvSpPr/>
          <p:nvPr/>
        </p:nvSpPr>
        <p:spPr>
          <a:xfrm>
            <a:off x="1189832" y="2883375"/>
            <a:ext cx="4871860" cy="117752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pPr algn="ctr"/>
            <a:endParaRPr lang="ko-KR" altLang="en-US" sz="1200" dirty="0">
              <a:solidFill>
                <a:schemeClr val="tx1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8B9387B-FF49-6AE0-D205-3F63FE202FAA}"/>
              </a:ext>
            </a:extLst>
          </p:cNvPr>
          <p:cNvSpPr/>
          <p:nvPr/>
        </p:nvSpPr>
        <p:spPr>
          <a:xfrm>
            <a:off x="2992117" y="3243415"/>
            <a:ext cx="1404156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 진단 가설을 제공하기 위한 모델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9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</a:t>
            </a: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Shapley Additive </a:t>
            </a:r>
            <a:r>
              <a:rPr lang="en-US" altLang="ko-KR" sz="900" dirty="0" err="1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exPlanations</a:t>
            </a: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)</a:t>
            </a:r>
            <a:endParaRPr lang="ko-KR" altLang="en-US" sz="9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3E5D24-1E4C-7DB8-41A7-1DF3CCDA41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64" y="10716"/>
            <a:ext cx="3367397" cy="50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</a:pPr>
            <a:r>
              <a:rPr lang="en-US" altLang="ko-KR" sz="2215" b="1" dirty="0">
                <a:solidFill>
                  <a:srgbClr val="000000"/>
                </a:solidFill>
                <a:latin typeface="바탕체" panose="02030609000101010101" pitchFamily="17" charset="-127"/>
                <a:ea typeface="LG스마트체 Regular" panose="020B0600000101010101" pitchFamily="50" charset="-127"/>
                <a:sym typeface="Wingdings" pitchFamily="2" charset="2"/>
              </a:rPr>
              <a:t>Ⅱ</a:t>
            </a:r>
            <a:r>
              <a:rPr lang="en-US" altLang="ko-KR" sz="2215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. ML </a:t>
            </a:r>
            <a:r>
              <a:rPr lang="ko-KR" altLang="en-US" sz="2215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기반 진단 </a:t>
            </a:r>
            <a:r>
              <a:rPr lang="en-US" altLang="ko-KR" sz="2215" b="1" dirty="0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– </a:t>
            </a:r>
            <a:r>
              <a:rPr lang="ko-KR" altLang="en-US" sz="2215" b="1">
                <a:solidFill>
                  <a:srgbClr val="000000"/>
                </a:solidFill>
                <a:ea typeface="LG스마트체 Regular" panose="020B0600000101010101" pitchFamily="50" charset="-127"/>
                <a:sym typeface="Wingdings" pitchFamily="2" charset="2"/>
              </a:rPr>
              <a:t>기술 제안</a:t>
            </a:r>
            <a:endParaRPr lang="ko-KR" altLang="en-US" sz="1800" dirty="0">
              <a:solidFill>
                <a:srgbClr val="000000"/>
              </a:solidFill>
              <a:ea typeface="LG스마트체 Regular" panose="020B0600000101010101" pitchFamily="50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E01CA12-275B-26E8-7BAB-F8E15DC47817}"/>
              </a:ext>
            </a:extLst>
          </p:cNvPr>
          <p:cNvCxnSpPr/>
          <p:nvPr/>
        </p:nvCxnSpPr>
        <p:spPr bwMode="auto">
          <a:xfrm>
            <a:off x="0" y="548680"/>
            <a:ext cx="12192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직사각형 7">
            <a:extLst>
              <a:ext uri="{FF2B5EF4-FFF2-40B4-BE49-F238E27FC236}">
                <a16:creationId xmlns:a16="http://schemas.microsoft.com/office/drawing/2014/main" id="{87F74C7F-6133-0912-0E5F-EC071C2DD153}"/>
              </a:ext>
            </a:extLst>
          </p:cNvPr>
          <p:cNvSpPr/>
          <p:nvPr/>
        </p:nvSpPr>
        <p:spPr>
          <a:xfrm>
            <a:off x="1199456" y="15872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배송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리드타임</a:t>
            </a:r>
            <a:endParaRPr lang="ko-KR" altLang="en-US" sz="10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E5A3542-0943-531E-6F04-B50A7CA81C6F}"/>
              </a:ext>
            </a:extLst>
          </p:cNvPr>
          <p:cNvSpPr/>
          <p:nvPr/>
        </p:nvSpPr>
        <p:spPr>
          <a:xfrm>
            <a:off x="2063552" y="15872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월말매출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집중도</a:t>
            </a:r>
            <a:endParaRPr lang="ko-KR" altLang="en-US" sz="10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21EE4B4-F24F-65C2-9420-154956FBCA78}"/>
              </a:ext>
            </a:extLst>
          </p:cNvPr>
          <p:cNvSpPr/>
          <p:nvPr/>
        </p:nvSpPr>
        <p:spPr>
          <a:xfrm>
            <a:off x="2927648" y="15872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매출액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86A110E-9F2A-ADDF-5ED2-7A655FA13F95}"/>
              </a:ext>
            </a:extLst>
          </p:cNvPr>
          <p:cNvSpPr/>
          <p:nvPr/>
        </p:nvSpPr>
        <p:spPr>
          <a:xfrm>
            <a:off x="3798309" y="15872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운송타입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B69D1C4-586C-9B4C-8E83-99088CC9E9D4}"/>
              </a:ext>
            </a:extLst>
          </p:cNvPr>
          <p:cNvSpPr/>
          <p:nvPr/>
        </p:nvSpPr>
        <p:spPr>
          <a:xfrm>
            <a:off x="5279228" y="1590431"/>
            <a:ext cx="792088" cy="34630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유통재고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D219D0-2163-E757-5CB5-53D2AD05B370}"/>
              </a:ext>
            </a:extLst>
          </p:cNvPr>
          <p:cNvSpPr txBox="1"/>
          <p:nvPr/>
        </p:nvSpPr>
        <p:spPr>
          <a:xfrm>
            <a:off x="4756718" y="1553363"/>
            <a:ext cx="328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…</a:t>
            </a:r>
            <a:endParaRPr lang="ko-KR" altLang="en-US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FBB50E1-5560-61F6-D6F5-43D8C21DD4F8}"/>
              </a:ext>
            </a:extLst>
          </p:cNvPr>
          <p:cNvSpPr/>
          <p:nvPr/>
        </p:nvSpPr>
        <p:spPr>
          <a:xfrm>
            <a:off x="1199456" y="2290376"/>
            <a:ext cx="4871860" cy="288033"/>
          </a:xfrm>
          <a:prstGeom prst="rect">
            <a:avLst/>
          </a:prstGeom>
          <a:solidFill>
            <a:srgbClr val="F2F2F2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12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엔지니어링</a:t>
            </a:r>
          </a:p>
        </p:txBody>
      </p:sp>
      <p:sp>
        <p:nvSpPr>
          <p:cNvPr id="15" name="아래쪽 화살표 3">
            <a:extLst>
              <a:ext uri="{FF2B5EF4-FFF2-40B4-BE49-F238E27FC236}">
                <a16:creationId xmlns:a16="http://schemas.microsoft.com/office/drawing/2014/main" id="{05EA2B3C-B7C7-597F-4A78-CD8C3D85BA47}"/>
              </a:ext>
            </a:extLst>
          </p:cNvPr>
          <p:cNvSpPr/>
          <p:nvPr/>
        </p:nvSpPr>
        <p:spPr>
          <a:xfrm>
            <a:off x="2927648" y="2013330"/>
            <a:ext cx="1512168" cy="195808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아래쪽 화살표 64">
            <a:extLst>
              <a:ext uri="{FF2B5EF4-FFF2-40B4-BE49-F238E27FC236}">
                <a16:creationId xmlns:a16="http://schemas.microsoft.com/office/drawing/2014/main" id="{EF8E1D43-1FB4-5DC3-84FF-4F7E5FBADAF4}"/>
              </a:ext>
            </a:extLst>
          </p:cNvPr>
          <p:cNvSpPr/>
          <p:nvPr/>
        </p:nvSpPr>
        <p:spPr>
          <a:xfrm>
            <a:off x="2927648" y="2640959"/>
            <a:ext cx="1512168" cy="195808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아래쪽 화살표 66">
            <a:extLst>
              <a:ext uri="{FF2B5EF4-FFF2-40B4-BE49-F238E27FC236}">
                <a16:creationId xmlns:a16="http://schemas.microsoft.com/office/drawing/2014/main" id="{8CB5156A-002B-5A5D-F067-C082CB6D99A5}"/>
              </a:ext>
            </a:extLst>
          </p:cNvPr>
          <p:cNvSpPr/>
          <p:nvPr/>
        </p:nvSpPr>
        <p:spPr>
          <a:xfrm>
            <a:off x="2946488" y="4369152"/>
            <a:ext cx="1512168" cy="195808"/>
          </a:xfrm>
          <a:prstGeom prst="downArrow">
            <a:avLst/>
          </a:prstGeom>
          <a:solidFill>
            <a:srgbClr val="D9D9D9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10939EAF-A7D5-D422-DC86-0E8D47606117}"/>
              </a:ext>
            </a:extLst>
          </p:cNvPr>
          <p:cNvSpPr/>
          <p:nvPr/>
        </p:nvSpPr>
        <p:spPr>
          <a:xfrm>
            <a:off x="1189832" y="4611566"/>
            <a:ext cx="4871860" cy="28803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 검출대상 피드백 및 </a:t>
            </a:r>
            <a:r>
              <a:rPr lang="ko-KR" altLang="en-US" sz="1200" dirty="0" err="1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라벨링</a:t>
            </a:r>
            <a:r>
              <a:rPr lang="ko-KR" altLang="en-US" sz="1200" dirty="0">
                <a:solidFill>
                  <a:schemeClr val="tx1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검수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65F44608-9404-CCD1-3A23-CD2682E7E6DD}"/>
              </a:ext>
            </a:extLst>
          </p:cNvPr>
          <p:cNvSpPr/>
          <p:nvPr/>
        </p:nvSpPr>
        <p:spPr>
          <a:xfrm>
            <a:off x="1289466" y="3243415"/>
            <a:ext cx="1538446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높은 정확도로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기존 유형을 검출하기 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위한 모델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9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</a:t>
            </a: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Tabular Classification)</a:t>
            </a: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  </a:t>
            </a:r>
            <a:endParaRPr lang="ko-KR" altLang="en-US" sz="10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2AD229D-D97B-0FF3-3C13-52BF844067B7}"/>
              </a:ext>
            </a:extLst>
          </p:cNvPr>
          <p:cNvSpPr/>
          <p:nvPr/>
        </p:nvSpPr>
        <p:spPr>
          <a:xfrm>
            <a:off x="4560477" y="3243415"/>
            <a:ext cx="1404156" cy="72008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새로운 유형의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0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이상 패턴을 검출하기 위한 모델</a:t>
            </a:r>
            <a:br>
              <a:rPr lang="en-US" altLang="ko-KR" sz="10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sz="90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</a:t>
            </a:r>
            <a:r>
              <a:rPr lang="en-US" altLang="ko-KR" sz="90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Anomaly detection)</a:t>
            </a:r>
            <a:endParaRPr lang="ko-KR" altLang="en-US" sz="1000" dirty="0">
              <a:solidFill>
                <a:schemeClr val="tx1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41015C-31E0-23D5-4DF6-71F309D3E9F2}"/>
              </a:ext>
            </a:extLst>
          </p:cNvPr>
          <p:cNvSpPr txBox="1"/>
          <p:nvPr/>
        </p:nvSpPr>
        <p:spPr>
          <a:xfrm>
            <a:off x="3199202" y="2908059"/>
            <a:ext cx="8531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ML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모델링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CC27F652-B196-F199-159F-4FD55513D7DF}"/>
              </a:ext>
            </a:extLst>
          </p:cNvPr>
          <p:cNvGrpSpPr/>
          <p:nvPr/>
        </p:nvGrpSpPr>
        <p:grpSpPr>
          <a:xfrm>
            <a:off x="986854" y="3507064"/>
            <a:ext cx="312217" cy="1256234"/>
            <a:chOff x="554806" y="2972569"/>
            <a:chExt cx="312217" cy="1256234"/>
          </a:xfrm>
        </p:grpSpPr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B38D364D-3B16-B9CA-E569-10A59A8C2A04}"/>
                </a:ext>
              </a:extLst>
            </p:cNvPr>
            <p:cNvCxnSpPr/>
            <p:nvPr/>
          </p:nvCxnSpPr>
          <p:spPr>
            <a:xfrm>
              <a:off x="554807" y="2972569"/>
              <a:ext cx="312216" cy="248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0080263-A8A7-AF95-84E6-2D9520B14585}"/>
                </a:ext>
              </a:extLst>
            </p:cNvPr>
            <p:cNvCxnSpPr/>
            <p:nvPr/>
          </p:nvCxnSpPr>
          <p:spPr>
            <a:xfrm flipH="1">
              <a:off x="554806" y="2977901"/>
              <a:ext cx="5045" cy="1250902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3C2DD01B-C8D7-1635-B705-AF7CA57DF552}"/>
                </a:ext>
              </a:extLst>
            </p:cNvPr>
            <p:cNvCxnSpPr/>
            <p:nvPr/>
          </p:nvCxnSpPr>
          <p:spPr>
            <a:xfrm flipV="1">
              <a:off x="556147" y="4216622"/>
              <a:ext cx="205334" cy="295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39705B89-6C75-363E-F450-60A31E344B36}"/>
              </a:ext>
            </a:extLst>
          </p:cNvPr>
          <p:cNvSpPr txBox="1"/>
          <p:nvPr/>
        </p:nvSpPr>
        <p:spPr>
          <a:xfrm>
            <a:off x="436401" y="3972930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 </a:t>
            </a:r>
            <a:br>
              <a:rPr lang="en-US" altLang="ko-KR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9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업데이트</a:t>
            </a:r>
            <a:endParaRPr lang="ko-KR" altLang="en-US" sz="9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C5599E3-6626-67DF-105C-1DD8E3CD5A56}"/>
              </a:ext>
            </a:extLst>
          </p:cNvPr>
          <p:cNvSpPr/>
          <p:nvPr/>
        </p:nvSpPr>
        <p:spPr>
          <a:xfrm>
            <a:off x="287446" y="1124744"/>
            <a:ext cx="6096586" cy="3914597"/>
          </a:xfrm>
          <a:prstGeom prst="rect">
            <a:avLst/>
          </a:prstGeom>
          <a:noFill/>
          <a:ln w="317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079B2F-88E5-ECDA-32BF-D8377F529D18}"/>
              </a:ext>
            </a:extLst>
          </p:cNvPr>
          <p:cNvSpPr txBox="1"/>
          <p:nvPr/>
        </p:nvSpPr>
        <p:spPr>
          <a:xfrm>
            <a:off x="6456040" y="1268760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 다양한 </a:t>
            </a:r>
            <a:r>
              <a:rPr lang="ko-KR" altLang="en-US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제공 및 </a:t>
            </a:r>
            <a:r>
              <a:rPr lang="ko-KR" altLang="en-US" sz="1200" b="1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엔지니어링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Domain knowledge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기반의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를 모델에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제공하고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해당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Feature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로부터 유용한 패턴들을 자동 생성하여 모델이 다양한 패턴에 대해 학습할 수 있도록 함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CCE6144-9828-B539-A369-CD6E40740DAD}"/>
              </a:ext>
            </a:extLst>
          </p:cNvPr>
          <p:cNvSpPr txBox="1"/>
          <p:nvPr/>
        </p:nvSpPr>
        <p:spPr>
          <a:xfrm>
            <a:off x="6453077" y="2274355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높은 정확도로 기존 유형을 검출하기 위한 모델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룰 기반 과다 검출로 인한 </a:t>
            </a:r>
            <a:r>
              <a:rPr lang="ko-KR" altLang="en-US" sz="12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진단팀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및 법인의 고충을 해결하기 위해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라벨링된 데이터를 기반으로 기존 유형에 대한 패턴을 학습 후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이를 검출함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1752E39-AA17-2B07-5875-93BE342B8090}"/>
              </a:ext>
            </a:extLst>
          </p:cNvPr>
          <p:cNvSpPr txBox="1"/>
          <p:nvPr/>
        </p:nvSpPr>
        <p:spPr>
          <a:xfrm>
            <a:off x="6453077" y="3279950"/>
            <a:ext cx="547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 진단 가설을 제공하기 위한 모델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검출 결과에 대한 주요 인자를 식별하고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이를 기반으로 진단 </a:t>
            </a:r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가설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(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어떤 특징으로 인해 리스크로 검출되었는지에 대한 가설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을 제공하는 모델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향후 사람이 검출 대상에 대해 피드백 작성시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,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참고할 수 있음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9EA1687-7608-429C-FF3D-4E5B8EA3181B}"/>
              </a:ext>
            </a:extLst>
          </p:cNvPr>
          <p:cNvSpPr txBox="1"/>
          <p:nvPr/>
        </p:nvSpPr>
        <p:spPr>
          <a:xfrm>
            <a:off x="6453077" y="4470211"/>
            <a:ext cx="54726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④ 새로운 유형의 이상 패턴을 검출하기 위한 모델</a:t>
            </a:r>
            <a:endParaRPr lang="en-US" altLang="ko-KR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  <a:p>
            <a:r>
              <a:rPr lang="ko-KR" altLang="en-US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새롭게 탐색된 이상 패턴 건은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사람의 라벨링 검수를 거침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.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이러한 과정을 통해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도출된 새로운 패턴은 </a:t>
            </a:r>
            <a:r>
              <a:rPr lang="ko-KR" altLang="en-US" sz="1200" b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 의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모델 업데이트에 반영되어 머신이 지속적으로 다양한 패턴들에 </a:t>
            </a:r>
            <a:b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</a:b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대해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학습할 수 있도록 함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EA330A-BB77-C312-E66A-3A8EC7B03A4F}"/>
              </a:ext>
            </a:extLst>
          </p:cNvPr>
          <p:cNvSpPr txBox="1"/>
          <p:nvPr/>
        </p:nvSpPr>
        <p:spPr>
          <a:xfrm>
            <a:off x="1487488" y="5096217"/>
            <a:ext cx="398218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[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그림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2] ML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기반 진단에 대한 기술 제안 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–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예</a:t>
            </a:r>
            <a:r>
              <a:rPr lang="en-US" altLang="ko-KR" sz="12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) </a:t>
            </a:r>
            <a:r>
              <a:rPr lang="ko-KR" altLang="en-US" sz="120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선매출 리스크</a:t>
            </a:r>
            <a:endParaRPr lang="ko-KR" altLang="en-US" sz="1200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1D101178-2052-37B3-855E-C473F280D67E}"/>
              </a:ext>
            </a:extLst>
          </p:cNvPr>
          <p:cNvCxnSpPr/>
          <p:nvPr/>
        </p:nvCxnSpPr>
        <p:spPr>
          <a:xfrm>
            <a:off x="2063552" y="3963495"/>
            <a:ext cx="0" cy="204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연결선 33">
            <a:extLst>
              <a:ext uri="{FF2B5EF4-FFF2-40B4-BE49-F238E27FC236}">
                <a16:creationId xmlns:a16="http://schemas.microsoft.com/office/drawing/2014/main" id="{F234DEC7-54D4-F00C-5155-441E73AE9915}"/>
              </a:ext>
            </a:extLst>
          </p:cNvPr>
          <p:cNvCxnSpPr/>
          <p:nvPr/>
        </p:nvCxnSpPr>
        <p:spPr>
          <a:xfrm>
            <a:off x="5279228" y="3963495"/>
            <a:ext cx="0" cy="2044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연결선 34">
            <a:extLst>
              <a:ext uri="{FF2B5EF4-FFF2-40B4-BE49-F238E27FC236}">
                <a16:creationId xmlns:a16="http://schemas.microsoft.com/office/drawing/2014/main" id="{C3D8BDF8-C3E2-2E10-6852-E2F5EDC120F4}"/>
              </a:ext>
            </a:extLst>
          </p:cNvPr>
          <p:cNvCxnSpPr/>
          <p:nvPr/>
        </p:nvCxnSpPr>
        <p:spPr>
          <a:xfrm>
            <a:off x="2063552" y="4167935"/>
            <a:ext cx="32156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2FCC9C64-92A6-A498-F311-ED2E317FC2B0}"/>
              </a:ext>
            </a:extLst>
          </p:cNvPr>
          <p:cNvCxnSpPr>
            <a:endCxn id="17" idx="0"/>
          </p:cNvCxnSpPr>
          <p:nvPr/>
        </p:nvCxnSpPr>
        <p:spPr>
          <a:xfrm flipH="1">
            <a:off x="3702572" y="4168853"/>
            <a:ext cx="2653" cy="20029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타원 36">
            <a:extLst>
              <a:ext uri="{FF2B5EF4-FFF2-40B4-BE49-F238E27FC236}">
                <a16:creationId xmlns:a16="http://schemas.microsoft.com/office/drawing/2014/main" id="{154051C6-ABA4-B6E4-2B84-6547D69271B7}"/>
              </a:ext>
            </a:extLst>
          </p:cNvPr>
          <p:cNvSpPr/>
          <p:nvPr/>
        </p:nvSpPr>
        <p:spPr>
          <a:xfrm>
            <a:off x="3630572" y="4085588"/>
            <a:ext cx="144000" cy="144016"/>
          </a:xfrm>
          <a:prstGeom prst="ellipse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264D4A-E17A-9138-6D28-81C0BF1DA9CD}"/>
              </a:ext>
            </a:extLst>
          </p:cNvPr>
          <p:cNvSpPr txBox="1"/>
          <p:nvPr/>
        </p:nvSpPr>
        <p:spPr>
          <a:xfrm>
            <a:off x="3551683" y="3997501"/>
            <a:ext cx="3113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+</a:t>
            </a:r>
            <a:endParaRPr lang="ko-KR" altLang="en-US" sz="160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95F808C-2154-D259-7167-F7D5DD95FBE9}"/>
              </a:ext>
            </a:extLst>
          </p:cNvPr>
          <p:cNvSpPr txBox="1"/>
          <p:nvPr/>
        </p:nvSpPr>
        <p:spPr>
          <a:xfrm>
            <a:off x="2847196" y="2291833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①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AD9B54-812A-2FBF-9162-7491864AEC21}"/>
              </a:ext>
            </a:extLst>
          </p:cNvPr>
          <p:cNvSpPr txBox="1"/>
          <p:nvPr/>
        </p:nvSpPr>
        <p:spPr>
          <a:xfrm>
            <a:off x="1449744" y="3230080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②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9F091A-8C0C-C21E-F3D7-A6D74D01122C}"/>
              </a:ext>
            </a:extLst>
          </p:cNvPr>
          <p:cNvSpPr txBox="1"/>
          <p:nvPr/>
        </p:nvSpPr>
        <p:spPr>
          <a:xfrm>
            <a:off x="2915308" y="3230080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③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2197D64-50D5-0352-5730-CAE261D0C8A6}"/>
              </a:ext>
            </a:extLst>
          </p:cNvPr>
          <p:cNvSpPr txBox="1"/>
          <p:nvPr/>
        </p:nvSpPr>
        <p:spPr>
          <a:xfrm>
            <a:off x="4619636" y="3230080"/>
            <a:ext cx="3225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b="1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④</a:t>
            </a:r>
            <a:endParaRPr lang="ko-KR" altLang="en-US" sz="1200" b="1" dirty="0"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8AB05F4-5B94-05DD-9E93-EE677A093A55}"/>
              </a:ext>
            </a:extLst>
          </p:cNvPr>
          <p:cNvSpPr txBox="1"/>
          <p:nvPr/>
        </p:nvSpPr>
        <p:spPr>
          <a:xfrm>
            <a:off x="2863471" y="1164324"/>
            <a:ext cx="130676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다양한 </a:t>
            </a:r>
            <a:r>
              <a:rPr lang="ko-KR" altLang="en-US" sz="900" dirty="0" err="1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피쳐</a:t>
            </a:r>
            <a:r>
              <a:rPr lang="ko-KR" altLang="en-US" sz="900" dirty="0">
                <a:latin typeface="LG스마트체 Regular" panose="020B0600000101010101" pitchFamily="50" charset="-127"/>
                <a:ea typeface="LG스마트체 Regular" panose="020B0600000101010101" pitchFamily="50" charset="-127"/>
              </a:rPr>
              <a:t> 데이터 제공</a:t>
            </a:r>
          </a:p>
        </p:txBody>
      </p:sp>
      <p:sp>
        <p:nvSpPr>
          <p:cNvPr id="44" name="오른쪽 중괄호 43">
            <a:extLst>
              <a:ext uri="{FF2B5EF4-FFF2-40B4-BE49-F238E27FC236}">
                <a16:creationId xmlns:a16="http://schemas.microsoft.com/office/drawing/2014/main" id="{A4799424-BE0A-24DA-67AA-144799123695}"/>
              </a:ext>
            </a:extLst>
          </p:cNvPr>
          <p:cNvSpPr/>
          <p:nvPr/>
        </p:nvSpPr>
        <p:spPr>
          <a:xfrm rot="16200000">
            <a:off x="3558845" y="-877111"/>
            <a:ext cx="146017" cy="4665563"/>
          </a:xfrm>
          <a:prstGeom prst="rightBrac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E588395-4C6B-9106-0AE3-A08B63EEB4BE}"/>
              </a:ext>
            </a:extLst>
          </p:cNvPr>
          <p:cNvSpPr/>
          <p:nvPr/>
        </p:nvSpPr>
        <p:spPr>
          <a:xfrm>
            <a:off x="11563255" y="6447288"/>
            <a:ext cx="502061" cy="3007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en-US" altLang="ko-KR" sz="1354" b="1" dirty="0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</a:rPr>
              <a:t>4  / 5</a:t>
            </a:r>
            <a:endParaRPr kumimoji="1" lang="ko-KR" altLang="en-US" sz="1354" dirty="0">
              <a:solidFill>
                <a:srgbClr val="000000"/>
              </a:solidFill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6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ED2F3-758D-DC1D-775D-B12C3734FD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814E77-07BC-CE3B-9354-468B036880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6064" y="10716"/>
            <a:ext cx="2231701" cy="5013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1pPr>
            <a:lvl2pPr marL="742950" indent="-28575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2pPr>
            <a:lvl3pPr marL="11430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3pPr>
            <a:lvl4pPr marL="16002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4pPr>
            <a:lvl5pPr marL="2057400" indent="-228600"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Arial Narrow" panose="020B0606020202030204" pitchFamily="34" charset="0"/>
                <a:ea typeface="굴림" panose="020B0600000101010101" pitchFamily="50" charset="-127"/>
              </a:defRPr>
            </a:lvl9pPr>
          </a:lstStyle>
          <a:p>
            <a:pPr fontAlgn="base">
              <a:lnSpc>
                <a:spcPct val="120000"/>
              </a:lnSpc>
              <a:spcBef>
                <a:spcPct val="70000"/>
              </a:spcBef>
              <a:spcAft>
                <a:spcPct val="0"/>
              </a:spcAft>
            </a:pPr>
            <a:r>
              <a:rPr lang="en-US" altLang="ko-KR" sz="2215" b="1" dirty="0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itchFamily="2" charset="2"/>
              </a:rPr>
              <a:t>Ⅳ. TCR </a:t>
            </a:r>
            <a:r>
              <a:rPr lang="ko-KR" altLang="en-US" sz="2215" b="1">
                <a:solidFill>
                  <a:srgbClr val="000000"/>
                </a:solidFill>
                <a:latin typeface="LG스마트체 Regular" panose="020B0600000101010101" pitchFamily="50" charset="-127"/>
                <a:ea typeface="LG스마트체 Regular" panose="020B0600000101010101" pitchFamily="50" charset="-127"/>
                <a:sym typeface="Wingdings" pitchFamily="2" charset="2"/>
              </a:rPr>
              <a:t>적용 리뷰</a:t>
            </a:r>
            <a:endParaRPr lang="ko-KR" altLang="en-US" sz="1800" dirty="0">
              <a:solidFill>
                <a:srgbClr val="000000"/>
              </a:solidFill>
              <a:latin typeface="LG스마트체 Regular" panose="020B0600000101010101" pitchFamily="50" charset="-127"/>
              <a:ea typeface="LG스마트체 Regular" panose="020B0600000101010101" pitchFamily="50" charset="-127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DA0282E5-9FEA-7507-8F30-526EA2B13906}"/>
              </a:ext>
            </a:extLst>
          </p:cNvPr>
          <p:cNvCxnSpPr/>
          <p:nvPr/>
        </p:nvCxnSpPr>
        <p:spPr bwMode="auto">
          <a:xfrm>
            <a:off x="0" y="548680"/>
            <a:ext cx="12192000" cy="0"/>
          </a:xfrm>
          <a:prstGeom prst="line">
            <a:avLst/>
          </a:prstGeom>
          <a:ln w="3175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 Box 118">
            <a:extLst>
              <a:ext uri="{FF2B5EF4-FFF2-40B4-BE49-F238E27FC236}">
                <a16:creationId xmlns:a16="http://schemas.microsoft.com/office/drawing/2014/main" id="{CE4FC636-7D13-C8E3-003C-488216F6F2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220" y="794827"/>
            <a:ext cx="11530420" cy="542917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6213" indent="-176213" fontAlgn="base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q"/>
              <a:defRPr kumimoji="1" sz="1200" b="1">
                <a:solidFill>
                  <a:srgbClr val="000000"/>
                </a:solidFill>
                <a:latin typeface="Arial Narrow" panose="020B0606020202030204" pitchFamily="34" charset="0"/>
                <a:ea typeface="LG스마트체 Regular" panose="020B0600000101010101" pitchFamily="50" charset="-127"/>
                <a:cs typeface="Arial" charset="0"/>
              </a:defRPr>
            </a:lvl1pPr>
            <a:lvl2pPr marL="742950" indent="-285750" eaLnBrk="0" hangingPunct="0">
              <a:defRPr>
                <a:latin typeface="굴림" charset="-127"/>
                <a:ea typeface="굴림" charset="-127"/>
              </a:defRPr>
            </a:lvl2pPr>
            <a:lvl3pPr marL="1143000" indent="-228600" eaLnBrk="0" hangingPunct="0">
              <a:defRPr>
                <a:latin typeface="굴림" charset="-127"/>
                <a:ea typeface="굴림" charset="-127"/>
              </a:defRPr>
            </a:lvl3pPr>
            <a:lvl4pPr marL="1600200" indent="-228600" eaLnBrk="0" hangingPunct="0">
              <a:defRPr>
                <a:latin typeface="굴림" charset="-127"/>
                <a:ea typeface="굴림" charset="-127"/>
              </a:defRPr>
            </a:lvl4pPr>
            <a:lvl5pPr marL="2057400" indent="-228600" eaLnBrk="0" hangingPunct="0">
              <a:defRPr>
                <a:latin typeface="굴림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굴림" charset="-127"/>
                <a:ea typeface="굴림" charset="-127"/>
              </a:defRPr>
            </a:lvl9pPr>
          </a:lstStyle>
          <a:p>
            <a:r>
              <a:rPr lang="en-US" altLang="ko-KR" sz="1400" dirty="0">
                <a:latin typeface="LG스마트체 Regular" panose="020B0600000101010101" pitchFamily="50" charset="-127"/>
              </a:rPr>
              <a:t>ML</a:t>
            </a:r>
            <a:r>
              <a:rPr lang="ko-KR" altLang="en-US" sz="1400">
                <a:latin typeface="LG스마트체 Regular" panose="020B0600000101010101" pitchFamily="50" charset="-127"/>
              </a:rPr>
              <a:t>기반 진단으로의 전환을 위한 최초의 데이터인만큼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Class</a:t>
            </a:r>
            <a:r>
              <a:rPr lang="ko-KR" altLang="en-US" sz="1400">
                <a:latin typeface="LG스마트체 Regular" panose="020B0600000101010101" pitchFamily="50" charset="-127"/>
              </a:rPr>
              <a:t>를 분류하는 내부 로직이 비교적 명확하여 앙상블 트리 기반으로 좋은 성능을 보였습니다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ko-KR" altLang="en-US" sz="1400" dirty="0">
                <a:latin typeface="LG스마트체 Regular" panose="020B0600000101010101" pitchFamily="50" charset="-127"/>
              </a:rPr>
              <a:t>유효한 시나리오로 판단되나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 dirty="0">
                <a:latin typeface="LG스마트체 Regular" panose="020B0600000101010101" pitchFamily="50" charset="-127"/>
              </a:rPr>
              <a:t>이번에 검출된 대상이 없는 시나리오의 경우에 </a:t>
            </a:r>
            <a:r>
              <a:rPr lang="ko-KR" altLang="en-US" sz="1400">
                <a:latin typeface="LG스마트체 Regular" panose="020B0600000101010101" pitchFamily="50" charset="-127"/>
              </a:rPr>
              <a:t>대해서는 해당 패턴을 학습할 수 없었습니다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 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r>
              <a:rPr lang="ko-KR" altLang="en-US" sz="1400">
                <a:latin typeface="LG스마트체 Regular" panose="020B0600000101010101" pitchFamily="50" charset="-127"/>
              </a:rPr>
              <a:t>향후 추가적인 진단 데이터가 축적되면 다양한 패턴을 학습할 수 있을 것입니다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br>
              <a:rPr lang="en-US" altLang="ko-KR" sz="700" dirty="0">
                <a:latin typeface="LG스마트체 Regular" panose="020B0600000101010101" pitchFamily="50" charset="-127"/>
              </a:rPr>
            </a:b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패턴 예시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)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거래선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-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제품별 결제조건은 일정하나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판매 확대를 위해 특정 거래선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-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제품에 대해서는 성수기 또는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특정 사유로 결제조건을 변경하는 경우가 있습니다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  <a:b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-&gt;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관련 패턴을 학습하면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결제조건 변경에 의해 진단대상으로 검출되던 케이스를 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Normal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기간 등에는 검출이 되지 않도록 추론할 수 있습니다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</a:t>
            </a:r>
            <a:r>
              <a:rPr lang="en-US" altLang="ko-KR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</a:p>
          <a:p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ko-KR" altLang="en-US" sz="1400" dirty="0">
                <a:latin typeface="LG스마트체 Regular" panose="020B0600000101010101" pitchFamily="50" charset="-127"/>
              </a:rPr>
              <a:t>앙상블 트리 모델의 특성에 기반한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Feature</a:t>
            </a:r>
            <a:r>
              <a:rPr lang="ko-KR" altLang="en-US" sz="1400">
                <a:latin typeface="LG스마트체 Regular" panose="020B0600000101010101" pitchFamily="50" charset="-127"/>
              </a:rPr>
              <a:t>를 추가 생성하여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>
                <a:latin typeface="LG스마트체 Regular" panose="020B0600000101010101" pitchFamily="50" charset="-127"/>
              </a:rPr>
              <a:t>추론 정확도를 향상시킬 수 있었습니다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</a:p>
          <a:p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ko-KR" altLang="en-US" sz="1400" dirty="0">
                <a:latin typeface="LG스마트체 Regular" panose="020B0600000101010101" pitchFamily="50" charset="-127"/>
              </a:rPr>
              <a:t>진단가설 생성과 관련하여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Binary classification </a:t>
            </a:r>
            <a:r>
              <a:rPr lang="ko-KR" altLang="en-US" sz="1400">
                <a:latin typeface="LG스마트체 Regular" panose="020B0600000101010101" pitchFamily="50" charset="-127"/>
              </a:rPr>
              <a:t>후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SHAP </a:t>
            </a:r>
            <a:r>
              <a:rPr lang="ko-KR" altLang="en-US" sz="1400">
                <a:latin typeface="LG스마트체 Regular" panose="020B0600000101010101" pitchFamily="50" charset="-127"/>
              </a:rPr>
              <a:t>결과를 기반으로 진단가설을 생성하는 접근보다는 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Multi-class classification </a:t>
            </a:r>
            <a:r>
              <a:rPr lang="ko-KR" altLang="en-US" sz="1400">
                <a:latin typeface="LG스마트체 Regular" panose="020B0600000101010101" pitchFamily="50" charset="-127"/>
              </a:rPr>
              <a:t>을 통해 예측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Class </a:t>
            </a:r>
            <a:r>
              <a:rPr lang="ko-KR" altLang="en-US" sz="1400">
                <a:latin typeface="LG스마트체 Regular" panose="020B0600000101010101" pitchFamily="50" charset="-127"/>
              </a:rPr>
              <a:t>기반으로 진단가설을 생성하는 것이 더욱 용이할 것으로 판단됩니다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  <a:r>
              <a:rPr lang="en-US" altLang="ko-KR" sz="1100" dirty="0">
                <a:latin typeface="LG스마트체 Regular" panose="020B0600000101010101" pitchFamily="50" charset="-127"/>
              </a:rPr>
              <a:t> </a:t>
            </a:r>
            <a:br>
              <a:rPr lang="en-US" altLang="ko-KR" dirty="0">
                <a:latin typeface="LG스마트체 Regular" panose="020B0600000101010101" pitchFamily="50" charset="-127"/>
              </a:rPr>
            </a:b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(Multi-class classification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기반 진단가설 생성 예시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)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예측 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Class 3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인 경우 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진단가설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: “</a:t>
            </a:r>
            <a:r>
              <a:rPr lang="ko-KR" altLang="en-US" b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본 건은 월말매출집중도 특성에 이상점이 감지되어 진단검토대상으로 검출되었습니다</a:t>
            </a:r>
            <a:r>
              <a:rPr lang="en-US" altLang="ko-KR" b="0" dirty="0">
                <a:solidFill>
                  <a:schemeClr val="tx1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  <a:sym typeface="Wingdings" panose="05000000000000000000" pitchFamily="2" charset="2"/>
              </a:rPr>
              <a:t>.”</a:t>
            </a:r>
            <a:endParaRPr lang="en-US" altLang="ko-KR" dirty="0">
              <a:latin typeface="LG스마트체 Regular" panose="020B0600000101010101" pitchFamily="50" charset="-127"/>
            </a:endParaRPr>
          </a:p>
          <a:p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en-US" altLang="ko-KR" sz="1400" dirty="0">
                <a:latin typeface="LG스마트체 Regular" panose="020B0600000101010101" pitchFamily="50" charset="-127"/>
              </a:rPr>
              <a:t>SHAP </a:t>
            </a:r>
            <a:r>
              <a:rPr lang="ko-KR" altLang="en-US" sz="1400">
                <a:latin typeface="LG스마트체 Regular" panose="020B0600000101010101" pitchFamily="50" charset="-127"/>
              </a:rPr>
              <a:t>결과 해석 개선과 관련하여 아래 사항들을 검토해보겠습니다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  <a:br>
              <a:rPr lang="en-US" altLang="ko-KR" sz="1400" dirty="0">
                <a:latin typeface="LG스마트체 Regular" panose="020B0600000101010101" pitchFamily="50" charset="-127"/>
              </a:rPr>
            </a:b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유사한 값을 포함하는 칼럼들이 다수 존재하면 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Feature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기여도가 분산되어 개별 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Feature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의 기여도를 파악하기 어려울 것으로 예상됩니다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유사한 칼럼들을 제거한 후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SHAP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결과를 검토해보겠습니다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또한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모델의 과적합을 방지하기 위해 모델링 시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r>
              <a:rPr lang="en-US" altLang="ko-KR" sz="1100" b="0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early_stopping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기능을 적용할 필요가 있습니다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 TCR AI contents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의 모델에 </a:t>
            </a:r>
            <a:r>
              <a:rPr lang="en-US" altLang="ko-KR" sz="1100" b="0" dirty="0" err="1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early_stopping_rounds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옵션을 포함 여부를 확인하고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, </a:t>
            </a: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이를 반영하여 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SHAP </a:t>
            </a:r>
            <a:r>
              <a:rPr lang="ko-KR" altLang="en-US" sz="1100" b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결과를 검토해보겠습니다</a:t>
            </a:r>
            <a: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.</a:t>
            </a:r>
            <a:br>
              <a:rPr lang="en-US" altLang="ko-KR" sz="1100" b="0" dirty="0">
                <a:latin typeface="LG스마트체 Light" panose="020B0600000101010101" pitchFamily="50" charset="-127"/>
                <a:ea typeface="LG스마트체 Light" panose="020B0600000101010101" pitchFamily="50" charset="-127"/>
              </a:rPr>
            </a:br>
            <a:endParaRPr lang="en-US" altLang="ko-KR" sz="1400" dirty="0">
              <a:latin typeface="LG스마트체 Regular" panose="020B0600000101010101" pitchFamily="50" charset="-127"/>
            </a:endParaRPr>
          </a:p>
          <a:p>
            <a:r>
              <a:rPr lang="en-US" altLang="ko-KR" sz="1400" dirty="0" err="1">
                <a:latin typeface="LG스마트체 Regular" panose="020B0600000101010101" pitchFamily="50" charset="-127"/>
              </a:rPr>
              <a:t>Mellerikat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 </a:t>
            </a:r>
            <a:r>
              <a:rPr lang="ko-KR" altLang="en-US" sz="1400">
                <a:latin typeface="LG스마트체 Regular" panose="020B0600000101010101" pitchFamily="50" charset="-127"/>
              </a:rPr>
              <a:t>기반 모델링 진행 시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>
                <a:latin typeface="LG스마트체 Regular" panose="020B0600000101010101" pitchFamily="50" charset="-127"/>
              </a:rPr>
              <a:t>데이터 분석가 간 커뮤니테이션이 용이하고 협업이 편리하였습니다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 TCR </a:t>
            </a:r>
            <a:r>
              <a:rPr lang="ko-KR" altLang="en-US" sz="1400">
                <a:latin typeface="LG스마트체 Regular" panose="020B0600000101010101" pitchFamily="50" charset="-127"/>
              </a:rPr>
              <a:t>활용 후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, </a:t>
            </a:r>
            <a:r>
              <a:rPr lang="ko-KR" altLang="en-US" sz="1400">
                <a:latin typeface="LG스마트체 Regular" panose="020B0600000101010101" pitchFamily="50" charset="-127"/>
              </a:rPr>
              <a:t>논의 필요한 사항들은 </a:t>
            </a:r>
            <a:r>
              <a:rPr lang="en-US" altLang="ko-KR" sz="1400" dirty="0" err="1">
                <a:latin typeface="LG스마트체 Regular" panose="020B0600000101010101" pitchFamily="50" charset="-127"/>
              </a:rPr>
              <a:t>clm</a:t>
            </a:r>
            <a:r>
              <a:rPr lang="ko-KR" altLang="en-US" sz="1400">
                <a:latin typeface="LG스마트체 Regular" panose="020B0600000101010101" pitchFamily="50" charset="-127"/>
              </a:rPr>
              <a:t>을 통해 요청하겠습니다</a:t>
            </a:r>
            <a:r>
              <a:rPr lang="en-US" altLang="ko-KR" sz="1400" dirty="0">
                <a:latin typeface="LG스마트체 Regular" panose="020B0600000101010101" pitchFamily="50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3889C0-D7AE-43F4-2886-BDAAE2C5A60C}"/>
              </a:ext>
            </a:extLst>
          </p:cNvPr>
          <p:cNvSpPr txBox="1"/>
          <p:nvPr/>
        </p:nvSpPr>
        <p:spPr>
          <a:xfrm>
            <a:off x="10848528" y="768559"/>
            <a:ext cx="10038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34A853"/>
                </a:solidFill>
                <a:latin typeface="LG스마트체 Light" panose="020B0600000101010101" pitchFamily="50" charset="-127"/>
                <a:ea typeface="LG스마트체 Light" panose="020B0600000101010101" pitchFamily="50" charset="-127"/>
              </a:rPr>
              <a:t>Accuracy = 1.00</a:t>
            </a:r>
            <a:endParaRPr lang="ko-KR" altLang="en-US" sz="900" dirty="0">
              <a:solidFill>
                <a:srgbClr val="34A853"/>
              </a:solidFill>
              <a:latin typeface="LG스마트체 Light" panose="020B0600000101010101" pitchFamily="50" charset="-127"/>
              <a:ea typeface="LG스마트체 Light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6283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10419-4A09-91C1-031B-F2BE797B4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214434BF-7007-5DE4-128A-90C49F4FA0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4181361"/>
              </p:ext>
            </p:extLst>
          </p:nvPr>
        </p:nvGraphicFramePr>
        <p:xfrm>
          <a:off x="263434" y="4941251"/>
          <a:ext cx="10515600" cy="40767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176447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Input - Readiness - Preprocess - Sampling - Train - Output 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901246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7640436-5EDB-3DDF-75B2-010437A28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4252796"/>
              </p:ext>
            </p:extLst>
          </p:nvPr>
        </p:nvGraphicFramePr>
        <p:xfrm>
          <a:off x="254726" y="6018145"/>
          <a:ext cx="10515600" cy="40767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7164502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solidFill>
                            <a:srgbClr val="000000"/>
                          </a:solidFill>
                          <a:effectLst/>
                        </a:rPr>
                        <a:t>Input - Readiness - Preprocess - Inference - Output 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66675" marB="66675">
                    <a:lnL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1C7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162950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3EBBDC4-7F90-2437-EF72-316767872D08}"/>
              </a:ext>
            </a:extLst>
          </p:cNvPr>
          <p:cNvSpPr txBox="1"/>
          <p:nvPr/>
        </p:nvSpPr>
        <p:spPr>
          <a:xfrm>
            <a:off x="254726" y="5584775"/>
            <a:ext cx="3492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Inference pipeline: 5</a:t>
            </a:r>
            <a:r>
              <a:rPr lang="ko-KR" altLang="en-US"/>
              <a:t>개의 </a:t>
            </a:r>
            <a:r>
              <a:rPr lang="en-US" altLang="ko-KR"/>
              <a:t>asset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0A0CF13-5918-8411-074A-4E7D095FEA0B}"/>
              </a:ext>
            </a:extLst>
          </p:cNvPr>
          <p:cNvSpPr txBox="1"/>
          <p:nvPr/>
        </p:nvSpPr>
        <p:spPr>
          <a:xfrm>
            <a:off x="263433" y="4491248"/>
            <a:ext cx="3492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Train pipeline: 6</a:t>
            </a:r>
            <a:r>
              <a:rPr lang="ko-KR" altLang="en-US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개의 </a:t>
            </a:r>
            <a:r>
              <a:rPr lang="en-US" altLang="ko-KR" b="0" i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-apple-system"/>
              </a:rPr>
              <a:t>asset</a:t>
            </a:r>
            <a:endParaRPr lang="en-US" altLang="ko-KR" b="0" i="0">
              <a:solidFill>
                <a:srgbClr val="172B4D"/>
              </a:solidFill>
              <a:effectLst/>
              <a:highlight>
                <a:srgbClr val="FFFFFF"/>
              </a:highlight>
              <a:latin typeface="-apple-system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5EA35F-B775-47BF-1EC1-78DB46AAEE9B}"/>
              </a:ext>
            </a:extLst>
          </p:cNvPr>
          <p:cNvSpPr txBox="1"/>
          <p:nvPr/>
        </p:nvSpPr>
        <p:spPr>
          <a:xfrm>
            <a:off x="357051" y="531223"/>
            <a:ext cx="3840480" cy="4876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75DF46-BBB9-35F3-AABE-9CAD5F045DA8}"/>
              </a:ext>
            </a:extLst>
          </p:cNvPr>
          <p:cNvSpPr txBox="1"/>
          <p:nvPr/>
        </p:nvSpPr>
        <p:spPr>
          <a:xfrm>
            <a:off x="357051" y="346102"/>
            <a:ext cx="991035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Asset </a:t>
            </a:r>
            <a:r>
              <a:rPr lang="ko-KR" altLang="en-US" sz="1200"/>
              <a:t>별 특징</a:t>
            </a:r>
          </a:p>
          <a:p>
            <a:r>
              <a:rPr lang="en-US" altLang="ko-KR" sz="1200" dirty="0"/>
              <a:t>Input asset​</a:t>
            </a:r>
          </a:p>
          <a:p>
            <a:r>
              <a:rPr lang="ko-KR" altLang="en-US" sz="1200" dirty="0"/>
              <a:t>사용자가 </a:t>
            </a:r>
            <a:r>
              <a:rPr lang="en-US" altLang="ko-KR" sz="1200"/>
              <a:t>experimental_plan.yaml</a:t>
            </a:r>
            <a:r>
              <a:rPr lang="ko-KR" altLang="en-US" sz="1200"/>
              <a:t>에 지정한 경로 내 파일을 읽어와 </a:t>
            </a:r>
            <a:r>
              <a:rPr lang="en-US" altLang="ko-KR" sz="1200"/>
              <a:t>dataframe</a:t>
            </a:r>
            <a:r>
              <a:rPr lang="ko-KR" altLang="en-US" sz="1200"/>
              <a:t>으로 만들어 줍니다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Readiness asset​</a:t>
            </a:r>
          </a:p>
          <a:p>
            <a:r>
              <a:rPr lang="ko-KR" altLang="en-US" sz="1200"/>
              <a:t>사용자가 </a:t>
            </a:r>
            <a:r>
              <a:rPr lang="en-US" altLang="ko-KR" sz="1200"/>
              <a:t>TCR</a:t>
            </a:r>
            <a:r>
              <a:rPr lang="ko-KR" altLang="en-US" sz="1200"/>
              <a:t>에 입력한 데이터가 </a:t>
            </a:r>
            <a:r>
              <a:rPr lang="en-US" altLang="ko-KR" sz="1200"/>
              <a:t>TCR </a:t>
            </a:r>
            <a:r>
              <a:rPr lang="ko-KR" altLang="en-US" sz="1200"/>
              <a:t>모델링에 적합한지 검사합니다</a:t>
            </a:r>
            <a:r>
              <a:rPr lang="en-US" altLang="ko-KR" sz="1200"/>
              <a:t>.  </a:t>
            </a:r>
          </a:p>
          <a:p>
            <a:endParaRPr lang="en-US" altLang="ko-KR" sz="1200" dirty="0"/>
          </a:p>
          <a:p>
            <a:r>
              <a:rPr lang="en-US" altLang="ko-KR" sz="1200" dirty="0"/>
              <a:t>Preprocess asset​</a:t>
            </a:r>
          </a:p>
          <a:p>
            <a:r>
              <a:rPr lang="ko-KR" altLang="en-US" sz="1200"/>
              <a:t>데이터에 </a:t>
            </a:r>
            <a:r>
              <a:rPr lang="en-US" altLang="ko-KR" sz="1200"/>
              <a:t>categorical </a:t>
            </a:r>
            <a:r>
              <a:rPr lang="ko-KR" altLang="en-US" sz="1200"/>
              <a:t>컬럼 인코딩</a:t>
            </a:r>
            <a:r>
              <a:rPr lang="en-US" altLang="ko-KR" sz="1200"/>
              <a:t>, </a:t>
            </a:r>
            <a:r>
              <a:rPr lang="ko-KR" altLang="en-US" sz="1200"/>
              <a:t>결측치 처리 등 </a:t>
            </a:r>
            <a:r>
              <a:rPr lang="en-US" altLang="ko-KR" sz="1200"/>
              <a:t>TCR </a:t>
            </a:r>
            <a:r>
              <a:rPr lang="ko-KR" altLang="en-US" sz="1200"/>
              <a:t>모델링을 위한 데이터 전처리 방법 적용합니다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Sampling asset​</a:t>
            </a:r>
          </a:p>
          <a:p>
            <a:r>
              <a:rPr lang="ko-KR" altLang="en-US" sz="1200"/>
              <a:t>데이터 라벨에 불균형이 있는 경우</a:t>
            </a:r>
            <a:r>
              <a:rPr lang="en-US" altLang="ko-KR" sz="1200"/>
              <a:t>, over sampling </a:t>
            </a:r>
            <a:r>
              <a:rPr lang="ko-KR" altLang="en-US" sz="1200"/>
              <a:t>혹은 </a:t>
            </a:r>
            <a:r>
              <a:rPr lang="en-US" altLang="ko-KR" sz="1200"/>
              <a:t>under sampling</a:t>
            </a:r>
            <a:r>
              <a:rPr lang="ko-KR" altLang="en-US" sz="1200"/>
              <a:t>을 적용하여 데이터의 균형을 맞춥니다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Train asset​</a:t>
            </a:r>
          </a:p>
          <a:p>
            <a:r>
              <a:rPr lang="en-US" altLang="ko-KR" sz="1200" dirty="0"/>
              <a:t>TCR</a:t>
            </a:r>
            <a:r>
              <a:rPr lang="ko-KR" altLang="en-US" sz="1200"/>
              <a:t>에 내장 된 </a:t>
            </a:r>
            <a:r>
              <a:rPr lang="en-US" altLang="ko-KR" sz="1200"/>
              <a:t>5</a:t>
            </a:r>
            <a:r>
              <a:rPr lang="ko-KR" altLang="en-US" sz="1200"/>
              <a:t>개의 모델로 </a:t>
            </a:r>
            <a:r>
              <a:rPr lang="en-US" altLang="ko-KR" sz="1200"/>
              <a:t>HPO</a:t>
            </a:r>
            <a:r>
              <a:rPr lang="ko-KR" altLang="en-US" sz="1200"/>
              <a:t>를 진행하고</a:t>
            </a:r>
            <a:r>
              <a:rPr lang="en-US" altLang="ko-KR" sz="1200"/>
              <a:t>, best model</a:t>
            </a:r>
            <a:r>
              <a:rPr lang="ko-KR" altLang="en-US" sz="1200"/>
              <a:t>을 선정하여 모델을 학습합니다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Inference asset​</a:t>
            </a:r>
          </a:p>
          <a:p>
            <a:r>
              <a:rPr lang="en-US" altLang="ko-KR" sz="1200" dirty="0"/>
              <a:t>Train asset</a:t>
            </a:r>
            <a:r>
              <a:rPr lang="ko-KR" altLang="en-US" sz="1200"/>
              <a:t>에서 생성한 모델로 </a:t>
            </a:r>
            <a:r>
              <a:rPr lang="en-US" altLang="ko-KR" sz="1200"/>
              <a:t>inference</a:t>
            </a:r>
            <a:r>
              <a:rPr lang="ko-KR" altLang="en-US" sz="1200"/>
              <a:t>용 데이터를 추론합니다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Output asset​</a:t>
            </a:r>
          </a:p>
          <a:p>
            <a:r>
              <a:rPr lang="en-US" altLang="ko-KR" sz="1200" dirty="0"/>
              <a:t>Train </a:t>
            </a:r>
            <a:r>
              <a:rPr lang="ko-KR" altLang="en-US" sz="1200"/>
              <a:t>또는 </a:t>
            </a:r>
            <a:r>
              <a:rPr lang="en-US" altLang="ko-KR" sz="1200"/>
              <a:t>Inference asset</a:t>
            </a:r>
            <a:r>
              <a:rPr lang="ko-KR" altLang="en-US" sz="1200"/>
              <a:t>의 산출물을 수정하는 </a:t>
            </a:r>
            <a:r>
              <a:rPr lang="en-US" altLang="ko-KR" sz="1200"/>
              <a:t>custom asset</a:t>
            </a:r>
            <a:r>
              <a:rPr lang="ko-KR" altLang="en-US" sz="1200"/>
              <a:t>입니다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8C9E28-F201-FC64-7F59-364685084DD5}"/>
              </a:ext>
            </a:extLst>
          </p:cNvPr>
          <p:cNvSpPr txBox="1"/>
          <p:nvPr/>
        </p:nvSpPr>
        <p:spPr>
          <a:xfrm>
            <a:off x="7837715" y="865834"/>
            <a:ext cx="3701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LightGBM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CatBoost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XGBoost</a:t>
            </a:r>
            <a:r>
              <a:rPr lang="en-US" altLang="ko-KR" sz="1200"/>
              <a:t>, Gradient Boosting Machine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007748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AAE3A-2097-8772-6492-FFCE3D2EA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4210334-3377-FD95-A1C3-AEC8D1156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9569" y="904921"/>
            <a:ext cx="4153480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972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451C75-5F05-5B98-35B5-709C320CB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24B6B49-149D-89E7-5C3C-17658AA71DCE}"/>
              </a:ext>
            </a:extLst>
          </p:cNvPr>
          <p:cNvSpPr/>
          <p:nvPr/>
        </p:nvSpPr>
        <p:spPr>
          <a:xfrm>
            <a:off x="4309241" y="893378"/>
            <a:ext cx="2993961" cy="19753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NPS</a:t>
            </a:r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D702301-D375-F3C8-5FCD-3D7B408BF2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8" y="3246796"/>
            <a:ext cx="8124825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22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CEEC5-927C-B7E8-F31B-B06E0BDBA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5CCC7B07-0AC0-F0FA-A051-A6D7E6AC7383}"/>
              </a:ext>
            </a:extLst>
          </p:cNvPr>
          <p:cNvSpPr txBox="1"/>
          <p:nvPr/>
        </p:nvSpPr>
        <p:spPr>
          <a:xfrm>
            <a:off x="470262" y="418012"/>
            <a:ext cx="1059833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NPS AI 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에이전트는 글로벌 </a:t>
            </a:r>
            <a:r>
              <a:rPr lang="en-US" altLang="ko-KR" sz="12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21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개국 고객 피드백 데이터를 분석하여 고객 경험</a:t>
            </a:r>
            <a:r>
              <a:rPr lang="en-US" altLang="ko-KR" sz="12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(CX)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개선 인사이트를 빠르고 편리하게 도출할 수 있도록 돕는 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AI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기반 고객경험 분석 서비스입니다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b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r>
              <a:rPr lang="en-US" altLang="ko-KR" sz="12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R-NPS (Relationship Net Promoter Score)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조사 결과를 기반으로 국가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제품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고객 여정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터치포인트 별 현황을 점검하고 온라인 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VOC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데이터를 연계 분석하여 정성적 피드백까지 함께 분석할 수 있습니다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.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또한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,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법인별 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CX </a:t>
            </a:r>
            <a:r>
              <a:rPr lang="ko-KR" altLang="en-US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개선 과제 리스트 조회를 지원하여 개선 과제 수립에 도움을 줍니다</a:t>
            </a:r>
            <a:r>
              <a:rPr lang="en-US" altLang="ko-KR" sz="1200" b="0" i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-apple-system"/>
              </a:rPr>
              <a:t>.</a:t>
            </a:r>
            <a:endParaRPr lang="ko-KR" altLang="en-US" sz="1200" dirty="0"/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FF61C155-8E28-64B4-77B3-658F244F9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262" y="1495947"/>
            <a:ext cx="7760878" cy="477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63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D343BB-9057-7B49-A20C-21E555C6F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6DCBB7-83BC-704E-50DD-B297DABB733C}"/>
              </a:ext>
            </a:extLst>
          </p:cNvPr>
          <p:cNvSpPr txBox="1"/>
          <p:nvPr/>
        </p:nvSpPr>
        <p:spPr>
          <a:xfrm>
            <a:off x="1123406" y="679269"/>
            <a:ext cx="9448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자사는 ’</a:t>
            </a:r>
            <a:r>
              <a:rPr lang="en-US" altLang="ko-KR" sz="1200"/>
              <a:t>23</a:t>
            </a:r>
            <a:r>
              <a:rPr lang="ko-KR" altLang="en-US" sz="1200"/>
              <a:t>년부터 한국 포함 글로벌 </a:t>
            </a:r>
            <a:r>
              <a:rPr lang="en-US" altLang="ko-KR" sz="1200"/>
              <a:t>21</a:t>
            </a:r>
            <a:r>
              <a:rPr lang="ko-KR" altLang="en-US" sz="1200"/>
              <a:t>개국을 대상으로 </a:t>
            </a:r>
            <a:r>
              <a:rPr lang="en-US" altLang="ko-KR" sz="1200"/>
              <a:t>LG R-NPS</a:t>
            </a:r>
            <a:r>
              <a:rPr lang="ko-KR" altLang="en-US" sz="1200"/>
              <a:t>를 진단 후</a:t>
            </a:r>
            <a:r>
              <a:rPr lang="en-US" altLang="ko-KR" sz="1200"/>
              <a:t>, </a:t>
            </a:r>
            <a:r>
              <a:rPr lang="ko-KR" altLang="en-US" sz="1200"/>
              <a:t>상세 데이터와 분석 결과를 각 법인에 공유하고 있습니다</a:t>
            </a:r>
            <a:r>
              <a:rPr lang="en-US" altLang="ko-KR" sz="1200"/>
              <a:t>. </a:t>
            </a:r>
            <a:r>
              <a:rPr lang="ko-KR" altLang="en-US" sz="1200"/>
              <a:t>그러나 </a:t>
            </a:r>
            <a:r>
              <a:rPr lang="en-US" altLang="ko-KR" sz="1200"/>
              <a:t>R-NPS </a:t>
            </a:r>
            <a:r>
              <a:rPr lang="ko-KR" altLang="en-US" sz="1200"/>
              <a:t>기반 상세 원인 분석과 개선과제 도출을 진행하는 법인 담당자의 </a:t>
            </a:r>
            <a:r>
              <a:rPr lang="en-US" altLang="ko-KR" sz="1200"/>
              <a:t>Data </a:t>
            </a:r>
            <a:r>
              <a:rPr lang="ko-KR" altLang="en-US" sz="1200"/>
              <a:t>활용 및 분석 역량에 편차가 크고</a:t>
            </a:r>
            <a:r>
              <a:rPr lang="en-US" altLang="ko-KR" sz="1200"/>
              <a:t>, </a:t>
            </a:r>
            <a:r>
              <a:rPr lang="ko-KR" altLang="en-US" sz="1200"/>
              <a:t>연계분석이 필요한 내부 </a:t>
            </a:r>
            <a:r>
              <a:rPr lang="en-US" altLang="ko-KR" sz="1200"/>
              <a:t>Data</a:t>
            </a:r>
            <a:r>
              <a:rPr lang="ko-KR" altLang="en-US" sz="1200"/>
              <a:t>들도 일일이 찾아 확인해야 하는 어려움이 있다는 피드백이 있었습니다</a:t>
            </a:r>
            <a:r>
              <a:rPr lang="en-US" altLang="ko-KR" sz="1200"/>
              <a:t>. </a:t>
            </a:r>
            <a:r>
              <a:rPr lang="ko-KR" altLang="en-US" sz="1200"/>
              <a:t>따라서 생성형 </a:t>
            </a:r>
            <a:r>
              <a:rPr lang="en-US" altLang="ko-KR" sz="1200"/>
              <a:t>AI </a:t>
            </a:r>
            <a:r>
              <a:rPr lang="ko-KR" altLang="en-US" sz="1200"/>
              <a:t>기술을 기반으로</a:t>
            </a:r>
            <a:r>
              <a:rPr lang="en-US" altLang="ko-KR" sz="1200"/>
              <a:t>, </a:t>
            </a:r>
            <a:r>
              <a:rPr lang="ko-KR" altLang="en-US" sz="1200"/>
              <a:t>각 법인 담당자들이 자연어 질의를 통해 편리하게 데이터를 분석하고 구체적인 개선 방안을 효율적으로 도출할 수 있도록 지원하고자 합니다</a:t>
            </a:r>
            <a:r>
              <a:rPr lang="en-US" altLang="ko-KR" sz="1200"/>
              <a:t>. </a:t>
            </a:r>
            <a:endParaRPr lang="ko-KR" altLang="en-US" sz="12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F6E38B6-7425-A43A-8161-6E91D36B5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366" y="1692200"/>
            <a:ext cx="8506634" cy="5079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137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02DEF-2A04-E498-7CB3-23D5123ED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E39E897-F150-B157-400E-174D82D041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3143"/>
          <a:stretch/>
        </p:blipFill>
        <p:spPr>
          <a:xfrm>
            <a:off x="548640" y="437826"/>
            <a:ext cx="8151223" cy="5808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627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9B1BD-689D-75D0-97BB-E3481146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29305C1-F636-2CDE-F1A4-366991EDCFB5}"/>
              </a:ext>
            </a:extLst>
          </p:cNvPr>
          <p:cNvSpPr txBox="1"/>
          <p:nvPr/>
        </p:nvSpPr>
        <p:spPr>
          <a:xfrm>
            <a:off x="1628503" y="1175657"/>
            <a:ext cx="475488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기존의 단일 에이전트 기반 </a:t>
            </a:r>
            <a:r>
              <a:rPr lang="en-US" altLang="ko-KR"/>
              <a:t>NL2SQL </a:t>
            </a:r>
            <a:r>
              <a:rPr lang="ko-KR" altLang="en-US"/>
              <a:t>방식은 하나의 모델이 여러 데이터베이스와 스키마를 동시에 다루는 구조였기 때문에</a:t>
            </a:r>
            <a:r>
              <a:rPr lang="en-US" altLang="ko-KR"/>
              <a:t>, </a:t>
            </a:r>
            <a:r>
              <a:rPr lang="ko-KR" altLang="en-US"/>
              <a:t>로직이 복잡해지고 비효율이 발생할 가능성이 컸다</a:t>
            </a:r>
            <a:r>
              <a:rPr lang="en-US" altLang="ko-KR"/>
              <a:t>. </a:t>
            </a:r>
            <a:r>
              <a:rPr lang="ko-KR" altLang="en-US"/>
              <a:t>스키마와 테이블이 늘어날수록 프롬프트 길이가 불필요하게 길어지고</a:t>
            </a:r>
            <a:r>
              <a:rPr lang="en-US" altLang="ko-KR"/>
              <a:t>, </a:t>
            </a:r>
            <a:r>
              <a:rPr lang="ko-KR" altLang="en-US"/>
              <a:t>모델이 전혀 관련 없는 테이블이나 열을 탐색하는 일이 빈번하게 일어났다</a:t>
            </a:r>
            <a:r>
              <a:rPr lang="en-US" altLang="ko-KR"/>
              <a:t>. </a:t>
            </a:r>
            <a:r>
              <a:rPr lang="ko-KR" altLang="en-US"/>
              <a:t>그 결과 엉뚱한 컬럼을 참조하거나</a:t>
            </a:r>
            <a:r>
              <a:rPr lang="en-US" altLang="ko-KR"/>
              <a:t>, </a:t>
            </a:r>
            <a:r>
              <a:rPr lang="ko-KR" altLang="en-US"/>
              <a:t>분석과 무관한 데이터까지 불러오는 오류 가능성이 높았다</a:t>
            </a:r>
            <a:r>
              <a:rPr lang="en-US" altLang="ko-KR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CXpert</a:t>
            </a:r>
            <a:r>
              <a:rPr lang="ko-KR" altLang="en-US"/>
              <a:t>의 </a:t>
            </a:r>
            <a:r>
              <a:rPr lang="en-US" altLang="ko-KR"/>
              <a:t>NL2SQL </a:t>
            </a:r>
            <a:r>
              <a:rPr lang="ko-KR" altLang="en-US"/>
              <a:t>설계는 이러한 문제를 해결하기 위해 도메인 또는 특정 테이블에 특화된 하위 에이전트</a:t>
            </a:r>
            <a:r>
              <a:rPr lang="en-US" altLang="ko-KR"/>
              <a:t>(Sub-Agent) </a:t>
            </a:r>
            <a:r>
              <a:rPr lang="ko-KR" altLang="en-US"/>
              <a:t>구조를 도입한다</a:t>
            </a:r>
            <a:r>
              <a:rPr lang="en-US" altLang="ko-KR"/>
              <a:t>. </a:t>
            </a:r>
            <a:r>
              <a:rPr lang="ko-KR" altLang="en-US"/>
              <a:t>각 </a:t>
            </a:r>
            <a:r>
              <a:rPr lang="en-US" altLang="ko-KR"/>
              <a:t>Sub-Agent</a:t>
            </a:r>
            <a:r>
              <a:rPr lang="ko-KR" altLang="en-US"/>
              <a:t>는 자신이 맡은 테이블에 대해서만 질의응답을 수행하며</a:t>
            </a:r>
            <a:r>
              <a:rPr lang="en-US" altLang="ko-KR"/>
              <a:t>, </a:t>
            </a:r>
            <a:r>
              <a:rPr lang="ko-KR" altLang="en-US"/>
              <a:t>이를 통해 정확성과 처리 효율을 동시에 높인다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11999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5FBEC-B417-AC77-A627-5897695A1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4985D8-462E-034F-2B12-C0E63AE3731B}"/>
              </a:ext>
            </a:extLst>
          </p:cNvPr>
          <p:cNvSpPr txBox="1"/>
          <p:nvPr/>
        </p:nvSpPr>
        <p:spPr>
          <a:xfrm>
            <a:off x="1323703" y="931817"/>
            <a:ext cx="812509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2. Multi Agent Supervisor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: Multi Agent </a:t>
            </a:r>
            <a:r>
              <a:rPr lang="ko-KR" altLang="en-US" sz="1200"/>
              <a:t>네트워크를 구성하여 사용자 질문에 대해 적절한 답변을 생성하기 위해 여러 개의 전문화된 에이전트들로 나누어 처리하는 분할 접근 방식을 사용하는 아키텍처를 적용하였습니다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Supervisor</a:t>
            </a:r>
            <a:r>
              <a:rPr lang="ko-KR" altLang="en-US" sz="1200"/>
              <a:t>는 여러 에이전트를 순차 혹은 동시에 다루며</a:t>
            </a:r>
            <a:r>
              <a:rPr lang="en-US" altLang="ko-KR" sz="1200" dirty="0"/>
              <a:t>, </a:t>
            </a:r>
            <a:r>
              <a:rPr lang="ko-KR" altLang="en-US" sz="1200"/>
              <a:t>각 에이전트가 자신의 역할을 수행하도록 관리하고</a:t>
            </a:r>
            <a:r>
              <a:rPr lang="en-US" altLang="ko-KR" sz="1200" dirty="0"/>
              <a:t>, </a:t>
            </a:r>
            <a:r>
              <a:rPr lang="ko-KR" altLang="en-US" sz="1200"/>
              <a:t>작업 완료 시 통합하여 처리합니다</a:t>
            </a:r>
            <a:r>
              <a:rPr lang="en-US" altLang="ko-KR" sz="1200" dirty="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</a:t>
            </a:r>
            <a:r>
              <a:rPr lang="ko-KR" altLang="en-US" sz="1200"/>
              <a:t>각 독립적인 </a:t>
            </a:r>
            <a:r>
              <a:rPr lang="en-US" altLang="ko-KR" sz="1200"/>
              <a:t>Table QA </a:t>
            </a:r>
            <a:r>
              <a:rPr lang="ko-KR" altLang="en-US" sz="1200"/>
              <a:t>에이전트가 자신의 전문 데이터에 집중하여 응답을 생성하고</a:t>
            </a:r>
            <a:r>
              <a:rPr lang="en-US" altLang="ko-KR" sz="1200"/>
              <a:t>, </a:t>
            </a:r>
            <a:r>
              <a:rPr lang="ko-KR" altLang="en-US" sz="1200"/>
              <a:t>상위 </a:t>
            </a:r>
            <a:r>
              <a:rPr lang="en-US" altLang="ko-KR" sz="1200"/>
              <a:t>supervisor</a:t>
            </a:r>
            <a:r>
              <a:rPr lang="ko-KR" altLang="en-US" sz="1200"/>
              <a:t>가 이들을 통합하여 사용자 질문에 대한 최적의 답변을 제공함으로써</a:t>
            </a:r>
            <a:r>
              <a:rPr lang="en-US" altLang="ko-KR" sz="1200"/>
              <a:t>, </a:t>
            </a:r>
            <a:r>
              <a:rPr lang="ko-KR" altLang="en-US" sz="1200"/>
              <a:t>전체적인 응답 품질과 처리 효율성을 크게 높일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3. Agent </a:t>
            </a:r>
            <a:r>
              <a:rPr lang="ko-KR" altLang="en-US" sz="1200"/>
              <a:t>확장성 </a:t>
            </a:r>
            <a:r>
              <a:rPr lang="en-US" altLang="ko-KR" sz="1200"/>
              <a:t>/ </a:t>
            </a:r>
            <a:r>
              <a:rPr lang="ko-KR" altLang="en-US" sz="1200"/>
              <a:t>유연성</a:t>
            </a:r>
          </a:p>
          <a:p>
            <a:endParaRPr lang="ko-KR" altLang="en-US" sz="1200" dirty="0"/>
          </a:p>
          <a:p>
            <a:r>
              <a:rPr lang="ko-KR" altLang="en-US" sz="1200" dirty="0"/>
              <a:t>    </a:t>
            </a:r>
            <a:r>
              <a:rPr lang="en-US" altLang="ko-KR" sz="1200"/>
              <a:t>: </a:t>
            </a:r>
            <a:r>
              <a:rPr lang="ko-KR" altLang="en-US" sz="1200"/>
              <a:t>새로운 테이블이 추가될 경우에도</a:t>
            </a:r>
            <a:r>
              <a:rPr lang="en-US" altLang="ko-KR" sz="1200"/>
              <a:t>, </a:t>
            </a:r>
            <a:r>
              <a:rPr lang="ko-KR" altLang="en-US" sz="1200"/>
              <a:t>기존의 </a:t>
            </a:r>
            <a:r>
              <a:rPr lang="en-US" altLang="ko-KR" sz="1200"/>
              <a:t>Table QA Agent </a:t>
            </a:r>
            <a:r>
              <a:rPr lang="ko-KR" altLang="en-US" sz="1200"/>
              <a:t>구조</a:t>
            </a:r>
            <a:r>
              <a:rPr lang="en-US" altLang="ko-KR" sz="1200"/>
              <a:t>(Agent</a:t>
            </a:r>
            <a:r>
              <a:rPr lang="ko-KR" altLang="en-US" sz="1200"/>
              <a:t>별 동일</a:t>
            </a:r>
            <a:r>
              <a:rPr lang="en-US" altLang="ko-KR" sz="1200"/>
              <a:t>)</a:t>
            </a:r>
            <a:r>
              <a:rPr lang="ko-KR" altLang="en-US" sz="1200"/>
              <a:t>를 그대로 유지하면서 프롬프트와 데이터베이스 테이블 연결 정보만 간단히 교체함으로써 손쉽게 확장할 수 있도록 설계되었습니다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</a:t>
            </a:r>
            <a:r>
              <a:rPr lang="ko-KR" altLang="en-US" sz="1200"/>
              <a:t>이로 인해</a:t>
            </a:r>
            <a:r>
              <a:rPr lang="en-US" altLang="ko-KR" sz="1200"/>
              <a:t>, </a:t>
            </a:r>
            <a:r>
              <a:rPr lang="ko-KR" altLang="en-US" sz="1200"/>
              <a:t>유지보수 및 확장성 측면에서 높은 유연성을 확보할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</a:t>
            </a:r>
            <a:r>
              <a:rPr lang="ko-KR" altLang="en-US" sz="1200"/>
              <a:t>또한</a:t>
            </a:r>
            <a:r>
              <a:rPr lang="en-US" altLang="ko-KR" sz="1200"/>
              <a:t>, </a:t>
            </a:r>
            <a:r>
              <a:rPr lang="ko-KR" altLang="en-US" sz="1200"/>
              <a:t>이메일 전송</a:t>
            </a:r>
            <a:r>
              <a:rPr lang="en-US" altLang="ko-KR" sz="1200"/>
              <a:t>, </a:t>
            </a:r>
            <a:r>
              <a:rPr lang="ko-KR" altLang="en-US" sz="1200"/>
              <a:t>차트 생성 등과 같은 새로운 </a:t>
            </a:r>
            <a:r>
              <a:rPr lang="en-US" altLang="ko-KR" sz="1200"/>
              <a:t>Tool</a:t>
            </a:r>
            <a:r>
              <a:rPr lang="ko-KR" altLang="en-US" sz="1200"/>
              <a:t>이 추가될 때마다</a:t>
            </a:r>
            <a:r>
              <a:rPr lang="en-US" altLang="ko-KR" sz="1200"/>
              <a:t>, </a:t>
            </a:r>
            <a:r>
              <a:rPr lang="ko-KR" altLang="en-US" sz="1200"/>
              <a:t>해당 </a:t>
            </a:r>
            <a:r>
              <a:rPr lang="en-US" altLang="ko-KR" sz="1200"/>
              <a:t>Tool</a:t>
            </a:r>
            <a:r>
              <a:rPr lang="ko-KR" altLang="en-US" sz="1200"/>
              <a:t>의 기능과 목적을 명확하게 설명하는 </a:t>
            </a:r>
            <a:r>
              <a:rPr lang="en-US" altLang="ko-KR" sz="1200"/>
              <a:t>description</a:t>
            </a:r>
            <a:r>
              <a:rPr lang="ko-KR" altLang="en-US" sz="1200"/>
              <a:t>을 </a:t>
            </a:r>
            <a:r>
              <a:rPr lang="en-US" altLang="ko-KR" sz="1200"/>
              <a:t>Supervisor_planner</a:t>
            </a:r>
            <a:r>
              <a:rPr lang="ko-KR" altLang="en-US" sz="1200"/>
              <a:t>에 정의해주면</a:t>
            </a:r>
            <a:r>
              <a:rPr lang="en-US" altLang="ko-KR" sz="1200"/>
              <a:t>,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LLM</a:t>
            </a:r>
            <a:r>
              <a:rPr lang="ko-KR" altLang="en-US" sz="1200"/>
              <a:t>은 각 </a:t>
            </a:r>
            <a:r>
              <a:rPr lang="en-US" altLang="ko-KR" sz="1200"/>
              <a:t>Agent</a:t>
            </a:r>
            <a:r>
              <a:rPr lang="ko-KR" altLang="en-US" sz="1200"/>
              <a:t>와 </a:t>
            </a:r>
            <a:r>
              <a:rPr lang="en-US" altLang="ko-KR" sz="1200"/>
              <a:t>Tool</a:t>
            </a:r>
            <a:r>
              <a:rPr lang="ko-KR" altLang="en-US" sz="1200"/>
              <a:t>의 역할과 특성을 이해한 상태에서</a:t>
            </a:r>
            <a:r>
              <a:rPr lang="en-US" altLang="ko-KR" sz="1200"/>
              <a:t>, </a:t>
            </a:r>
            <a:r>
              <a:rPr lang="ko-KR" altLang="en-US" sz="1200"/>
              <a:t>질문에 따라 적절한 실행 계획을 수립</a:t>
            </a:r>
            <a:r>
              <a:rPr lang="en-US" altLang="ko-KR" sz="1200"/>
              <a:t>(Plan)</a:t>
            </a:r>
            <a:r>
              <a:rPr lang="ko-KR" altLang="en-US" sz="1200"/>
              <a:t>하고</a:t>
            </a:r>
            <a:r>
              <a:rPr lang="en-US" altLang="ko-KR" sz="1200"/>
              <a:t>, </a:t>
            </a:r>
            <a:r>
              <a:rPr lang="ko-KR" altLang="en-US" sz="1200"/>
              <a:t>이를 순차적으로 수행</a:t>
            </a:r>
            <a:r>
              <a:rPr lang="en-US" altLang="ko-KR" sz="1200"/>
              <a:t>(Execute)</a:t>
            </a:r>
            <a:r>
              <a:rPr lang="ko-KR" altLang="en-US" sz="1200"/>
              <a:t>할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</a:t>
            </a:r>
            <a:r>
              <a:rPr lang="ko-KR" altLang="en-US" sz="1200"/>
              <a:t>이러한 구조는 다양한 </a:t>
            </a:r>
            <a:r>
              <a:rPr lang="en-US" altLang="ko-KR" sz="1200"/>
              <a:t>Agent</a:t>
            </a:r>
            <a:r>
              <a:rPr lang="ko-KR" altLang="en-US" sz="1200"/>
              <a:t>와 </a:t>
            </a:r>
            <a:r>
              <a:rPr lang="en-US" altLang="ko-KR" sz="1200"/>
              <a:t>Tool</a:t>
            </a:r>
            <a:r>
              <a:rPr lang="ko-KR" altLang="en-US" sz="1200"/>
              <a:t>이 공존하는 환경에서도 </a:t>
            </a:r>
            <a:r>
              <a:rPr lang="en-US" altLang="ko-KR" sz="1200"/>
              <a:t>LLM </a:t>
            </a:r>
            <a:r>
              <a:rPr lang="ko-KR" altLang="en-US" sz="1200"/>
              <a:t>기반의 계획</a:t>
            </a:r>
            <a:r>
              <a:rPr lang="en-US" altLang="ko-KR" sz="1200"/>
              <a:t>-</a:t>
            </a:r>
            <a:r>
              <a:rPr lang="ko-KR" altLang="en-US" sz="1200"/>
              <a:t>실행 체계</a:t>
            </a:r>
            <a:r>
              <a:rPr lang="en-US" altLang="ko-KR" sz="1200"/>
              <a:t>(Plan &amp; Execution)</a:t>
            </a:r>
            <a:r>
              <a:rPr lang="ko-KR" altLang="en-US" sz="1200"/>
              <a:t>를 통해 복잡한 질문에 대한 정확하고 신속한 응답을 가능하게 합니다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DC238CE-2DA7-D1D4-2F41-0206CF6E6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925" y="549139"/>
            <a:ext cx="7404599" cy="3808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895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D0545-B002-A6D9-60D7-7ED7ED310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459F76-0FB4-8CE6-3341-B1B2BEB94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169" y="383449"/>
            <a:ext cx="7391400" cy="11620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C13246-B8AA-EEEE-451A-781E564A6282}"/>
              </a:ext>
            </a:extLst>
          </p:cNvPr>
          <p:cNvSpPr txBox="1"/>
          <p:nvPr/>
        </p:nvSpPr>
        <p:spPr>
          <a:xfrm>
            <a:off x="335280" y="1814260"/>
            <a:ext cx="115214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Sub-Agent</a:t>
            </a:r>
            <a:r>
              <a:rPr lang="ko-KR" altLang="en-US" sz="1200"/>
              <a:t>의 내부 워크플로는 전형적인 </a:t>
            </a:r>
            <a:r>
              <a:rPr lang="en-US" altLang="ko-KR" sz="1200"/>
              <a:t>NL2SQL </a:t>
            </a:r>
            <a:r>
              <a:rPr lang="ko-KR" altLang="en-US" sz="1200"/>
              <a:t>파이프라인을 따른다</a:t>
            </a:r>
            <a:r>
              <a:rPr lang="en-US" altLang="ko-KR" sz="1200"/>
              <a:t>. </a:t>
            </a:r>
            <a:r>
              <a:rPr lang="en-US" altLang="ko-KR" sz="1200" dirty="0"/>
              <a:t>Clarify → Extract → Validate → Analyze </a:t>
            </a:r>
            <a:r>
              <a:rPr lang="ko-KR" altLang="en-US" sz="1200"/>
              <a:t>라는 흐름 속에서</a:t>
            </a:r>
            <a:r>
              <a:rPr lang="en-US" altLang="ko-KR" sz="1200"/>
              <a:t>, </a:t>
            </a:r>
            <a:r>
              <a:rPr lang="ko-KR" altLang="en-US" sz="1200"/>
              <a:t>자연어 질의를 </a:t>
            </a:r>
            <a:r>
              <a:rPr lang="en-US" altLang="ko-KR" sz="1200"/>
              <a:t>SQL</a:t>
            </a:r>
            <a:r>
              <a:rPr lang="ko-KR" altLang="en-US" sz="1200"/>
              <a:t>로 변환하고</a:t>
            </a:r>
            <a:r>
              <a:rPr lang="en-US" altLang="ko-KR" sz="1200"/>
              <a:t>, </a:t>
            </a:r>
            <a:r>
              <a:rPr lang="ko-KR" altLang="en-US" sz="1200"/>
              <a:t>데이터를 추출한 뒤</a:t>
            </a:r>
            <a:r>
              <a:rPr lang="en-US" altLang="ko-KR" sz="1200"/>
              <a:t>, </a:t>
            </a:r>
            <a:r>
              <a:rPr lang="ko-KR" altLang="en-US" sz="1200"/>
              <a:t>분석과 요약을 거쳐 서술형 답변을 생성한다</a:t>
            </a:r>
            <a:r>
              <a:rPr lang="en-US" altLang="ko-KR" sz="1200"/>
              <a:t>. </a:t>
            </a:r>
            <a:r>
              <a:rPr lang="ko-KR" altLang="en-US" sz="1200"/>
              <a:t>각 단계는 </a:t>
            </a:r>
            <a:r>
              <a:rPr lang="en-US" altLang="ko-KR" sz="1200"/>
              <a:t>LangGraph </a:t>
            </a:r>
            <a:r>
              <a:rPr lang="ko-KR" altLang="en-US" sz="1200"/>
              <a:t>워크플로우의 독립 노드로 구현되어</a:t>
            </a:r>
            <a:r>
              <a:rPr lang="en-US" altLang="ko-KR" sz="1200"/>
              <a:t>, </a:t>
            </a:r>
            <a:r>
              <a:rPr lang="ko-KR" altLang="en-US" sz="1200"/>
              <a:t>필요 시 특정 단계를 교체하거나 수정하기 쉽게 설계되어 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Sub-Agent</a:t>
            </a:r>
            <a:r>
              <a:rPr lang="ko-KR" altLang="en-US" sz="1200"/>
              <a:t>의 </a:t>
            </a:r>
            <a:r>
              <a:rPr lang="en-US" altLang="ko-KR" sz="1200"/>
              <a:t>NL2SQL </a:t>
            </a:r>
            <a:r>
              <a:rPr lang="ko-KR" altLang="en-US" sz="1200"/>
              <a:t>파이프라인</a:t>
            </a:r>
          </a:p>
          <a:p>
            <a:r>
              <a:rPr lang="ko-KR" altLang="en-US" sz="1200" dirty="0"/>
              <a:t>질문 이해 및 구체화</a:t>
            </a:r>
            <a:r>
              <a:rPr lang="en-US" altLang="ko-KR" sz="1200"/>
              <a:t>(Clarify)</a:t>
            </a:r>
          </a:p>
          <a:p>
            <a:r>
              <a:rPr lang="ko-KR" altLang="en-US" sz="1200"/>
              <a:t>사용자의 모호한 질문을 해당 테이블 관점에서 구체적인 쿼리 의미로 변환한다</a:t>
            </a:r>
            <a:r>
              <a:rPr lang="en-US" altLang="ko-KR" sz="1200"/>
              <a:t>. </a:t>
            </a:r>
            <a:r>
              <a:rPr lang="ko-KR" altLang="en-US" sz="1200"/>
              <a:t>이를 위해 테이블 스키마</a:t>
            </a:r>
            <a:r>
              <a:rPr lang="en-US" altLang="ko-KR" sz="1200"/>
              <a:t>, </a:t>
            </a:r>
            <a:r>
              <a:rPr lang="ko-KR" altLang="en-US" sz="1200"/>
              <a:t>컬럼 간 종속 관계</a:t>
            </a:r>
            <a:r>
              <a:rPr lang="en-US" altLang="ko-KR" sz="1200"/>
              <a:t>, </a:t>
            </a:r>
            <a:r>
              <a:rPr lang="ko-KR" altLang="en-US" sz="1200"/>
              <a:t>주요 값의 의미를 </a:t>
            </a:r>
            <a:r>
              <a:rPr lang="en-US" altLang="ko-KR" sz="1200"/>
              <a:t>LLM</a:t>
            </a:r>
            <a:r>
              <a:rPr lang="ko-KR" altLang="en-US" sz="1200"/>
              <a:t>에 제공하며</a:t>
            </a:r>
            <a:r>
              <a:rPr lang="en-US" altLang="ko-KR" sz="1200"/>
              <a:t>, </a:t>
            </a:r>
            <a:r>
              <a:rPr lang="ko-KR" altLang="en-US" sz="1200"/>
              <a:t>벡터 검색을 통해 유사 질문</a:t>
            </a:r>
            <a:r>
              <a:rPr lang="en-US" altLang="ko-KR" sz="1200"/>
              <a:t>-</a:t>
            </a:r>
            <a:r>
              <a:rPr lang="ko-KR" altLang="en-US" sz="1200"/>
              <a:t>쿼리 예시를 </a:t>
            </a:r>
            <a:r>
              <a:rPr lang="en-US" altLang="ko-KR" sz="1200"/>
              <a:t>few-shot</a:t>
            </a:r>
            <a:r>
              <a:rPr lang="ko-KR" altLang="en-US" sz="1200"/>
              <a:t>으로 함께 전달한다</a:t>
            </a:r>
            <a:r>
              <a:rPr lang="en-US" altLang="ko-KR" sz="1200"/>
              <a:t>. </a:t>
            </a:r>
            <a:r>
              <a:rPr lang="ko-KR" altLang="en-US" sz="1200"/>
              <a:t>이렇게 하면 </a:t>
            </a:r>
            <a:r>
              <a:rPr lang="en-US" altLang="ko-KR" sz="1200"/>
              <a:t>LLM</a:t>
            </a:r>
            <a:r>
              <a:rPr lang="ko-KR" altLang="en-US" sz="1200"/>
              <a:t>이 유효한 필터 조합과 적절한 조건을 포함한 내부 질의를 생성할 수 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SQL </a:t>
            </a:r>
            <a:r>
              <a:rPr lang="ko-KR" altLang="en-US" sz="1200"/>
              <a:t>생성 및 실행</a:t>
            </a:r>
            <a:r>
              <a:rPr lang="en-US" altLang="ko-KR" sz="1200"/>
              <a:t>(Extract)</a:t>
            </a:r>
          </a:p>
          <a:p>
            <a:r>
              <a:rPr lang="ko-KR" altLang="en-US" sz="1200"/>
              <a:t>구체화된 질의를 바탕으로 </a:t>
            </a:r>
            <a:r>
              <a:rPr lang="en-US" altLang="ko-KR" sz="1200"/>
              <a:t>create_sql_query_chain</a:t>
            </a:r>
            <a:r>
              <a:rPr lang="ko-KR" altLang="en-US" sz="1200"/>
              <a:t>을 사용해 </a:t>
            </a:r>
            <a:r>
              <a:rPr lang="en-US" altLang="ko-KR" sz="1200"/>
              <a:t>SQL</a:t>
            </a:r>
            <a:r>
              <a:rPr lang="ko-KR" altLang="en-US" sz="1200"/>
              <a:t>을 생성하고 실행하여 </a:t>
            </a:r>
            <a:r>
              <a:rPr lang="en-US" altLang="ko-KR" sz="1200"/>
              <a:t>Dataframe</a:t>
            </a:r>
            <a:r>
              <a:rPr lang="ko-KR" altLang="en-US" sz="1200"/>
              <a:t>을 획득한다</a:t>
            </a:r>
            <a:r>
              <a:rPr lang="en-US" altLang="ko-KR" sz="1200"/>
              <a:t>. </a:t>
            </a:r>
            <a:r>
              <a:rPr lang="en-US" altLang="ko-KR" sz="1200" dirty="0"/>
              <a:t>SQL </a:t>
            </a:r>
            <a:r>
              <a:rPr lang="ko-KR" altLang="en-US" sz="1200"/>
              <a:t>생성을 돕기 위해 유사한 질문</a:t>
            </a:r>
            <a:r>
              <a:rPr lang="en-US" altLang="ko-KR" sz="1200"/>
              <a:t>-SQL </a:t>
            </a:r>
            <a:r>
              <a:rPr lang="ko-KR" altLang="en-US" sz="1200"/>
              <a:t>쌍의 예시를 제공하며</a:t>
            </a:r>
            <a:r>
              <a:rPr lang="en-US" altLang="ko-KR" sz="1200"/>
              <a:t>, </a:t>
            </a:r>
            <a:r>
              <a:rPr lang="ko-KR" altLang="en-US" sz="1200"/>
              <a:t>효율성을 위해 </a:t>
            </a:r>
            <a:r>
              <a:rPr lang="en-US" altLang="ko-KR" sz="1200"/>
              <a:t>ReAct </a:t>
            </a:r>
            <a:r>
              <a:rPr lang="ko-KR" altLang="en-US" sz="1200"/>
              <a:t>에이전트 대신 직접 </a:t>
            </a:r>
            <a:r>
              <a:rPr lang="en-US" altLang="ko-KR" sz="1200"/>
              <a:t>SQL</a:t>
            </a:r>
            <a:r>
              <a:rPr lang="ko-KR" altLang="en-US" sz="1200"/>
              <a:t>만 생성하는 체인을 선택한다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결과 검증</a:t>
            </a:r>
            <a:r>
              <a:rPr lang="en-US" altLang="ko-KR" sz="1200"/>
              <a:t>(Validate)</a:t>
            </a:r>
          </a:p>
          <a:p>
            <a:r>
              <a:rPr lang="ko-KR" altLang="en-US" sz="1200"/>
              <a:t>생성된 </a:t>
            </a:r>
            <a:r>
              <a:rPr lang="en-US" altLang="ko-KR" sz="1200"/>
              <a:t>SQL</a:t>
            </a:r>
            <a:r>
              <a:rPr lang="ko-KR" altLang="en-US" sz="1200"/>
              <a:t>이 반환한 </a:t>
            </a:r>
            <a:r>
              <a:rPr lang="en-US" altLang="ko-KR" sz="1200"/>
              <a:t>Dataframe</a:t>
            </a:r>
            <a:r>
              <a:rPr lang="ko-KR" altLang="en-US" sz="1200"/>
              <a:t>이 실제 질문 의도에 부합하는지 검증한다</a:t>
            </a:r>
            <a:r>
              <a:rPr lang="en-US" altLang="ko-KR" sz="1200"/>
              <a:t>. </a:t>
            </a:r>
            <a:r>
              <a:rPr lang="ko-KR" altLang="en-US" sz="1200"/>
              <a:t>상위 행 미리보기와 원 질문을 함께 </a:t>
            </a:r>
            <a:r>
              <a:rPr lang="en-US" altLang="ko-KR" sz="1200"/>
              <a:t>LLM</a:t>
            </a:r>
            <a:r>
              <a:rPr lang="ko-KR" altLang="en-US" sz="1200"/>
              <a:t>에 제시해</a:t>
            </a:r>
            <a:r>
              <a:rPr lang="en-US" altLang="ko-KR" sz="1200"/>
              <a:t>, </a:t>
            </a:r>
            <a:r>
              <a:rPr lang="ko-KR" altLang="en-US" sz="1200"/>
              <a:t>해당 데이터가 답변 가능 여부를 판단하게 한다</a:t>
            </a:r>
            <a:r>
              <a:rPr lang="en-US" altLang="ko-KR" sz="1200"/>
              <a:t>. </a:t>
            </a:r>
            <a:r>
              <a:rPr lang="ko-KR" altLang="en-US" sz="1200"/>
              <a:t>부적합한 경우 피드백 루프를 통해 </a:t>
            </a:r>
            <a:r>
              <a:rPr lang="en-US" altLang="ko-KR" sz="1200"/>
              <a:t>Clarify </a:t>
            </a:r>
            <a:r>
              <a:rPr lang="ko-KR" altLang="en-US" sz="1200"/>
              <a:t>단계로 되돌아간다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데이터 분석 및 답변 생성</a:t>
            </a:r>
            <a:r>
              <a:rPr lang="en-US" altLang="ko-KR" sz="1200"/>
              <a:t>(Analyze)</a:t>
            </a:r>
          </a:p>
          <a:p>
            <a:r>
              <a:rPr lang="ko-KR" altLang="en-US" sz="1200"/>
              <a:t>검증된 </a:t>
            </a:r>
            <a:r>
              <a:rPr lang="en-US" altLang="ko-KR" sz="1200"/>
              <a:t>Dataframe</a:t>
            </a:r>
            <a:r>
              <a:rPr lang="ko-KR" altLang="en-US" sz="1200"/>
              <a:t>을 </a:t>
            </a:r>
            <a:r>
              <a:rPr lang="en-US" altLang="ko-KR" sz="1200"/>
              <a:t>LLM</a:t>
            </a:r>
            <a:r>
              <a:rPr lang="ko-KR" altLang="en-US" sz="1200"/>
              <a:t>이 해석하고 요약하여 사용자 친화적인 자연어 응답으로 변환한다</a:t>
            </a:r>
            <a:r>
              <a:rPr lang="en-US" altLang="ko-KR" sz="1200"/>
              <a:t>. </a:t>
            </a:r>
            <a:r>
              <a:rPr lang="ko-KR" altLang="en-US" sz="1200"/>
              <a:t>테이블 종류별로 현업 요구사항에 맞춘 필수 포함 항목을 반영하고</a:t>
            </a:r>
            <a:r>
              <a:rPr lang="en-US" altLang="ko-KR" sz="1200"/>
              <a:t>, </a:t>
            </a:r>
            <a:r>
              <a:rPr lang="ko-KR" altLang="en-US" sz="1200"/>
              <a:t>필요 시 </a:t>
            </a:r>
            <a:r>
              <a:rPr lang="en-US" altLang="ko-KR" sz="1200"/>
              <a:t>Python </a:t>
            </a:r>
            <a:r>
              <a:rPr lang="ko-KR" altLang="en-US" sz="1200"/>
              <a:t>집계</a:t>
            </a:r>
            <a:r>
              <a:rPr lang="en-US" altLang="ko-KR" sz="1200"/>
              <a:t>·</a:t>
            </a:r>
            <a:r>
              <a:rPr lang="ko-KR" altLang="en-US" sz="1200"/>
              <a:t>전처리 결과를 함께 제공해 분석의 정밀도를 높인다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6360495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B9F63-2CB3-15BB-6955-FC2F84B3A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D7E4E11-4046-DF54-89D2-693F5E684E74}"/>
              </a:ext>
            </a:extLst>
          </p:cNvPr>
          <p:cNvSpPr txBox="1"/>
          <p:nvPr/>
        </p:nvSpPr>
        <p:spPr>
          <a:xfrm>
            <a:off x="3048000" y="892021"/>
            <a:ext cx="609600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"input": "2023</a:t>
            </a:r>
            <a:r>
              <a:rPr lang="ko-KR" altLang="en-US" sz="1200"/>
              <a:t>년 하반기 영국의 세탁기 제품의 </a:t>
            </a:r>
            <a:r>
              <a:rPr lang="en-US" altLang="ko-KR" sz="1200" dirty="0"/>
              <a:t>NPS </a:t>
            </a:r>
            <a:r>
              <a:rPr lang="ko-KR" altLang="en-US" sz="1200"/>
              <a:t>점수를 분석해줘</a:t>
            </a:r>
            <a:r>
              <a:rPr lang="en-US" altLang="ko-KR" sz="1200" dirty="0"/>
              <a:t>."</a:t>
            </a:r>
          </a:p>
          <a:p>
            <a:r>
              <a:rPr lang="en-US" altLang="ko-KR" sz="1200" dirty="0"/>
              <a:t>"output": "'country' </a:t>
            </a:r>
            <a:r>
              <a:rPr lang="ko-KR" altLang="en-US" sz="1200"/>
              <a:t>컬럼에서는 </a:t>
            </a:r>
            <a:r>
              <a:rPr lang="en-US" altLang="ko-KR" sz="1200" dirty="0"/>
              <a:t>'</a:t>
            </a:r>
            <a:r>
              <a:rPr lang="en-US" altLang="ko-KR" sz="1200" dirty="0" err="1"/>
              <a:t>uk</a:t>
            </a:r>
            <a:r>
              <a:rPr lang="en-US" altLang="ko-KR" sz="1200" dirty="0"/>
              <a:t>', 'year' </a:t>
            </a:r>
            <a:r>
              <a:rPr lang="ko-KR" altLang="en-US" sz="1200"/>
              <a:t>컬럼에서는 </a:t>
            </a:r>
            <a:r>
              <a:rPr lang="en-US" altLang="ko-KR" sz="1200" dirty="0"/>
              <a:t>'20232', '</a:t>
            </a:r>
            <a:r>
              <a:rPr lang="en-US" altLang="ko-KR" sz="1200" dirty="0" err="1"/>
              <a:t>cej</a:t>
            </a:r>
            <a:r>
              <a:rPr lang="en-US" altLang="ko-KR" sz="1200" dirty="0"/>
              <a:t>' </a:t>
            </a:r>
            <a:r>
              <a:rPr lang="ko-KR" altLang="en-US" sz="1200"/>
              <a:t>컬럼에서는 </a:t>
            </a:r>
            <a:r>
              <a:rPr lang="en-US" altLang="ko-KR" sz="1200" dirty="0"/>
              <a:t>'total', 'touchpoint' </a:t>
            </a:r>
            <a:r>
              <a:rPr lang="ko-KR" altLang="en-US" sz="1200"/>
              <a:t>컬럼에서는 </a:t>
            </a:r>
            <a:r>
              <a:rPr lang="en-US" altLang="ko-KR" sz="1200"/>
              <a:t>'total', 'product' </a:t>
            </a:r>
            <a:r>
              <a:rPr lang="ko-KR" altLang="en-US" sz="1200"/>
              <a:t>컬럼에서는 </a:t>
            </a:r>
            <a:r>
              <a:rPr lang="en-US" altLang="ko-KR" sz="1200"/>
              <a:t>'wm', 'banner1' </a:t>
            </a:r>
            <a:r>
              <a:rPr lang="ko-KR" altLang="en-US" sz="1200"/>
              <a:t>컬럼에서는 </a:t>
            </a:r>
            <a:r>
              <a:rPr lang="en-US" altLang="ko-KR" sz="1200"/>
              <a:t>'total', 'banner2' </a:t>
            </a:r>
            <a:r>
              <a:rPr lang="ko-KR" altLang="en-US" sz="1200"/>
              <a:t>컬럼에서는 </a:t>
            </a:r>
            <a:r>
              <a:rPr lang="en-US" altLang="ko-KR" sz="1200"/>
              <a:t>'total'</a:t>
            </a:r>
            <a:r>
              <a:rPr lang="ko-KR" altLang="en-US" sz="1200"/>
              <a:t>인 </a:t>
            </a:r>
            <a:r>
              <a:rPr lang="en-US" altLang="ko-KR" sz="1200"/>
              <a:t>row</a:t>
            </a:r>
            <a:r>
              <a:rPr lang="ko-KR" altLang="en-US" sz="1200"/>
              <a:t>에 대해 </a:t>
            </a:r>
            <a:r>
              <a:rPr lang="en-US" altLang="ko-KR" sz="1200"/>
              <a:t>NPS </a:t>
            </a:r>
            <a:r>
              <a:rPr lang="ko-KR" altLang="en-US" sz="1200"/>
              <a:t>결과를 분석해줘</a:t>
            </a:r>
            <a:r>
              <a:rPr lang="en-US" altLang="ko-KR" sz="1200"/>
              <a:t>."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"input": "'touchpoint' </a:t>
            </a:r>
            <a:r>
              <a:rPr lang="ko-KR" altLang="en-US" sz="1200"/>
              <a:t>컬럼에서는 </a:t>
            </a:r>
            <a:r>
              <a:rPr lang="en-US" altLang="ko-KR" sz="1200"/>
              <a:t>'total', 'cej' </a:t>
            </a:r>
            <a:r>
              <a:rPr lang="ko-KR" altLang="en-US" sz="1200"/>
              <a:t>컬럼에서는 </a:t>
            </a:r>
            <a:r>
              <a:rPr lang="en-US" altLang="ko-KR" sz="1200"/>
              <a:t>'total', 'product' </a:t>
            </a:r>
            <a:r>
              <a:rPr lang="ko-KR" altLang="en-US" sz="1200"/>
              <a:t>컬럼에서는 </a:t>
            </a:r>
            <a:r>
              <a:rPr lang="en-US" altLang="ko-KR" sz="1200"/>
              <a:t>'ac', 'year' </a:t>
            </a:r>
            <a:r>
              <a:rPr lang="ko-KR" altLang="en-US" sz="1200"/>
              <a:t>컬럼에서는 </a:t>
            </a:r>
            <a:r>
              <a:rPr lang="en-US" altLang="ko-KR" sz="1200"/>
              <a:t>'2024', 'banner1' </a:t>
            </a:r>
            <a:r>
              <a:rPr lang="ko-KR" altLang="en-US" sz="1200"/>
              <a:t>컬럼에서는 </a:t>
            </a:r>
            <a:r>
              <a:rPr lang="en-US" altLang="ko-KR" sz="1200"/>
              <a:t>'age', 'banner2' </a:t>
            </a:r>
            <a:r>
              <a:rPr lang="ko-KR" altLang="en-US" sz="1200"/>
              <a:t>컬럼에서는 </a:t>
            </a:r>
            <a:r>
              <a:rPr lang="en-US" altLang="ko-KR" sz="1200"/>
              <a:t>'30_39'</a:t>
            </a:r>
            <a:r>
              <a:rPr lang="ko-KR" altLang="en-US" sz="1200"/>
              <a:t>인 </a:t>
            </a:r>
            <a:r>
              <a:rPr lang="en-US" altLang="ko-KR" sz="1200"/>
              <a:t>row</a:t>
            </a:r>
            <a:r>
              <a:rPr lang="ko-KR" altLang="en-US" sz="1200"/>
              <a:t>에 대해 </a:t>
            </a:r>
            <a:r>
              <a:rPr lang="en-US" altLang="ko-KR" sz="1200"/>
              <a:t>NPS </a:t>
            </a:r>
            <a:r>
              <a:rPr lang="ko-KR" altLang="en-US" sz="1200"/>
              <a:t>결과를 분석해줘</a:t>
            </a:r>
            <a:r>
              <a:rPr lang="en-US" altLang="ko-KR" sz="1200"/>
              <a:t>."</a:t>
            </a:r>
          </a:p>
          <a:p>
            <a:r>
              <a:rPr lang="en-US" altLang="ko-KR" sz="1200" dirty="0"/>
              <a:t>"</a:t>
            </a:r>
            <a:r>
              <a:rPr lang="en-US" altLang="ko-KR" sz="1200" dirty="0" err="1"/>
              <a:t>retrieving_sql_code</a:t>
            </a:r>
            <a:r>
              <a:rPr lang="en-US" altLang="ko-KR" sz="1200" dirty="0"/>
              <a:t>": "SELECT * FROM </a:t>
            </a:r>
            <a:r>
              <a:rPr lang="en-US" altLang="ko-KR" sz="1200" dirty="0" err="1"/>
              <a:t>nps_score_table</a:t>
            </a:r>
            <a:r>
              <a:rPr lang="en-US" altLang="ko-KR" sz="1200" dirty="0"/>
              <a:t> WHERE LOWER(touchpoint) = LOWER('total') and LOWER(</a:t>
            </a:r>
            <a:r>
              <a:rPr lang="en-US" altLang="ko-KR" sz="1200" dirty="0" err="1"/>
              <a:t>cej</a:t>
            </a:r>
            <a:r>
              <a:rPr lang="en-US" altLang="ko-KR" sz="1200" dirty="0"/>
              <a:t>) = LOWER('total') AND LOWER(product) = LOWER('ac') AND year = 2024 AND LOWER(banner1) = LOWER('age') AND LOWER(banner2) = LOWER('30_39');"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AF750C-BEC1-F4DD-AC58-1EF4DDFED644}"/>
              </a:ext>
            </a:extLst>
          </p:cNvPr>
          <p:cNvSpPr txBox="1"/>
          <p:nvPr/>
        </p:nvSpPr>
        <p:spPr>
          <a:xfrm>
            <a:off x="877455" y="3906981"/>
            <a:ext cx="57265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질문과 </a:t>
            </a:r>
            <a:r>
              <a:rPr lang="en-US" altLang="ko-KR" sz="1200" dirty="0"/>
              <a:t>few shot samples</a:t>
            </a:r>
            <a:r>
              <a:rPr lang="ko-KR" altLang="en-US" sz="1200"/>
              <a:t>를 코사인 유사도 기준으로 검색 결과 출력 </a:t>
            </a:r>
            <a:r>
              <a:rPr lang="en-US" altLang="ko-KR" sz="1200" dirty="0"/>
              <a:t>(</a:t>
            </a:r>
            <a:r>
              <a:rPr lang="ko-KR" altLang="en-US" sz="1200"/>
              <a:t>유클리드 거리 사용했을 떄 보다 성능 좋았음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ko-KR" altLang="en-US" sz="1200" dirty="0"/>
              <a:t>검색된 유사문서 중 관련도가 높은 문서를 </a:t>
            </a:r>
            <a:r>
              <a:rPr lang="ko-KR" altLang="en-US" sz="1200" dirty="0" err="1"/>
              <a:t>맨앞과</a:t>
            </a:r>
            <a:r>
              <a:rPr lang="ko-KR" altLang="en-US" sz="1200" dirty="0"/>
              <a:t> </a:t>
            </a:r>
            <a:r>
              <a:rPr lang="ko-KR" altLang="en-US" sz="1200" dirty="0" err="1"/>
              <a:t>맨뒤에</a:t>
            </a:r>
            <a:r>
              <a:rPr lang="ko-KR" altLang="en-US" sz="1200" dirty="0"/>
              <a:t> 재정배치</a:t>
            </a:r>
          </a:p>
        </p:txBody>
      </p:sp>
    </p:spTree>
    <p:extLst>
      <p:ext uri="{BB962C8B-B14F-4D97-AF65-F5344CB8AC3E}">
        <p14:creationId xmlns:p14="http://schemas.microsoft.com/office/powerpoint/2010/main" val="2762653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BE938-906B-F63B-A411-9D0FA4B29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F44EDE0-3447-3FE1-82F6-79885F6E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53" y="1022304"/>
            <a:ext cx="9972675" cy="362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7049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1955B-C729-950E-9A93-E26A32B1D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483293-4EC0-B27E-12B8-F030CC91C140}"/>
              </a:ext>
            </a:extLst>
          </p:cNvPr>
          <p:cNvSpPr txBox="1"/>
          <p:nvPr/>
        </p:nvSpPr>
        <p:spPr>
          <a:xfrm>
            <a:off x="960582" y="794327"/>
            <a:ext cx="829425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ko-KR" altLang="en-US"/>
              <a:t>질문을 </a:t>
            </a:r>
            <a:r>
              <a:rPr lang="ko-KR" altLang="en-US" dirty="0"/>
              <a:t>분석하여 </a:t>
            </a:r>
            <a:r>
              <a:rPr lang="en-US" altLang="ko-KR" dirty="0" err="1"/>
              <a:t>nps</a:t>
            </a:r>
            <a:r>
              <a:rPr lang="en-US" altLang="ko-KR" dirty="0"/>
              <a:t> </a:t>
            </a:r>
            <a:r>
              <a:rPr lang="ko-KR" altLang="en-US"/>
              <a:t>관련 질문인지 파악하고</a:t>
            </a:r>
            <a:r>
              <a:rPr lang="en-US" altLang="ko-KR"/>
              <a:t>, year</a:t>
            </a:r>
            <a:r>
              <a:rPr lang="ko-KR" altLang="en-US"/>
              <a:t>와 </a:t>
            </a:r>
            <a:r>
              <a:rPr lang="en-US" altLang="ko-KR"/>
              <a:t>country </a:t>
            </a:r>
            <a:r>
              <a:rPr lang="ko-KR" altLang="en-US"/>
              <a:t>정합성 판별</a:t>
            </a:r>
            <a:r>
              <a:rPr lang="en-US" altLang="ko-KR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en-US" altLang="ko-KR" dirty="0" err="1"/>
              <a:t>Postgre</a:t>
            </a:r>
            <a:r>
              <a:rPr lang="en-US" altLang="ko-KR" dirty="0"/>
              <a:t> </a:t>
            </a:r>
            <a:r>
              <a:rPr lang="en-US" altLang="ko-KR" dirty="0" err="1"/>
              <a:t>db</a:t>
            </a:r>
            <a:r>
              <a:rPr lang="en-US" altLang="ko-KR" dirty="0"/>
              <a:t> </a:t>
            </a:r>
            <a:r>
              <a:rPr lang="ko-KR" altLang="en-US"/>
              <a:t>연결 후</a:t>
            </a:r>
            <a:r>
              <a:rPr lang="en-US" altLang="ko-KR"/>
              <a:t> chat history </a:t>
            </a:r>
            <a:r>
              <a:rPr lang="ko-KR" altLang="en-US"/>
              <a:t>기능 구현</a:t>
            </a:r>
            <a:endParaRPr lang="en-US" altLang="ko-KR"/>
          </a:p>
          <a:p>
            <a:endParaRPr lang="en-US" altLang="ko-KR" dirty="0"/>
          </a:p>
          <a:p>
            <a:r>
              <a:rPr lang="en-US" altLang="ko-KR" dirty="0"/>
              <a:t>3. streaming</a:t>
            </a:r>
            <a:r>
              <a:rPr lang="ko-KR" altLang="en-US"/>
              <a:t> 기능 구현</a:t>
            </a:r>
          </a:p>
        </p:txBody>
      </p:sp>
    </p:spTree>
    <p:extLst>
      <p:ext uri="{BB962C8B-B14F-4D97-AF65-F5344CB8AC3E}">
        <p14:creationId xmlns:p14="http://schemas.microsoft.com/office/powerpoint/2010/main" val="27047512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14682-6538-CFD8-972C-CDFF6718C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13ACFBE-6E0B-DF91-6659-829241631FA4}"/>
              </a:ext>
            </a:extLst>
          </p:cNvPr>
          <p:cNvSpPr/>
          <p:nvPr/>
        </p:nvSpPr>
        <p:spPr>
          <a:xfrm>
            <a:off x="2087418" y="1459345"/>
            <a:ext cx="6825673" cy="16533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/>
              <a:t>Nl2sql</a:t>
            </a:r>
            <a:r>
              <a:rPr lang="ko-KR" altLang="en-US"/>
              <a:t> 성능 검증 로직 개발</a:t>
            </a:r>
          </a:p>
        </p:txBody>
      </p:sp>
    </p:spTree>
    <p:extLst>
      <p:ext uri="{BB962C8B-B14F-4D97-AF65-F5344CB8AC3E}">
        <p14:creationId xmlns:p14="http://schemas.microsoft.com/office/powerpoint/2010/main" val="18403807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EA2F7-8A1B-D5BD-46C0-E48A0EDED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FEB8E5A-74A2-B21E-A749-BAEB7AFFE645}"/>
              </a:ext>
            </a:extLst>
          </p:cNvPr>
          <p:cNvSpPr txBox="1"/>
          <p:nvPr/>
        </p:nvSpPr>
        <p:spPr>
          <a:xfrm>
            <a:off x="757382" y="766618"/>
            <a:ext cx="11009745" cy="98796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같은 의미를 지닌 컬럼 존재</a:t>
            </a:r>
          </a:p>
          <a:p>
            <a:r>
              <a:rPr lang="ko-KR" altLang="en-US" sz="1200" dirty="0"/>
              <a:t>질문 </a:t>
            </a:r>
            <a:r>
              <a:rPr lang="en-US" altLang="ko-KR" sz="1200"/>
              <a:t>: </a:t>
            </a:r>
            <a:r>
              <a:rPr lang="ko-KR" altLang="en-US" sz="1200"/>
              <a:t>아시아 지역의 국가들 중에서 매장 수가 가장 많은 국가는 어디인가요</a:t>
            </a:r>
            <a:r>
              <a:rPr lang="en-US" altLang="ko-KR" sz="1200"/>
              <a:t>?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gold_sql</a:t>
            </a:r>
            <a:r>
              <a:rPr lang="en-US" altLang="ko-KR" sz="1200" dirty="0"/>
              <a:t>  :SELECT </a:t>
            </a:r>
            <a:r>
              <a:rPr lang="en-US" altLang="ko-KR" sz="1200" dirty="0" err="1"/>
              <a:t>a.COUNTRY_ENG</a:t>
            </a:r>
            <a:r>
              <a:rPr lang="en-US" altLang="ko-KR" sz="1200" dirty="0"/>
              <a:t>, MAX(</a:t>
            </a:r>
            <a:r>
              <a:rPr lang="en-US" altLang="ko-KR" sz="1200" dirty="0" err="1"/>
              <a:t>b.NUMBER_OF_STORES</a:t>
            </a:r>
            <a:r>
              <a:rPr lang="en-US" altLang="ko-KR" sz="1200" dirty="0"/>
              <a:t>) FROM ....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gen_sql</a:t>
            </a:r>
            <a:r>
              <a:rPr lang="en-US" altLang="ko-KR" sz="1200" dirty="0"/>
              <a:t> : SELECT </a:t>
            </a:r>
            <a:r>
              <a:rPr lang="en-US" altLang="ko-KR" sz="1200" dirty="0" err="1"/>
              <a:t>a.COUNTRY_BO</a:t>
            </a:r>
            <a:r>
              <a:rPr lang="en-US" altLang="ko-KR" sz="1200" dirty="0"/>
              <a:t>, SUM(</a:t>
            </a:r>
            <a:r>
              <a:rPr lang="en-US" altLang="ko-KR" sz="1200" dirty="0" err="1"/>
              <a:t>a.NUMBER_OF_STORES</a:t>
            </a:r>
            <a:r>
              <a:rPr lang="en-US" altLang="ko-KR" sz="1200" dirty="0"/>
              <a:t>) AS </a:t>
            </a:r>
            <a:r>
              <a:rPr lang="en-US" altLang="ko-KR" sz="1200" dirty="0" err="1"/>
              <a:t>total_stores</a:t>
            </a:r>
            <a:r>
              <a:rPr lang="en-US" altLang="ko-KR" sz="1200" dirty="0"/>
              <a:t> FROM ....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/>
              <a:t>성능 측정 방법론 보완</a:t>
            </a:r>
          </a:p>
          <a:p>
            <a:endParaRPr lang="ko-KR" altLang="en-US" sz="1200" dirty="0"/>
          </a:p>
          <a:p>
            <a:r>
              <a:rPr lang="ko-KR" altLang="en-US" sz="1200" dirty="0"/>
              <a:t>자연어 질문</a:t>
            </a:r>
            <a:r>
              <a:rPr lang="en-US" altLang="ko-KR" sz="1200"/>
              <a:t>(NL), </a:t>
            </a:r>
            <a:r>
              <a:rPr lang="ko-KR" altLang="en-US" sz="1200"/>
              <a:t>데이터베이스 스키마</a:t>
            </a:r>
            <a:r>
              <a:rPr lang="en-US" altLang="ko-KR" sz="1200"/>
              <a:t>(DB), </a:t>
            </a:r>
            <a:r>
              <a:rPr lang="ko-KR" altLang="en-US" sz="1200"/>
              <a:t>생성된 </a:t>
            </a:r>
            <a:r>
              <a:rPr lang="en-US" altLang="ko-KR" sz="1200"/>
              <a:t>SQL(SQL) </a:t>
            </a:r>
            <a:r>
              <a:rPr lang="ko-KR" altLang="en-US" sz="1200"/>
              <a:t>이 서로 의미적으로 일치하는지를 판단</a:t>
            </a:r>
          </a:p>
          <a:p>
            <a:r>
              <a:rPr lang="en-US" altLang="ko-KR" sz="1200"/>
              <a:t>(NL2SQL-BUGs: A Benchmark for Detecting Semantic Errors in NL2SQL Translation, https://arxiv.org/pdf/2503.11984)</a:t>
            </a:r>
          </a:p>
          <a:p>
            <a:r>
              <a:rPr lang="ko-KR" altLang="en-US" sz="1200"/>
              <a:t>논문에서는 </a:t>
            </a:r>
            <a:r>
              <a:rPr lang="en-US" altLang="ko-KR" sz="1200"/>
              <a:t>semantic error</a:t>
            </a:r>
            <a:r>
              <a:rPr lang="ko-KR" altLang="en-US" sz="1200"/>
              <a:t>를 체계적으로 분류하기 위해 </a:t>
            </a:r>
            <a:r>
              <a:rPr lang="en-US" altLang="ko-KR" sz="1200"/>
              <a:t>2-level taxonomy</a:t>
            </a:r>
            <a:r>
              <a:rPr lang="ko-KR" altLang="en-US" sz="1200"/>
              <a:t>를 제안</a:t>
            </a:r>
            <a:r>
              <a:rPr lang="en-US" altLang="ko-KR" sz="1200"/>
              <a:t>.</a:t>
            </a:r>
          </a:p>
          <a:p>
            <a:r>
              <a:rPr lang="en-US" altLang="ko-KR" sz="1200" dirty="0"/>
              <a:t>([03-01-03-04-04] AI Readable </a:t>
            </a:r>
            <a:r>
              <a:rPr lang="ko-KR" altLang="en-US" sz="1200"/>
              <a:t>성능 측정을 위한 질문 정답 셋 검증 </a:t>
            </a:r>
            <a:r>
              <a:rPr lang="en-US" altLang="ko-KR" sz="1200"/>
              <a:t>v3)</a:t>
            </a:r>
          </a:p>
          <a:p>
            <a:endParaRPr lang="en-US" altLang="ko-KR" sz="1200" dirty="0"/>
          </a:p>
          <a:p>
            <a:r>
              <a:rPr lang="ko-KR" altLang="en-US" sz="1200"/>
              <a:t>상위 </a:t>
            </a:r>
            <a:r>
              <a:rPr lang="en-US" altLang="ko-KR" sz="1200"/>
              <a:t>9</a:t>
            </a:r>
            <a:r>
              <a:rPr lang="ko-KR" altLang="en-US" sz="1200"/>
              <a:t>개 </a:t>
            </a:r>
            <a:r>
              <a:rPr lang="en-US" altLang="ko-KR" sz="1200"/>
              <a:t>main category</a:t>
            </a:r>
          </a:p>
          <a:p>
            <a:endParaRPr lang="en-US" altLang="ko-KR" sz="1200" dirty="0"/>
          </a:p>
          <a:p>
            <a:r>
              <a:rPr lang="en-US" altLang="ko-KR" sz="1200" dirty="0"/>
              <a:t>Attribute-related Errors [</a:t>
            </a:r>
            <a:r>
              <a:rPr lang="ko-KR" altLang="en-US" sz="1200"/>
              <a:t>컬럼</a:t>
            </a:r>
            <a:r>
              <a:rPr lang="en-US" altLang="ko-KR" sz="1200"/>
              <a:t>(</a:t>
            </a:r>
            <a:r>
              <a:rPr lang="ko-KR" altLang="en-US" sz="1200"/>
              <a:t>속성</a:t>
            </a:r>
            <a:r>
              <a:rPr lang="en-US" altLang="ko-KR" sz="1200"/>
              <a:t>)</a:t>
            </a:r>
            <a:r>
              <a:rPr lang="ko-KR" altLang="en-US" sz="1200"/>
              <a:t>과 관련된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Table-related Errors [</a:t>
            </a:r>
            <a:r>
              <a:rPr lang="ko-KR" altLang="en-US" sz="1200"/>
              <a:t>테이블과 </a:t>
            </a:r>
            <a:r>
              <a:rPr lang="en-US" altLang="ko-KR" sz="1200"/>
              <a:t>JOIN </a:t>
            </a:r>
            <a:r>
              <a:rPr lang="ko-KR" altLang="en-US" sz="1200"/>
              <a:t>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Value-related Errors [</a:t>
            </a:r>
            <a:r>
              <a:rPr lang="ko-KR" altLang="en-US" sz="1200"/>
              <a:t>값 자체와 형식 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Operator-related Errors [</a:t>
            </a:r>
            <a:r>
              <a:rPr lang="ko-KR" altLang="en-US" sz="1200"/>
              <a:t>연산자 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Condition-related Errors [WHERE, HAVING </a:t>
            </a:r>
            <a:r>
              <a:rPr lang="ko-KR" altLang="en-US" sz="1200"/>
              <a:t>등의 조건 자체와 관련된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Function-related Errors [</a:t>
            </a:r>
            <a:r>
              <a:rPr lang="ko-KR" altLang="en-US" sz="1200"/>
              <a:t>함수 사용 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Clause-related Errors [SQL </a:t>
            </a:r>
            <a:r>
              <a:rPr lang="ko-KR" altLang="en-US" sz="1200"/>
              <a:t>절</a:t>
            </a:r>
            <a:r>
              <a:rPr lang="en-US" altLang="ko-KR" sz="1200"/>
              <a:t>(Clause) </a:t>
            </a:r>
            <a:r>
              <a:rPr lang="ko-KR" altLang="en-US" sz="1200"/>
              <a:t>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Subquery-related Errors [</a:t>
            </a:r>
            <a:r>
              <a:rPr lang="ko-KR" altLang="en-US" sz="1200"/>
              <a:t>서브쿼리 관련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Other Errors [</a:t>
            </a:r>
            <a:r>
              <a:rPr lang="ko-KR" altLang="en-US" sz="1200"/>
              <a:t>그 외 오류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ko-KR" altLang="en-US" sz="1200"/>
              <a:t>하위 </a:t>
            </a:r>
            <a:r>
              <a:rPr lang="en-US" altLang="ko-KR" sz="1200"/>
              <a:t>31</a:t>
            </a:r>
            <a:r>
              <a:rPr lang="ko-KR" altLang="en-US" sz="1200"/>
              <a:t>개 </a:t>
            </a:r>
            <a:r>
              <a:rPr lang="en-US" altLang="ko-KR" sz="1200"/>
              <a:t>subtype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attribute_mismatch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table_missing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join_condition_mismatch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value_mismatch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explicit_condition_missing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aggregate_function_mismatch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clause_missing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distinct_mismatch</a:t>
            </a:r>
            <a:r>
              <a:rPr lang="en-US" altLang="ko-KR" sz="1200" dirty="0"/>
              <a:t> </a:t>
            </a:r>
            <a:r>
              <a:rPr lang="ko-KR" altLang="en-US" sz="1200"/>
              <a:t>등</a:t>
            </a:r>
          </a:p>
          <a:p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981567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0A176-2117-3507-8536-C80B377A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518D5F0-628E-4851-FAAD-D414B033E7FA}"/>
              </a:ext>
            </a:extLst>
          </p:cNvPr>
          <p:cNvSpPr txBox="1"/>
          <p:nvPr/>
        </p:nvSpPr>
        <p:spPr>
          <a:xfrm>
            <a:off x="785091" y="895927"/>
            <a:ext cx="1653309" cy="296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[</a:t>
            </a:r>
            <a:r>
              <a:rPr lang="ko-KR" altLang="en-US" sz="1200"/>
              <a:t>원본 카탈로그 엑셀 로드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[ic360_table_name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테이블 목적 </a:t>
            </a:r>
            <a:r>
              <a:rPr lang="en-US" altLang="ko-KR" sz="1200"/>
              <a:t>dict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시스템별 데이터 분리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개인정보</a:t>
            </a:r>
            <a:r>
              <a:rPr lang="en-US" altLang="ko-KR" sz="1200"/>
              <a:t>/</a:t>
            </a:r>
            <a:r>
              <a:rPr lang="ko-KR" altLang="en-US" sz="1200"/>
              <a:t>고객정보 컬럼 제외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테이블 블록 생성</a:t>
            </a:r>
            <a:r>
              <a:rPr lang="en-US" altLang="ko-KR" sz="1200"/>
              <a:t>: df_to_prompt_tables_by_table]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목적 기반 테이블 그룹 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유사 목적 그룹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보완 관계 그룹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[Stage 1: join candidate set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join key </a:t>
            </a:r>
            <a:r>
              <a:rPr lang="ko-KR" altLang="en-US" sz="1200"/>
              <a:t>후보 추정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confidence </a:t>
            </a:r>
            <a:r>
              <a:rPr lang="ko-KR" altLang="en-US" sz="1200"/>
              <a:t>부여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세트 중복 제거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세트별 반복 처리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[Stage 2: </a:t>
            </a:r>
            <a:r>
              <a:rPr lang="ko-KR" altLang="en-US" sz="1200"/>
              <a:t>질문 </a:t>
            </a:r>
            <a:r>
              <a:rPr lang="en-US" altLang="ko-KR" sz="1200"/>
              <a:t>+ semantic_form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일반 생성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필요 시 </a:t>
            </a:r>
            <a:r>
              <a:rPr lang="en-US" altLang="ko-KR" sz="1200"/>
              <a:t>join-focused </a:t>
            </a:r>
            <a:r>
              <a:rPr lang="ko-KR" altLang="en-US" sz="1200"/>
              <a:t>생성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[semantic filtering]</a:t>
            </a:r>
          </a:p>
          <a:p>
            <a:r>
              <a:rPr lang="en-US" altLang="ko-KR" sz="1200" dirty="0"/>
              <a:t>  - group by </a:t>
            </a:r>
            <a:r>
              <a:rPr lang="ko-KR" altLang="en-US" sz="1200"/>
              <a:t>위반 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불필요 </a:t>
            </a:r>
            <a:r>
              <a:rPr lang="en-US" altLang="ko-KR" sz="1200"/>
              <a:t>join </a:t>
            </a:r>
            <a:r>
              <a:rPr lang="ko-KR" altLang="en-US" sz="1200"/>
              <a:t>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needed_tables </a:t>
            </a:r>
            <a:r>
              <a:rPr lang="ko-KR" altLang="en-US" sz="1200"/>
              <a:t>불일치 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join_used </a:t>
            </a:r>
            <a:r>
              <a:rPr lang="ko-KR" altLang="en-US" sz="1200"/>
              <a:t>불일치 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trivial </a:t>
            </a:r>
            <a:r>
              <a:rPr lang="ko-KR" altLang="en-US" sz="1200"/>
              <a:t>질문 제거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[value filtering]</a:t>
            </a:r>
          </a:p>
          <a:p>
            <a:r>
              <a:rPr lang="en-US" altLang="ko-KR" sz="1200" dirty="0"/>
              <a:t>  - placeholder </a:t>
            </a:r>
            <a:r>
              <a:rPr lang="ko-KR" altLang="en-US" sz="1200"/>
              <a:t>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evidence </a:t>
            </a:r>
            <a:r>
              <a:rPr lang="ko-KR" altLang="en-US" sz="1200"/>
              <a:t>누락 제거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</a:t>
            </a:r>
            <a:r>
              <a:rPr lang="ko-KR" altLang="en-US" sz="1200"/>
              <a:t>잘못된 </a:t>
            </a:r>
            <a:r>
              <a:rPr lang="en-US" altLang="ko-KR" sz="1200"/>
              <a:t>filter value </a:t>
            </a:r>
            <a:r>
              <a:rPr lang="ko-KR" altLang="en-US" sz="1200"/>
              <a:t>제거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중복 제거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[Stage 3: gold SQL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en-US" altLang="ko-KR" sz="1200" dirty="0" err="1"/>
              <a:t>semantic_form</a:t>
            </a:r>
            <a:r>
              <a:rPr lang="en-US" altLang="ko-KR" sz="1200" dirty="0"/>
              <a:t> </a:t>
            </a:r>
            <a:r>
              <a:rPr lang="ko-KR" altLang="en-US" sz="1200"/>
              <a:t>기준 </a:t>
            </a:r>
            <a:r>
              <a:rPr lang="en-US" altLang="ko-KR" sz="1200"/>
              <a:t>SQL </a:t>
            </a:r>
            <a:r>
              <a:rPr lang="ko-KR" altLang="en-US" sz="1200"/>
              <a:t>생성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[SQL </a:t>
            </a:r>
            <a:r>
              <a:rPr lang="ko-KR" altLang="en-US" sz="1200"/>
              <a:t>형식 검증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normalize</a:t>
            </a:r>
          </a:p>
          <a:p>
            <a:r>
              <a:rPr lang="en-US" altLang="ko-KR" sz="1200" dirty="0"/>
              <a:t>  - V_L0 </a:t>
            </a:r>
            <a:r>
              <a:rPr lang="ko-KR" altLang="en-US" sz="1200"/>
              <a:t>오타 검사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BigQuery / PostgreSQL prefix </a:t>
            </a:r>
            <a:r>
              <a:rPr lang="ko-KR" altLang="en-US" sz="1200"/>
              <a:t>검사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[SQL </a:t>
            </a:r>
            <a:r>
              <a:rPr lang="ko-KR" altLang="en-US" sz="1200"/>
              <a:t>논리 검증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질문 </a:t>
            </a:r>
            <a:r>
              <a:rPr lang="en-US" altLang="ko-KR" sz="1200"/>
              <a:t>/ semantic_form / </a:t>
            </a:r>
            <a:r>
              <a:rPr lang="ko-KR" altLang="en-US" sz="1200"/>
              <a:t>카탈로그 </a:t>
            </a:r>
            <a:r>
              <a:rPr lang="en-US" altLang="ko-KR" sz="1200"/>
              <a:t>/ SQL </a:t>
            </a:r>
            <a:r>
              <a:rPr lang="ko-KR" altLang="en-US" sz="1200"/>
              <a:t>비교</a:t>
            </a:r>
          </a:p>
          <a:p>
            <a:r>
              <a:rPr lang="ko-KR" altLang="en-US" sz="1200" dirty="0"/>
              <a:t>  </a:t>
            </a:r>
            <a:r>
              <a:rPr lang="en-US" altLang="ko-KR" sz="1200"/>
              <a:t>- O / X </a:t>
            </a:r>
            <a:r>
              <a:rPr lang="ko-KR" altLang="en-US" sz="1200"/>
              <a:t>판정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+------------------------------+</a:t>
            </a:r>
          </a:p>
          <a:p>
            <a:r>
              <a:rPr lang="en-US" altLang="ko-KR" sz="1200" dirty="0"/>
              <a:t>        | O                            | X</a:t>
            </a:r>
          </a:p>
          <a:p>
            <a:r>
              <a:rPr lang="en-US" altLang="ko-KR" sz="1200" dirty="0"/>
              <a:t>        v                              </a:t>
            </a:r>
            <a:r>
              <a:rPr lang="en-US" altLang="ko-KR" sz="1200" dirty="0" err="1"/>
              <a:t>v</a:t>
            </a:r>
            <a:endParaRPr lang="en-US" altLang="ko-KR" sz="1200" dirty="0"/>
          </a:p>
          <a:p>
            <a:r>
              <a:rPr lang="en-US" altLang="ko-KR" sz="1200" dirty="0"/>
              <a:t>   [</a:t>
            </a:r>
            <a:r>
              <a:rPr lang="ko-KR" altLang="en-US" sz="1200"/>
              <a:t>채택 후보</a:t>
            </a:r>
            <a:r>
              <a:rPr lang="en-US" altLang="ko-KR" sz="1200"/>
              <a:t>]                   [SQL repair </a:t>
            </a:r>
            <a:r>
              <a:rPr lang="ko-KR" altLang="en-US" sz="1200"/>
              <a:t>시도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                               |</a:t>
            </a:r>
          </a:p>
          <a:p>
            <a:r>
              <a:rPr lang="en-US" altLang="ko-KR" sz="1200" dirty="0"/>
              <a:t>                                       v</a:t>
            </a:r>
          </a:p>
          <a:p>
            <a:r>
              <a:rPr lang="en-US" altLang="ko-KR" sz="1200" dirty="0"/>
              <a:t>                              [repair SQL </a:t>
            </a:r>
            <a:r>
              <a:rPr lang="ko-KR" altLang="en-US" sz="1200"/>
              <a:t>재검증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                               |</a:t>
            </a:r>
          </a:p>
          <a:p>
            <a:r>
              <a:rPr lang="en-US" altLang="ko-KR" sz="1200" dirty="0"/>
              <a:t>                                       +-------------+</a:t>
            </a:r>
          </a:p>
          <a:p>
            <a:r>
              <a:rPr lang="en-US" altLang="ko-KR" sz="1200" dirty="0"/>
              <a:t>                                       | O           | X</a:t>
            </a:r>
          </a:p>
          <a:p>
            <a:r>
              <a:rPr lang="en-US" altLang="ko-KR" sz="1200" dirty="0"/>
              <a:t>                                       v             </a:t>
            </a:r>
            <a:r>
              <a:rPr lang="en-US" altLang="ko-KR" sz="1200" dirty="0" err="1"/>
              <a:t>v</a:t>
            </a:r>
            <a:endParaRPr lang="en-US" altLang="ko-KR" sz="1200" dirty="0"/>
          </a:p>
          <a:p>
            <a:r>
              <a:rPr lang="en-US" altLang="ko-KR" sz="1200" dirty="0"/>
              <a:t>                           [</a:t>
            </a:r>
            <a:r>
              <a:rPr lang="en-US" altLang="ko-KR" sz="1200" dirty="0" err="1"/>
              <a:t>semantic_form</a:t>
            </a:r>
            <a:r>
              <a:rPr lang="en-US" altLang="ko-KR" sz="1200" dirty="0"/>
              <a:t> repair]   [</a:t>
            </a:r>
            <a:r>
              <a:rPr lang="ko-KR" altLang="en-US" sz="1200"/>
              <a:t>폐기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                               |</a:t>
            </a:r>
          </a:p>
          <a:p>
            <a:r>
              <a:rPr lang="en-US" altLang="ko-KR" sz="1200" dirty="0"/>
              <a:t>                                       v</a:t>
            </a:r>
          </a:p>
          <a:p>
            <a:r>
              <a:rPr lang="en-US" altLang="ko-KR" sz="1200" dirty="0"/>
              <a:t>                        [SQL </a:t>
            </a:r>
            <a:r>
              <a:rPr lang="ko-KR" altLang="en-US" sz="1200"/>
              <a:t>재생성 </a:t>
            </a:r>
            <a:r>
              <a:rPr lang="en-US" altLang="ko-KR" sz="1200"/>
              <a:t>+ </a:t>
            </a:r>
            <a:r>
              <a:rPr lang="ko-KR" altLang="en-US" sz="1200"/>
              <a:t>재검증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                               |</a:t>
            </a:r>
          </a:p>
          <a:p>
            <a:r>
              <a:rPr lang="en-US" altLang="ko-KR" sz="1200" dirty="0"/>
              <a:t>                                       +-------------+</a:t>
            </a:r>
          </a:p>
          <a:p>
            <a:r>
              <a:rPr lang="en-US" altLang="ko-KR" sz="1200" dirty="0"/>
              <a:t>                                       | O           | X</a:t>
            </a:r>
          </a:p>
          <a:p>
            <a:r>
              <a:rPr lang="en-US" altLang="ko-KR" sz="1200" dirty="0"/>
              <a:t>                                       v             </a:t>
            </a:r>
            <a:r>
              <a:rPr lang="en-US" altLang="ko-KR" sz="1200" dirty="0" err="1"/>
              <a:t>v</a:t>
            </a:r>
            <a:endParaRPr lang="en-US" altLang="ko-KR" sz="1200" dirty="0"/>
          </a:p>
          <a:p>
            <a:r>
              <a:rPr lang="en-US" altLang="ko-KR" sz="1200" dirty="0"/>
              <a:t>                                    [</a:t>
            </a:r>
            <a:r>
              <a:rPr lang="ko-KR" altLang="en-US" sz="1200"/>
              <a:t>채택</a:t>
            </a:r>
            <a:r>
              <a:rPr lang="en-US" altLang="ko-KR" sz="1200"/>
              <a:t>]         [</a:t>
            </a:r>
            <a:r>
              <a:rPr lang="ko-KR" altLang="en-US" sz="1200"/>
              <a:t>폐기</a:t>
            </a:r>
            <a:r>
              <a:rPr lang="en-US" altLang="ko-KR" sz="1200"/>
              <a:t>]</a:t>
            </a:r>
          </a:p>
          <a:p>
            <a:endParaRPr lang="en-US" altLang="ko-KR" sz="1200" dirty="0"/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질문 리라이팅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목적 기반 </a:t>
            </a:r>
            <a:r>
              <a:rPr lang="en-US" altLang="ko-KR" sz="1200"/>
              <a:t>soft rewrite</a:t>
            </a:r>
          </a:p>
          <a:p>
            <a:r>
              <a:rPr lang="en-US" altLang="ko-KR" sz="1200" dirty="0"/>
              <a:t>  - </a:t>
            </a:r>
            <a:r>
              <a:rPr lang="ko-KR" altLang="en-US" sz="1200"/>
              <a:t>코드</a:t>
            </a:r>
            <a:r>
              <a:rPr lang="en-US" altLang="ko-KR" sz="1200"/>
              <a:t>/</a:t>
            </a:r>
            <a:r>
              <a:rPr lang="ko-KR" altLang="en-US" sz="1200"/>
              <a:t>값 자연어화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최종 질문 선택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- </a:t>
            </a:r>
            <a:r>
              <a:rPr lang="en-US" altLang="ko-KR" sz="1200" dirty="0" err="1"/>
              <a:t>join_used</a:t>
            </a:r>
            <a:r>
              <a:rPr lang="en-US" altLang="ko-KR" sz="1200" dirty="0"/>
              <a:t> </a:t>
            </a:r>
            <a:r>
              <a:rPr lang="ko-KR" altLang="en-US" sz="1200"/>
              <a:t>우선 반영 가능</a:t>
            </a:r>
          </a:p>
          <a:p>
            <a:r>
              <a:rPr lang="ko-KR" altLang="en-US" sz="1200" dirty="0"/>
              <a:t>        </a:t>
            </a:r>
            <a:r>
              <a:rPr lang="en-US" altLang="ko-KR" sz="1200"/>
              <a:t>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세트별 결과 저장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시스템별 엑셀 저장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전체 시스템 엑셀 병합</a:t>
            </a:r>
            <a:r>
              <a:rPr lang="en-US" altLang="ko-KR" sz="1200"/>
              <a:t>]</a:t>
            </a:r>
          </a:p>
          <a:p>
            <a:r>
              <a:rPr lang="en-US" altLang="ko-KR" sz="1200" dirty="0"/>
              <a:t>        |</a:t>
            </a:r>
          </a:p>
          <a:p>
            <a:r>
              <a:rPr lang="en-US" altLang="ko-KR" sz="1200" dirty="0"/>
              <a:t>        v</a:t>
            </a:r>
          </a:p>
          <a:p>
            <a:r>
              <a:rPr lang="en-US" altLang="ko-KR" sz="1200" dirty="0"/>
              <a:t>[</a:t>
            </a:r>
            <a:r>
              <a:rPr lang="ko-KR" altLang="en-US" sz="1200"/>
              <a:t>최종 </a:t>
            </a:r>
            <a:r>
              <a:rPr lang="en-US" altLang="ko-KR" sz="1200"/>
              <a:t>question_total_260327.xlsx </a:t>
            </a:r>
            <a:r>
              <a:rPr lang="ko-KR" altLang="en-US" sz="1200"/>
              <a:t>생성</a:t>
            </a:r>
            <a:r>
              <a:rPr lang="en-US" altLang="ko-KR" sz="1200"/>
              <a:t>]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22825684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2A2F4-5ACF-418D-94C1-A06751F86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3A444E4-234D-6FA9-4DE4-5CFC8D07A348}"/>
              </a:ext>
            </a:extLst>
          </p:cNvPr>
          <p:cNvSpPr txBox="1"/>
          <p:nvPr/>
        </p:nvSpPr>
        <p:spPr>
          <a:xfrm>
            <a:off x="517236" y="406400"/>
            <a:ext cx="714894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 dirty="0"/>
          </a:p>
          <a:p>
            <a:r>
              <a:rPr lang="ko-KR" altLang="en-US" sz="1200" dirty="0"/>
              <a:t>이 파이프라인의 목표는 다음과 같습니다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카탈로그를 바탕으로 함께 볼 만한 테이블 묶음</a:t>
            </a:r>
            <a:r>
              <a:rPr lang="en-US" altLang="ko-KR" sz="1200"/>
              <a:t>(join candidate set) </a:t>
            </a:r>
            <a:r>
              <a:rPr lang="ko-KR" altLang="en-US" sz="1200"/>
              <a:t>을 찾고</a:t>
            </a:r>
          </a:p>
          <a:p>
            <a:r>
              <a:rPr lang="ko-KR" altLang="en-US" sz="1200" dirty="0"/>
              <a:t>각 묶음을 바탕으로 자연어 질문 </a:t>
            </a:r>
            <a:r>
              <a:rPr lang="en-US" altLang="ko-KR" sz="1200"/>
              <a:t>+ semantic_form </a:t>
            </a:r>
            <a:r>
              <a:rPr lang="ko-KR" altLang="en-US" sz="1200"/>
              <a:t>을 생성하고</a:t>
            </a:r>
          </a:p>
          <a:p>
            <a:r>
              <a:rPr lang="en-US" altLang="ko-KR" sz="1200"/>
              <a:t>semantic_form</a:t>
            </a:r>
            <a:r>
              <a:rPr lang="ko-KR" altLang="en-US" sz="1200"/>
              <a:t>을 기준으로 </a:t>
            </a:r>
            <a:r>
              <a:rPr lang="en-US" altLang="ko-KR" sz="1200"/>
              <a:t>gold SQL </a:t>
            </a:r>
            <a:r>
              <a:rPr lang="ko-KR" altLang="en-US" sz="1200"/>
              <a:t>을 생성하고</a:t>
            </a:r>
          </a:p>
          <a:p>
            <a:r>
              <a:rPr lang="en-US" altLang="ko-KR" sz="1200"/>
              <a:t>SQL</a:t>
            </a:r>
            <a:r>
              <a:rPr lang="ko-KR" altLang="en-US" sz="1200"/>
              <a:t>을 형식</a:t>
            </a:r>
            <a:r>
              <a:rPr lang="en-US" altLang="ko-KR" sz="1200"/>
              <a:t>/</a:t>
            </a:r>
            <a:r>
              <a:rPr lang="ko-KR" altLang="en-US" sz="1200"/>
              <a:t>논리 측면에서 검증하고</a:t>
            </a:r>
          </a:p>
          <a:p>
            <a:r>
              <a:rPr lang="ko-KR" altLang="en-US" sz="1200" dirty="0"/>
              <a:t>필요하면 </a:t>
            </a:r>
            <a:r>
              <a:rPr lang="en-US" altLang="ko-KR" sz="1200"/>
              <a:t>SQL repair / semantic_form repair </a:t>
            </a:r>
            <a:r>
              <a:rPr lang="ko-KR" altLang="en-US" sz="1200"/>
              <a:t>를 수행하고</a:t>
            </a:r>
          </a:p>
          <a:p>
            <a:r>
              <a:rPr lang="ko-KR" altLang="en-US" sz="1200" dirty="0"/>
              <a:t>질문 문장을 자연스럽게 </a:t>
            </a:r>
            <a:r>
              <a:rPr lang="ko-KR" altLang="en-US" sz="1200" dirty="0" err="1"/>
              <a:t>리라이팅한</a:t>
            </a:r>
            <a:r>
              <a:rPr lang="ko-KR" altLang="en-US" sz="1200" dirty="0"/>
              <a:t> 뒤</a:t>
            </a:r>
          </a:p>
          <a:p>
            <a:r>
              <a:rPr lang="ko-KR" altLang="en-US" sz="1200" dirty="0"/>
              <a:t>최종 평가셋을 엑셀 파일로 저장하는 것입니다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ko-KR" altLang="en-US" sz="1200"/>
              <a:t>이 코드는 단순 생성기가 아니라</a:t>
            </a:r>
            <a:r>
              <a:rPr lang="en-US" altLang="ko-KR" sz="1200"/>
              <a:t>,</a:t>
            </a:r>
          </a:p>
          <a:p>
            <a:r>
              <a:rPr lang="ko-KR" altLang="en-US" sz="1200"/>
              <a:t>생성 → 필터링 → 검증 → 수정 → 저장 을 포함하는 평가셋 제작 파이프라인입니다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785A5B-B7D0-39A7-E652-05D6ED74C310}"/>
              </a:ext>
            </a:extLst>
          </p:cNvPr>
          <p:cNvSpPr txBox="1"/>
          <p:nvPr/>
        </p:nvSpPr>
        <p:spPr>
          <a:xfrm>
            <a:off x="7666182" y="655782"/>
            <a:ext cx="2272145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카탈로그 로드</a:t>
            </a:r>
          </a:p>
          <a:p>
            <a:r>
              <a:rPr lang="ko-KR" altLang="en-US" sz="1200" dirty="0"/>
              <a:t>내부 테이블명 생성</a:t>
            </a:r>
          </a:p>
          <a:p>
            <a:r>
              <a:rPr lang="ko-KR" altLang="en-US" sz="1200" dirty="0"/>
              <a:t>시스템별 데이터 분리</a:t>
            </a:r>
          </a:p>
          <a:p>
            <a:r>
              <a:rPr lang="ko-KR" altLang="en-US" sz="1200" dirty="0"/>
              <a:t>개인정보</a:t>
            </a:r>
            <a:r>
              <a:rPr lang="en-US" altLang="ko-KR" sz="1200"/>
              <a:t>/</a:t>
            </a:r>
            <a:r>
              <a:rPr lang="ko-KR" altLang="en-US" sz="1200"/>
              <a:t>고객정보 컬럼 제외</a:t>
            </a:r>
          </a:p>
          <a:p>
            <a:r>
              <a:rPr lang="ko-KR" altLang="en-US" sz="1200" dirty="0"/>
              <a:t>테이블 블록 생성</a:t>
            </a:r>
          </a:p>
          <a:p>
            <a:r>
              <a:rPr lang="ko-KR" altLang="en-US" sz="1200" dirty="0"/>
              <a:t>목적 기반 테이블 그룹 생성</a:t>
            </a:r>
          </a:p>
          <a:p>
            <a:r>
              <a:rPr lang="en-US" altLang="ko-KR" sz="1200"/>
              <a:t>join candidate set </a:t>
            </a:r>
            <a:r>
              <a:rPr lang="ko-KR" altLang="en-US" sz="1200"/>
              <a:t>생성</a:t>
            </a:r>
          </a:p>
          <a:p>
            <a:r>
              <a:rPr lang="ko-KR" altLang="en-US" sz="1200" dirty="0"/>
              <a:t>질문 </a:t>
            </a:r>
            <a:r>
              <a:rPr lang="en-US" altLang="ko-KR" sz="1200"/>
              <a:t>+ semantic_form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semantic filtering / value filtering / dedup</a:t>
            </a:r>
          </a:p>
          <a:p>
            <a:r>
              <a:rPr lang="en-US" altLang="ko-KR" sz="1200" dirty="0"/>
              <a:t>gold SQL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SQL </a:t>
            </a:r>
            <a:r>
              <a:rPr lang="ko-KR" altLang="en-US" sz="1200"/>
              <a:t>형식 검증</a:t>
            </a:r>
          </a:p>
          <a:p>
            <a:r>
              <a:rPr lang="en-US" altLang="ko-KR" sz="1200"/>
              <a:t>SQL </a:t>
            </a:r>
            <a:r>
              <a:rPr lang="ko-KR" altLang="en-US" sz="1200"/>
              <a:t>논리 검증</a:t>
            </a:r>
          </a:p>
          <a:p>
            <a:r>
              <a:rPr lang="ko-KR" altLang="en-US" sz="1200" dirty="0"/>
              <a:t>필요 시 </a:t>
            </a:r>
            <a:r>
              <a:rPr lang="en-US" altLang="ko-KR" sz="1200"/>
              <a:t>SQL repair</a:t>
            </a:r>
          </a:p>
          <a:p>
            <a:r>
              <a:rPr lang="ko-KR" altLang="en-US" sz="1200"/>
              <a:t>필요 시 </a:t>
            </a:r>
            <a:r>
              <a:rPr lang="en-US" altLang="ko-KR" sz="1200"/>
              <a:t>semantic_form repair </a:t>
            </a:r>
            <a:r>
              <a:rPr lang="ko-KR" altLang="en-US" sz="1200"/>
              <a:t>및 </a:t>
            </a:r>
            <a:r>
              <a:rPr lang="en-US" altLang="ko-KR" sz="1200"/>
              <a:t>SQL </a:t>
            </a:r>
            <a:r>
              <a:rPr lang="ko-KR" altLang="en-US" sz="1200"/>
              <a:t>재생성</a:t>
            </a:r>
          </a:p>
          <a:p>
            <a:r>
              <a:rPr lang="ko-KR" altLang="en-US" sz="1200" dirty="0"/>
              <a:t>질문 </a:t>
            </a:r>
            <a:r>
              <a:rPr lang="ko-KR" altLang="en-US" sz="1200" dirty="0" err="1"/>
              <a:t>리라이팅</a:t>
            </a:r>
            <a:endParaRPr lang="ko-KR" altLang="en-US" sz="1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D647CA-614F-032B-5F1C-E6E4D90DA061}"/>
              </a:ext>
            </a:extLst>
          </p:cNvPr>
          <p:cNvSpPr txBox="1"/>
          <p:nvPr/>
        </p:nvSpPr>
        <p:spPr>
          <a:xfrm>
            <a:off x="295564" y="4378036"/>
            <a:ext cx="11231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{"select": [{"value": "t1.PROJECT_NAME"}, {"value": "MAX(t1.SAMPLE_QTY)", "alias": "max_sample_qty"}], "group_by": [{"table": "v_l0pdmm_out_dqms_prod_req_master", "column": "PROJECT_NAME"}], "filters": [{"column": {"table": "v_l0pdmm_out_dqms_prod_req_master", "column": "REQ_APPROVAL_DATE"}, "operator": "&gt;", "value": "2023-01-01T00:00:00", "value_evidence": "v_l0pdmm_out_dqms_prod_req_master.REQ_APPROVAL_DATE"}], "order_by": [{"column": "max_sample_qty", "direction": "DESC"}], "limit": 1, "joins": []}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06277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F5695-FF82-00E1-62B2-F3BDAF24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0851DA-BACB-B1E1-2F31-83CD39C9C7A4}"/>
              </a:ext>
            </a:extLst>
          </p:cNvPr>
          <p:cNvSpPr txBox="1"/>
          <p:nvPr/>
        </p:nvSpPr>
        <p:spPr>
          <a:xfrm>
            <a:off x="526473" y="304800"/>
            <a:ext cx="11166763" cy="1425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/>
              <a:t>입력 엑셀 로드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user_question_final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table_list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semantic_form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gen_sql</a:t>
            </a:r>
            <a:endParaRPr lang="en-US" altLang="ko-KR" sz="1000" dirty="0"/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ko-KR" altLang="en-US" sz="1000"/>
              <a:t>원본 카탈로그 로드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en-US" altLang="ko-KR" sz="1000" dirty="0" err="1"/>
              <a:t>table_list</a:t>
            </a:r>
            <a:r>
              <a:rPr lang="en-US" altLang="ko-KR" sz="1000" dirty="0"/>
              <a:t> </a:t>
            </a:r>
            <a:r>
              <a:rPr lang="ko-KR" altLang="en-US" sz="1000"/>
              <a:t>정리 </a:t>
            </a:r>
            <a:r>
              <a:rPr lang="en-US" altLang="ko-KR" sz="1000"/>
              <a:t>/ </a:t>
            </a:r>
            <a:r>
              <a:rPr lang="ko-KR" altLang="en-US" sz="1000"/>
              <a:t>전처리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ko-KR" altLang="en-US" sz="1000"/>
              <a:t>카탈로그 기반 </a:t>
            </a:r>
            <a:r>
              <a:rPr lang="en-US" altLang="ko-KR" sz="1000"/>
              <a:t>tables_info </a:t>
            </a:r>
            <a:r>
              <a:rPr lang="ko-KR" altLang="en-US" sz="1000"/>
              <a:t>재생성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en-US" altLang="ko-KR" sz="1000" dirty="0" err="1"/>
              <a:t>structured_schema_constraints</a:t>
            </a:r>
            <a:r>
              <a:rPr lang="en-US" altLang="ko-KR" sz="1000" dirty="0"/>
              <a:t> </a:t>
            </a:r>
            <a:r>
              <a:rPr lang="ko-KR" altLang="en-US" sz="1000"/>
              <a:t>생성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known_columns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categorical_columns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datetime_columns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code_like_columns</a:t>
            </a:r>
            <a:endParaRPr lang="en-US" altLang="ko-KR" sz="1000" dirty="0"/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[semantic evidence </a:t>
            </a:r>
            <a:r>
              <a:rPr lang="ko-KR" altLang="en-US" sz="1000"/>
              <a:t>구성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used_tables</a:t>
            </a:r>
            <a:endParaRPr lang="en-US" altLang="ko-KR" sz="1000" dirty="0"/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semantic_tables</a:t>
            </a:r>
            <a:endParaRPr lang="en-US" altLang="ko-KR" sz="1000" dirty="0"/>
          </a:p>
          <a:p>
            <a:r>
              <a:rPr lang="en-US" altLang="ko-KR" sz="1000" dirty="0"/>
              <a:t>  - literals</a:t>
            </a:r>
          </a:p>
          <a:p>
            <a:r>
              <a:rPr lang="en-US" altLang="ko-KR" sz="1000" dirty="0"/>
              <a:t>  - identifier candidates</a:t>
            </a:r>
          </a:p>
          <a:p>
            <a:r>
              <a:rPr lang="en-US" altLang="ko-KR" sz="1000" dirty="0"/>
              <a:t>  - suspicious signals</a:t>
            </a:r>
          </a:p>
          <a:p>
            <a:r>
              <a:rPr lang="en-US" altLang="ko-KR" sz="1000" dirty="0"/>
              <a:t>  - schema compliance evidence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</a:t>
            </a:r>
            <a:r>
              <a:rPr lang="en-US" altLang="ko-KR" sz="1000" dirty="0" err="1"/>
              <a:t>semantic_form</a:t>
            </a:r>
            <a:r>
              <a:rPr lang="en-US" altLang="ko-KR" sz="1000" dirty="0"/>
              <a:t> concept </a:t>
            </a:r>
            <a:r>
              <a:rPr lang="ko-KR" altLang="en-US" sz="1000"/>
              <a:t>추출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en-US" altLang="ko-KR" sz="1000" dirty="0" err="1"/>
              <a:t>semantic_form</a:t>
            </a:r>
            <a:r>
              <a:rPr lang="ko-KR" altLang="en-US" sz="1000"/>
              <a:t>은 보조 참고용</a:t>
            </a:r>
          </a:p>
          <a:p>
            <a:r>
              <a:rPr lang="ko-KR" altLang="en-US" sz="1000" dirty="0"/>
              <a:t>        </a:t>
            </a:r>
            <a:r>
              <a:rPr lang="en-US" altLang="ko-KR" sz="1000"/>
              <a:t>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[question intent </a:t>
            </a:r>
            <a:r>
              <a:rPr lang="ko-KR" altLang="en-US" sz="1000"/>
              <a:t>추출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</a:t>
            </a:r>
            <a:r>
              <a:rPr lang="ko-KR" altLang="en-US" sz="1000"/>
              <a:t>질문 의미 구조화</a:t>
            </a:r>
          </a:p>
          <a:p>
            <a:r>
              <a:rPr lang="ko-KR" altLang="en-US" sz="1000" dirty="0"/>
              <a:t>        </a:t>
            </a:r>
            <a:r>
              <a:rPr lang="en-US" altLang="ko-KR" sz="1000"/>
              <a:t>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[SQL semantic summary </a:t>
            </a:r>
            <a:r>
              <a:rPr lang="ko-KR" altLang="en-US" sz="1000"/>
              <a:t>추출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SQL</a:t>
            </a:r>
            <a:r>
              <a:rPr lang="ko-KR" altLang="en-US" sz="1000"/>
              <a:t>이 실제로 무엇을 하는지 설명</a:t>
            </a:r>
          </a:p>
          <a:p>
            <a:r>
              <a:rPr lang="ko-KR" altLang="en-US" sz="1000" dirty="0"/>
              <a:t>        </a:t>
            </a:r>
            <a:r>
              <a:rPr lang="en-US" altLang="ko-KR" sz="1000"/>
              <a:t>|</a:t>
            </a:r>
          </a:p>
          <a:p>
            <a:r>
              <a:rPr lang="en-US" altLang="ko-KR" sz="1000" dirty="0"/>
              <a:t>        v</a:t>
            </a:r>
          </a:p>
          <a:p>
            <a:r>
              <a:rPr lang="en-US" altLang="ko-KR" sz="1000" dirty="0"/>
              <a:t>[initial correctness judge]</a:t>
            </a:r>
          </a:p>
          <a:p>
            <a:r>
              <a:rPr lang="en-US" altLang="ko-KR" sz="1000" dirty="0"/>
              <a:t>  - correct / incorrect / uncertain</a:t>
            </a:r>
          </a:p>
          <a:p>
            <a:r>
              <a:rPr lang="en-US" altLang="ko-KR" sz="1000" dirty="0"/>
              <a:t>        |</a:t>
            </a:r>
          </a:p>
          <a:p>
            <a:r>
              <a:rPr lang="en-US" altLang="ko-KR" sz="1000" dirty="0"/>
              <a:t>        +-----------------------------+</a:t>
            </a:r>
          </a:p>
          <a:p>
            <a:r>
              <a:rPr lang="en-US" altLang="ko-KR" sz="1000" dirty="0"/>
              <a:t>        |                             |</a:t>
            </a:r>
          </a:p>
          <a:p>
            <a:r>
              <a:rPr lang="en-US" altLang="ko-KR" sz="1000" dirty="0"/>
              <a:t>        v                             </a:t>
            </a:r>
            <a:r>
              <a:rPr lang="en-US" altLang="ko-KR" sz="1000" dirty="0" err="1"/>
              <a:t>v</a:t>
            </a:r>
            <a:endParaRPr lang="en-US" altLang="ko-KR" sz="1000" dirty="0"/>
          </a:p>
          <a:p>
            <a:r>
              <a:rPr lang="en-US" altLang="ko-KR" sz="1000" dirty="0"/>
              <a:t>[defense review]               [prosecution review]</a:t>
            </a:r>
          </a:p>
          <a:p>
            <a:r>
              <a:rPr lang="en-US" altLang="ko-KR" sz="1000" dirty="0"/>
              <a:t>- </a:t>
            </a:r>
            <a:r>
              <a:rPr lang="ko-KR" altLang="en-US" sz="1000"/>
              <a:t>너무 </a:t>
            </a:r>
            <a:r>
              <a:rPr lang="en-US" altLang="ko-KR" sz="1000"/>
              <a:t>harsh</a:t>
            </a:r>
            <a:r>
              <a:rPr lang="ko-KR" altLang="en-US" sz="1000"/>
              <a:t>한가</a:t>
            </a:r>
            <a:r>
              <a:rPr lang="en-US" altLang="ko-KR" sz="1000"/>
              <a:t>?              </a:t>
            </a:r>
            <a:r>
              <a:rPr lang="en-US" altLang="ko-KR" sz="1000" dirty="0"/>
              <a:t>- </a:t>
            </a:r>
            <a:r>
              <a:rPr lang="ko-KR" altLang="en-US" sz="1000"/>
              <a:t>너무 </a:t>
            </a:r>
            <a:r>
              <a:rPr lang="en-US" altLang="ko-KR" sz="1000"/>
              <a:t>lenient</a:t>
            </a:r>
            <a:r>
              <a:rPr lang="ko-KR" altLang="en-US" sz="1000"/>
              <a:t>한가</a:t>
            </a:r>
            <a:r>
              <a:rPr lang="en-US" altLang="ko-KR" sz="1000"/>
              <a:t>?</a:t>
            </a:r>
          </a:p>
          <a:p>
            <a:r>
              <a:rPr lang="en-US" altLang="ko-KR" sz="1000" dirty="0"/>
              <a:t>- false positive?             - false negative?</a:t>
            </a:r>
          </a:p>
          <a:p>
            <a:r>
              <a:rPr lang="en-US" altLang="ko-KR" sz="1000" dirty="0"/>
              <a:t>        \                             /</a:t>
            </a:r>
          </a:p>
          <a:p>
            <a:r>
              <a:rPr lang="en-US" altLang="ko-KR" sz="1000" dirty="0"/>
              <a:t>         \                           /</a:t>
            </a:r>
          </a:p>
          <a:p>
            <a:r>
              <a:rPr lang="en-US" altLang="ko-KR" sz="1000" dirty="0"/>
              <a:t>          v                         </a:t>
            </a:r>
            <a:r>
              <a:rPr lang="en-US" altLang="ko-KR" sz="1000" dirty="0" err="1"/>
              <a:t>v</a:t>
            </a:r>
            <a:endParaRPr lang="en-US" altLang="ko-KR" sz="1000" dirty="0"/>
          </a:p>
          <a:p>
            <a:r>
              <a:rPr lang="en-US" altLang="ko-KR" sz="1000" dirty="0"/>
              <a:t>             [final adjudication]</a:t>
            </a:r>
          </a:p>
          <a:p>
            <a:r>
              <a:rPr lang="en-US" altLang="ko-KR" sz="1000" dirty="0"/>
              <a:t>          - </a:t>
            </a:r>
            <a:r>
              <a:rPr lang="ko-KR" altLang="en-US" sz="1000"/>
              <a:t>최종 </a:t>
            </a:r>
            <a:r>
              <a:rPr lang="en-US" altLang="ko-KR" sz="1000"/>
              <a:t>verdict</a:t>
            </a:r>
          </a:p>
          <a:p>
            <a:r>
              <a:rPr lang="en-US" altLang="ko-KR" sz="1000" dirty="0"/>
              <a:t>          - final reason</a:t>
            </a:r>
          </a:p>
          <a:p>
            <a:r>
              <a:rPr lang="en-US" altLang="ko-KR" sz="1000" dirty="0"/>
              <a:t>          - detailed analysis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[heuristic post-adjudication adjustment]</a:t>
            </a:r>
          </a:p>
          <a:p>
            <a:r>
              <a:rPr lang="en-US" altLang="ko-KR" sz="1000" dirty="0"/>
              <a:t>     - boundary ambiguity </a:t>
            </a:r>
            <a:r>
              <a:rPr lang="ko-KR" altLang="en-US" sz="1000"/>
              <a:t>완화</a:t>
            </a:r>
          </a:p>
          <a:p>
            <a:r>
              <a:rPr lang="ko-KR" altLang="en-US" sz="1000" dirty="0"/>
              <a:t>     </a:t>
            </a:r>
            <a:r>
              <a:rPr lang="en-US" altLang="ko-KR" sz="1000"/>
              <a:t>- LIMIT </a:t>
            </a:r>
            <a:r>
              <a:rPr lang="ko-KR" altLang="en-US" sz="1000"/>
              <a:t>완화</a:t>
            </a:r>
          </a:p>
          <a:p>
            <a:r>
              <a:rPr lang="ko-KR" altLang="en-US" sz="1000" dirty="0"/>
              <a:t>     </a:t>
            </a:r>
            <a:r>
              <a:rPr lang="en-US" altLang="ko-KR" sz="1000"/>
              <a:t>- join over-penalty </a:t>
            </a:r>
            <a:r>
              <a:rPr lang="ko-KR" altLang="en-US" sz="1000"/>
              <a:t>완화</a:t>
            </a:r>
          </a:p>
          <a:p>
            <a:r>
              <a:rPr lang="ko-KR" altLang="en-US" sz="1000" dirty="0"/>
              <a:t>                    </a:t>
            </a:r>
            <a:r>
              <a:rPr lang="en-US" altLang="ko-KR" sz="1000"/>
              <a:t>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final verdict = correct / incorrect / uncertain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+----------+-----------+</a:t>
            </a:r>
          </a:p>
          <a:p>
            <a:r>
              <a:rPr lang="en-US" altLang="ko-KR" sz="1000" dirty="0"/>
              <a:t>         |                      |</a:t>
            </a:r>
          </a:p>
          <a:p>
            <a:r>
              <a:rPr lang="en-US" altLang="ko-KR" sz="1000" dirty="0"/>
              <a:t>         | incorrect            | correct / uncertain</a:t>
            </a:r>
          </a:p>
          <a:p>
            <a:r>
              <a:rPr lang="en-US" altLang="ko-KR" sz="1000" dirty="0"/>
              <a:t>         v                      </a:t>
            </a:r>
            <a:r>
              <a:rPr lang="en-US" altLang="ko-KR" sz="1000" dirty="0" err="1"/>
              <a:t>v</a:t>
            </a:r>
            <a:endParaRPr lang="en-US" altLang="ko-KR" sz="1000" dirty="0"/>
          </a:p>
          <a:p>
            <a:r>
              <a:rPr lang="en-US" altLang="ko-KR" sz="1000" dirty="0"/>
              <a:t> [error typing </a:t>
            </a:r>
            <a:r>
              <a:rPr lang="ko-KR" altLang="en-US" sz="1000"/>
              <a:t>수행</a:t>
            </a:r>
            <a:r>
              <a:rPr lang="en-US" altLang="ko-KR" sz="1000"/>
              <a:t>]         [error typing </a:t>
            </a:r>
            <a:r>
              <a:rPr lang="ko-KR" altLang="en-US" sz="1000"/>
              <a:t>생략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- main categories</a:t>
            </a:r>
          </a:p>
          <a:p>
            <a:r>
              <a:rPr lang="en-US" altLang="ko-KR" sz="1000" dirty="0"/>
              <a:t>  - subcategories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[row</a:t>
            </a:r>
            <a:r>
              <a:rPr lang="ko-KR" altLang="en-US" sz="1000"/>
              <a:t>별 </a:t>
            </a:r>
            <a:r>
              <a:rPr lang="en-US" altLang="ko-KR" sz="1000"/>
              <a:t>result dict </a:t>
            </a:r>
            <a:r>
              <a:rPr lang="ko-KR" altLang="en-US" sz="1000"/>
              <a:t>생성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 [</a:t>
            </a:r>
            <a:r>
              <a:rPr lang="ko-KR" altLang="en-US" sz="1000"/>
              <a:t>멀티스레드 전체 </a:t>
            </a:r>
            <a:r>
              <a:rPr lang="en-US" altLang="ko-KR" sz="1000"/>
              <a:t>row </a:t>
            </a:r>
            <a:r>
              <a:rPr lang="ko-KR" altLang="en-US" sz="1000"/>
              <a:t>처리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  [</a:t>
            </a:r>
            <a:r>
              <a:rPr lang="en-US" altLang="ko-KR" sz="1000" dirty="0" err="1"/>
              <a:t>DataFrame</a:t>
            </a:r>
            <a:r>
              <a:rPr lang="en-US" altLang="ko-KR" sz="1000" dirty="0"/>
              <a:t> flatten / </a:t>
            </a:r>
            <a:r>
              <a:rPr lang="ko-KR" altLang="en-US" sz="1000"/>
              <a:t>정리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   [full result </a:t>
            </a:r>
            <a:r>
              <a:rPr lang="ko-KR" altLang="en-US" sz="1000"/>
              <a:t>엑셀 저장</a:t>
            </a:r>
            <a:r>
              <a:rPr lang="en-US" altLang="ko-KR" sz="1000"/>
              <a:t>]</a:t>
            </a:r>
          </a:p>
          <a:p>
            <a:r>
              <a:rPr lang="en-US" altLang="ko-KR" sz="1000" dirty="0"/>
              <a:t>                    |</a:t>
            </a:r>
          </a:p>
          <a:p>
            <a:r>
              <a:rPr lang="en-US" altLang="ko-KR" sz="1000" dirty="0"/>
              <a:t>                    v</a:t>
            </a:r>
          </a:p>
          <a:p>
            <a:r>
              <a:rPr lang="en-US" altLang="ko-KR" sz="1000" dirty="0"/>
              <a:t>         [analyst view </a:t>
            </a:r>
            <a:r>
              <a:rPr lang="ko-KR" altLang="en-US" sz="1000"/>
              <a:t>엑셀 저장</a:t>
            </a:r>
            <a:r>
              <a:rPr lang="en-US" altLang="ko-KR" sz="1000"/>
              <a:t>]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23655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CF8CD7-2405-8B66-D9BB-79269693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D28AB0-99BB-A45E-0EF1-5A6B1764331B}"/>
              </a:ext>
            </a:extLst>
          </p:cNvPr>
          <p:cNvSpPr txBox="1"/>
          <p:nvPr/>
        </p:nvSpPr>
        <p:spPr>
          <a:xfrm>
            <a:off x="932873" y="591127"/>
            <a:ext cx="8100291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이 코드는 일반적인 “문자열 비교형 </a:t>
            </a:r>
            <a:r>
              <a:rPr lang="en-US" altLang="ko-KR" sz="1200"/>
              <a:t>SQL </a:t>
            </a:r>
            <a:r>
              <a:rPr lang="ko-KR" altLang="en-US" sz="1200"/>
              <a:t>평가기”와 다릅니다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핵심 철학은 다음과 같습니다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2.1 </a:t>
            </a:r>
            <a:r>
              <a:rPr lang="ko-KR" altLang="en-US" sz="1200"/>
              <a:t>질문 의미가 </a:t>
            </a:r>
            <a:r>
              <a:rPr lang="en-US" altLang="ko-KR" sz="1200"/>
              <a:t>1</a:t>
            </a:r>
            <a:r>
              <a:rPr lang="ko-KR" altLang="en-US" sz="1200"/>
              <a:t>차 기준</a:t>
            </a:r>
          </a:p>
          <a:p>
            <a:endParaRPr lang="ko-KR" altLang="en-US" sz="1200" dirty="0"/>
          </a:p>
          <a:p>
            <a:r>
              <a:rPr lang="ko-KR" altLang="en-US" sz="1200" dirty="0"/>
              <a:t>최종 </a:t>
            </a:r>
            <a:r>
              <a:rPr lang="en-US" altLang="ko-KR" sz="1200"/>
              <a:t>correctness</a:t>
            </a:r>
            <a:r>
              <a:rPr lang="ko-KR" altLang="en-US" sz="1200"/>
              <a:t>는 기본적으로 자연어 질문의 의미를 따라야 합니다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즉</a:t>
            </a:r>
            <a:r>
              <a:rPr lang="en-US" altLang="ko-KR" sz="1200"/>
              <a:t>:</a:t>
            </a:r>
          </a:p>
          <a:p>
            <a:endParaRPr lang="en-US" altLang="ko-KR" sz="1200" dirty="0"/>
          </a:p>
          <a:p>
            <a:r>
              <a:rPr lang="ko-KR" altLang="en-US" sz="1200"/>
              <a:t>질문이 무엇을 요구하는지</a:t>
            </a:r>
          </a:p>
          <a:p>
            <a:r>
              <a:rPr lang="en-US" altLang="ko-KR" sz="1200"/>
              <a:t>SQL</a:t>
            </a:r>
            <a:r>
              <a:rPr lang="ko-KR" altLang="en-US" sz="1200"/>
              <a:t>이 실제로 무엇을 계산하는지</a:t>
            </a:r>
          </a:p>
          <a:p>
            <a:endParaRPr lang="ko-KR" altLang="en-US" sz="1200" dirty="0"/>
          </a:p>
          <a:p>
            <a:r>
              <a:rPr lang="ko-KR" altLang="en-US" sz="1200" dirty="0" err="1"/>
              <a:t>를</a:t>
            </a:r>
            <a:r>
              <a:rPr lang="ko-KR" altLang="en-US" sz="1200" dirty="0"/>
              <a:t> 비교합니다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2.2 </a:t>
            </a:r>
            <a:r>
              <a:rPr lang="ko-KR" altLang="en-US" sz="1200"/>
              <a:t>실제 스키마 제약이 매우 중요</a:t>
            </a:r>
          </a:p>
          <a:p>
            <a:endParaRPr lang="ko-KR" altLang="en-US" sz="1200" dirty="0"/>
          </a:p>
          <a:p>
            <a:r>
              <a:rPr lang="ko-KR" altLang="en-US" sz="1200" dirty="0"/>
              <a:t>단</a:t>
            </a:r>
            <a:r>
              <a:rPr lang="en-US" altLang="ko-KR" sz="1200"/>
              <a:t>, </a:t>
            </a:r>
            <a:r>
              <a:rPr lang="ko-KR" altLang="en-US" sz="1200"/>
              <a:t>자연어적으로 비슷해 보여도 실제 스키마에 맞지 않는 값</a:t>
            </a:r>
            <a:r>
              <a:rPr lang="en-US" altLang="ko-KR" sz="1200"/>
              <a:t>/</a:t>
            </a:r>
            <a:r>
              <a:rPr lang="ko-KR" altLang="en-US" sz="1200"/>
              <a:t>컬럼</a:t>
            </a:r>
            <a:r>
              <a:rPr lang="en-US" altLang="ko-KR" sz="1200"/>
              <a:t>/</a:t>
            </a:r>
            <a:r>
              <a:rPr lang="ko-KR" altLang="en-US" sz="1200"/>
              <a:t>포맷을 사용하면 올바르지 않다고 봅니다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예</a:t>
            </a:r>
            <a:r>
              <a:rPr lang="en-US" altLang="ko-KR" sz="1200"/>
              <a:t>:</a:t>
            </a:r>
          </a:p>
          <a:p>
            <a:endParaRPr lang="en-US" altLang="ko-KR" sz="1200" dirty="0"/>
          </a:p>
          <a:p>
            <a:r>
              <a:rPr lang="ko-KR" altLang="en-US" sz="1200"/>
              <a:t>카테고리 컬럼에 실제 저장값이 </a:t>
            </a:r>
            <a:r>
              <a:rPr lang="en-US" altLang="ko-KR" sz="1200"/>
              <a:t>PROJECTLEADER</a:t>
            </a:r>
            <a:r>
              <a:rPr lang="ko-KR" altLang="en-US" sz="1200"/>
              <a:t>인데 </a:t>
            </a:r>
            <a:r>
              <a:rPr lang="en-US" altLang="ko-KR" sz="1200"/>
              <a:t>SQL</a:t>
            </a:r>
            <a:r>
              <a:rPr lang="ko-KR" altLang="en-US" sz="1200"/>
              <a:t>이 </a:t>
            </a:r>
            <a:r>
              <a:rPr lang="en-US" altLang="ko-KR" sz="1200"/>
              <a:t>'</a:t>
            </a:r>
            <a:r>
              <a:rPr lang="ko-KR" altLang="en-US" sz="1200"/>
              <a:t>프로젝트 리더</a:t>
            </a:r>
            <a:r>
              <a:rPr lang="en-US" altLang="ko-KR" sz="1200"/>
              <a:t>'</a:t>
            </a:r>
            <a:r>
              <a:rPr lang="ko-KR" altLang="en-US" sz="1200"/>
              <a:t>로 비교</a:t>
            </a:r>
          </a:p>
          <a:p>
            <a:r>
              <a:rPr lang="ko-KR" altLang="en-US" sz="1200" dirty="0"/>
              <a:t>날짜 컬럼 포맷이 </a:t>
            </a:r>
            <a:r>
              <a:rPr lang="en-US" altLang="ko-KR" sz="1200"/>
              <a:t>YYYY-MM-DD HH:MM:SS</a:t>
            </a:r>
            <a:r>
              <a:rPr lang="ko-KR" altLang="en-US" sz="1200"/>
              <a:t>인데 </a:t>
            </a:r>
            <a:r>
              <a:rPr lang="en-US" altLang="ko-KR" sz="1200"/>
              <a:t>SQL</a:t>
            </a:r>
            <a:r>
              <a:rPr lang="ko-KR" altLang="en-US" sz="1200"/>
              <a:t>이 </a:t>
            </a:r>
            <a:r>
              <a:rPr lang="en-US" altLang="ko-KR" sz="1200"/>
              <a:t>LIKE '20230731%'</a:t>
            </a:r>
            <a:r>
              <a:rPr lang="ko-KR" altLang="en-US" sz="1200"/>
              <a:t>로 잘못 비교</a:t>
            </a:r>
          </a:p>
          <a:p>
            <a:r>
              <a:rPr lang="ko-KR" altLang="en-US" sz="1200" dirty="0"/>
              <a:t>존재하지 않는 </a:t>
            </a:r>
            <a:r>
              <a:rPr lang="ko-KR" altLang="en-US" sz="1200" dirty="0" err="1"/>
              <a:t>컬럼명</a:t>
            </a:r>
            <a:r>
              <a:rPr lang="ko-KR" altLang="en-US" sz="1200" dirty="0"/>
              <a:t> 사용</a:t>
            </a:r>
          </a:p>
          <a:p>
            <a:endParaRPr lang="ko-KR" altLang="en-US" sz="1200" dirty="0"/>
          </a:p>
          <a:p>
            <a:r>
              <a:rPr lang="ko-KR" altLang="en-US" sz="1200" dirty="0"/>
              <a:t>이런 경우는 강한 </a:t>
            </a:r>
            <a:r>
              <a:rPr lang="en-US" altLang="ko-KR" sz="1200"/>
              <a:t>negative signal</a:t>
            </a:r>
            <a:r>
              <a:rPr lang="ko-KR" altLang="en-US" sz="1200"/>
              <a:t>로 취급합니다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2.3 </a:t>
            </a:r>
            <a:r>
              <a:rPr lang="en-US" altLang="ko-KR" sz="1200" dirty="0" err="1"/>
              <a:t>semantic_form</a:t>
            </a:r>
            <a:r>
              <a:rPr lang="ko-KR" altLang="en-US" sz="1200"/>
              <a:t>은 정답 기준이 아님</a:t>
            </a:r>
          </a:p>
          <a:p>
            <a:endParaRPr lang="ko-KR" altLang="en-US" sz="1200" dirty="0"/>
          </a:p>
          <a:p>
            <a:r>
              <a:rPr lang="ko-KR" altLang="en-US" sz="1200" dirty="0"/>
              <a:t>이 </a:t>
            </a:r>
            <a:r>
              <a:rPr lang="en-US" altLang="ko-KR" sz="1200"/>
              <a:t>validator</a:t>
            </a:r>
            <a:r>
              <a:rPr lang="ko-KR" altLang="en-US" sz="1200"/>
              <a:t>는 </a:t>
            </a:r>
            <a:r>
              <a:rPr lang="en-US" altLang="ko-KR" sz="1200"/>
              <a:t>semantic_form</a:t>
            </a:r>
            <a:r>
              <a:rPr lang="ko-KR" altLang="en-US" sz="1200"/>
              <a:t>을 절대 정답 기준으로 사용하지 않습니다</a:t>
            </a:r>
            <a:r>
              <a:rPr lang="en-US" altLang="ko-KR" sz="1200"/>
              <a:t>.</a:t>
            </a:r>
          </a:p>
          <a:p>
            <a:r>
              <a:rPr lang="ko-KR" altLang="en-US" sz="1200"/>
              <a:t>중요 원칙</a:t>
            </a:r>
            <a:r>
              <a:rPr lang="en-US" altLang="ko-KR" sz="1200"/>
              <a:t>: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semantic_form</a:t>
            </a:r>
            <a:r>
              <a:rPr lang="en-US" altLang="ko-KR" sz="1200" dirty="0"/>
              <a:t> raw</a:t>
            </a:r>
            <a:r>
              <a:rPr lang="ko-KR" altLang="en-US" sz="1200"/>
              <a:t>는 </a:t>
            </a:r>
            <a:r>
              <a:rPr lang="en-US" altLang="ko-KR" sz="1200"/>
              <a:t>correctness ground truth</a:t>
            </a:r>
            <a:r>
              <a:rPr lang="ko-KR" altLang="en-US" sz="1200"/>
              <a:t>가 아님</a:t>
            </a:r>
          </a:p>
          <a:p>
            <a:r>
              <a:rPr lang="en-US" altLang="ko-KR" sz="1200"/>
              <a:t>semantic_form</a:t>
            </a:r>
            <a:r>
              <a:rPr lang="ko-KR" altLang="en-US" sz="1200"/>
              <a:t>은 참고용</a:t>
            </a:r>
            <a:r>
              <a:rPr lang="en-US" altLang="ko-KR" sz="1200"/>
              <a:t>/</a:t>
            </a:r>
            <a:r>
              <a:rPr lang="ko-KR" altLang="en-US" sz="1200"/>
              <a:t>보조적 개념 힌트만 제공</a:t>
            </a:r>
          </a:p>
          <a:p>
            <a:r>
              <a:rPr lang="ko-KR" altLang="en-US" sz="1200" dirty="0"/>
              <a:t>최종 판정은 질문 의미 </a:t>
            </a:r>
            <a:r>
              <a:rPr lang="en-US" altLang="ko-KR" sz="1200"/>
              <a:t>+ </a:t>
            </a:r>
            <a:r>
              <a:rPr lang="ko-KR" altLang="en-US" sz="1200"/>
              <a:t>실제 스키마 제약 기준으로 결정</a:t>
            </a:r>
          </a:p>
          <a:p>
            <a:endParaRPr lang="ko-KR" altLang="en-US" sz="1200" dirty="0"/>
          </a:p>
          <a:p>
            <a:r>
              <a:rPr lang="ko-KR" altLang="en-US" sz="1200" dirty="0"/>
              <a:t>즉 평가용 </a:t>
            </a:r>
            <a:r>
              <a:rPr lang="en-US" altLang="ko-KR" sz="1200"/>
              <a:t>SQL</a:t>
            </a:r>
            <a:r>
              <a:rPr lang="ko-KR" altLang="en-US" sz="1200"/>
              <a:t>이 </a:t>
            </a:r>
            <a:r>
              <a:rPr lang="en-US" altLang="ko-KR" sz="1200"/>
              <a:t>semantic_form</a:t>
            </a:r>
            <a:r>
              <a:rPr lang="ko-KR" altLang="en-US" sz="1200"/>
              <a:t>과 표면적으로 다르더라도</a:t>
            </a:r>
            <a:r>
              <a:rPr lang="en-US" altLang="ko-KR" sz="1200"/>
              <a:t>, </a:t>
            </a:r>
            <a:r>
              <a:rPr lang="ko-KR" altLang="en-US" sz="1200"/>
              <a:t>질문 의미를 정확히 답하고 실제 스키마 제약을 만족하면 정답일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endParaRPr lang="ko-KR" altLang="en-US" sz="120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395857-6284-18EA-2CB5-525FA402EBD2}"/>
              </a:ext>
            </a:extLst>
          </p:cNvPr>
          <p:cNvSpPr/>
          <p:nvPr/>
        </p:nvSpPr>
        <p:spPr>
          <a:xfrm>
            <a:off x="7878618" y="277091"/>
            <a:ext cx="3943927" cy="10437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검증</a:t>
            </a:r>
          </a:p>
        </p:txBody>
      </p:sp>
    </p:spTree>
    <p:extLst>
      <p:ext uri="{BB962C8B-B14F-4D97-AF65-F5344CB8AC3E}">
        <p14:creationId xmlns:p14="http://schemas.microsoft.com/office/powerpoint/2010/main" val="19060189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03055-16F8-0816-A04A-1C2FE5EE9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466DEA0-0BC0-EC52-29A4-F900325E36A3}"/>
              </a:ext>
            </a:extLst>
          </p:cNvPr>
          <p:cNvSpPr txBox="1"/>
          <p:nvPr/>
        </p:nvSpPr>
        <p:spPr>
          <a:xfrm>
            <a:off x="840509" y="452582"/>
            <a:ext cx="1110210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39.1 </a:t>
            </a:r>
            <a:r>
              <a:rPr lang="ko-KR" altLang="en-US" sz="1200"/>
              <a:t>질문 의미와 실제 스키마를 함께 본다</a:t>
            </a:r>
          </a:p>
          <a:p>
            <a:endParaRPr lang="ko-KR" altLang="en-US" sz="1200" dirty="0"/>
          </a:p>
          <a:p>
            <a:r>
              <a:rPr lang="en-US" altLang="ko-KR" sz="1200"/>
              <a:t>question meaning</a:t>
            </a:r>
            <a:r>
              <a:rPr lang="ko-KR" altLang="en-US" sz="1200"/>
              <a:t>만 보는 것도 아니고</a:t>
            </a:r>
            <a:r>
              <a:rPr lang="en-US" altLang="ko-KR" sz="1200"/>
              <a:t>, semantic_form</a:t>
            </a:r>
            <a:r>
              <a:rPr lang="ko-KR" altLang="en-US" sz="1200"/>
              <a:t>만 보는 것도 아니며</a:t>
            </a:r>
            <a:r>
              <a:rPr lang="en-US" altLang="ko-KR" sz="1200"/>
              <a:t>, </a:t>
            </a:r>
            <a:r>
              <a:rPr lang="ko-KR" altLang="en-US" sz="1200"/>
              <a:t>질문 </a:t>
            </a:r>
            <a:r>
              <a:rPr lang="en-US" altLang="ko-KR" sz="1200"/>
              <a:t>+ schema + SQL </a:t>
            </a:r>
            <a:r>
              <a:rPr lang="ko-KR" altLang="en-US" sz="1200"/>
              <a:t>의미를 함께 평가합니다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39.2 </a:t>
            </a:r>
            <a:r>
              <a:rPr lang="en-US" altLang="ko-KR" sz="1200" dirty="0" err="1"/>
              <a:t>semantic_form</a:t>
            </a:r>
            <a:r>
              <a:rPr lang="ko-KR" altLang="en-US" sz="1200"/>
              <a:t>은 참고용이다</a:t>
            </a:r>
          </a:p>
          <a:p>
            <a:endParaRPr lang="ko-KR" altLang="en-US" sz="1200" dirty="0"/>
          </a:p>
          <a:p>
            <a:r>
              <a:rPr lang="en-US" altLang="ko-KR" sz="1200"/>
              <a:t>semantic_form</a:t>
            </a:r>
            <a:r>
              <a:rPr lang="ko-KR" altLang="en-US" sz="1200"/>
              <a:t>과 </a:t>
            </a:r>
            <a:r>
              <a:rPr lang="en-US" altLang="ko-KR" sz="1200"/>
              <a:t>SQL</a:t>
            </a:r>
            <a:r>
              <a:rPr lang="ko-KR" altLang="en-US" sz="1200"/>
              <a:t>이 표면적으로 다르더라도</a:t>
            </a:r>
            <a:r>
              <a:rPr lang="en-US" altLang="ko-KR" sz="1200"/>
              <a:t>, </a:t>
            </a:r>
            <a:r>
              <a:rPr lang="ko-KR" altLang="en-US" sz="1200"/>
              <a:t>질문 의미를 정확히 답하고 </a:t>
            </a:r>
            <a:r>
              <a:rPr lang="en-US" altLang="ko-KR" sz="1200"/>
              <a:t>schema</a:t>
            </a:r>
            <a:r>
              <a:rPr lang="ko-KR" altLang="en-US" sz="1200"/>
              <a:t>를 만족하면 정답일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39.3 categorical/date/code representation</a:t>
            </a:r>
            <a:r>
              <a:rPr lang="ko-KR" altLang="en-US" sz="1200"/>
              <a:t>을 엄격히 본다</a:t>
            </a:r>
          </a:p>
          <a:p>
            <a:endParaRPr lang="ko-KR" altLang="en-US" sz="1200" dirty="0"/>
          </a:p>
          <a:p>
            <a:r>
              <a:rPr lang="ko-KR" altLang="en-US" sz="1200" dirty="0"/>
              <a:t>자연어적으로 비슷해도 실제 </a:t>
            </a:r>
            <a:r>
              <a:rPr lang="ko-KR" altLang="en-US" sz="1200" dirty="0" err="1"/>
              <a:t>저장값</a:t>
            </a:r>
            <a:r>
              <a:rPr lang="ko-KR" altLang="en-US" sz="1200" dirty="0"/>
              <a:t> 표현이 다르면 </a:t>
            </a:r>
            <a:r>
              <a:rPr lang="en-US" altLang="ko-KR" sz="1200"/>
              <a:t>incorrect</a:t>
            </a:r>
            <a:r>
              <a:rPr lang="ko-KR" altLang="en-US" sz="1200"/>
              <a:t>가 될 수 있습니다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39.4 false positive</a:t>
            </a:r>
            <a:r>
              <a:rPr lang="ko-KR" altLang="en-US" sz="1200"/>
              <a:t>를 줄이기 위한 방어 구조가 있다</a:t>
            </a:r>
          </a:p>
          <a:p>
            <a:endParaRPr lang="ko-KR" altLang="en-US" sz="1200" dirty="0"/>
          </a:p>
          <a:p>
            <a:r>
              <a:rPr lang="en-US" altLang="ko-KR" sz="1200"/>
              <a:t>defense review, heuristic adjustment</a:t>
            </a:r>
            <a:r>
              <a:rPr lang="ko-KR" altLang="en-US" sz="1200"/>
              <a:t>를 통해 과잉 </a:t>
            </a:r>
            <a:r>
              <a:rPr lang="en-US" altLang="ko-KR" sz="1200"/>
              <a:t>incorrect </a:t>
            </a:r>
            <a:r>
              <a:rPr lang="ko-KR" altLang="en-US" sz="1200"/>
              <a:t>판정을 완화합니다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39.5 false negative</a:t>
            </a:r>
            <a:r>
              <a:rPr lang="ko-KR" altLang="en-US" sz="1200"/>
              <a:t>도 잡기 위한 </a:t>
            </a:r>
            <a:r>
              <a:rPr lang="en-US" altLang="ko-KR" sz="1200"/>
              <a:t>prosecution review</a:t>
            </a:r>
            <a:r>
              <a:rPr lang="ko-KR" altLang="en-US" sz="1200"/>
              <a:t>가 있다</a:t>
            </a:r>
          </a:p>
          <a:p>
            <a:endParaRPr lang="ko-KR" altLang="en-US" sz="1200" dirty="0"/>
          </a:p>
          <a:p>
            <a:r>
              <a:rPr lang="ko-KR" altLang="en-US" sz="1200" dirty="0"/>
              <a:t>겉보기엔 맞아 보여도 중요 </a:t>
            </a:r>
            <a:r>
              <a:rPr lang="en-US" altLang="ko-KR" sz="1200"/>
              <a:t>filter/ratio/aggregation grain</a:t>
            </a:r>
            <a:r>
              <a:rPr lang="ko-KR" altLang="en-US" sz="1200"/>
              <a:t>이 틀리면 </a:t>
            </a:r>
            <a:r>
              <a:rPr lang="en-US" altLang="ko-KR" sz="1200"/>
              <a:t>incorrect</a:t>
            </a:r>
            <a:r>
              <a:rPr lang="ko-KR" altLang="en-US" sz="1200"/>
              <a:t>로 잡아냅니다</a:t>
            </a:r>
            <a:r>
              <a:rPr lang="en-US" altLang="ko-KR" sz="1200"/>
              <a:t>.</a:t>
            </a:r>
          </a:p>
          <a:p>
            <a:endParaRPr lang="en-US" altLang="ko-KR" sz="1200" dirty="0"/>
          </a:p>
          <a:p>
            <a:r>
              <a:rPr lang="en-US" altLang="ko-KR" sz="1200" dirty="0"/>
              <a:t>39.6 </a:t>
            </a:r>
            <a:r>
              <a:rPr lang="ko-KR" altLang="en-US" sz="1200"/>
              <a:t>결과가 </a:t>
            </a:r>
            <a:r>
              <a:rPr lang="en-US" altLang="ko-KR" sz="1200"/>
              <a:t>explainable</a:t>
            </a:r>
            <a:r>
              <a:rPr lang="ko-KR" altLang="en-US" sz="1200"/>
              <a:t>하다</a:t>
            </a:r>
          </a:p>
          <a:p>
            <a:endParaRPr lang="ko-KR" altLang="en-US" sz="1200" dirty="0"/>
          </a:p>
          <a:p>
            <a:r>
              <a:rPr lang="ko-KR" altLang="en-US" sz="1200" dirty="0"/>
              <a:t>최종 </a:t>
            </a:r>
            <a:r>
              <a:rPr lang="en-US" altLang="ko-KR" sz="1200"/>
              <a:t>verdict</a:t>
            </a:r>
            <a:r>
              <a:rPr lang="ko-KR" altLang="en-US" sz="1200"/>
              <a:t>만 주는 것이 아니라</a:t>
            </a:r>
            <a:r>
              <a:rPr lang="en-US" altLang="ko-KR" sz="1200"/>
              <a:t>, </a:t>
            </a:r>
            <a:r>
              <a:rPr lang="ko-KR" altLang="en-US" sz="1200"/>
              <a:t>왜 그렇게 판정했는지 구조적으로 남깁니다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5980372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88845-AECA-36F2-24E5-03B5AD2A7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947F02-6DC6-000C-1018-F5F38EF12AF4}"/>
              </a:ext>
            </a:extLst>
          </p:cNvPr>
          <p:cNvSpPr txBox="1"/>
          <p:nvPr/>
        </p:nvSpPr>
        <p:spPr>
          <a:xfrm>
            <a:off x="480291" y="295564"/>
            <a:ext cx="10335491" cy="11910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25.1 </a:t>
            </a:r>
            <a:r>
              <a:rPr lang="ko-KR" altLang="en-US" sz="1200"/>
              <a:t>단계별 수행 순서</a:t>
            </a:r>
          </a:p>
          <a:p>
            <a:r>
              <a:rPr lang="en-US" altLang="ko-KR" sz="1200"/>
              <a:t>1) tables_info </a:t>
            </a:r>
            <a:r>
              <a:rPr lang="ko-KR" altLang="en-US" sz="1200"/>
              <a:t>재생성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regenerated_tables_info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build_tables_info_for_row</a:t>
            </a:r>
            <a:r>
              <a:rPr lang="en-US" altLang="ko-KR" sz="1200" dirty="0"/>
              <a:t>(</a:t>
            </a:r>
            <a:r>
              <a:rPr lang="en-US" altLang="ko-KR" sz="1200" dirty="0" err="1"/>
              <a:t>table_list</a:t>
            </a:r>
            <a:r>
              <a:rPr lang="en-US" altLang="ko-KR" sz="1200" dirty="0"/>
              <a:t>, </a:t>
            </a:r>
            <a:r>
              <a:rPr lang="en-US" altLang="ko-KR" sz="1200" dirty="0" err="1"/>
              <a:t>catalog_df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2) schema constraints </a:t>
            </a:r>
            <a:r>
              <a:rPr lang="ko-KR" altLang="en-US" sz="1200"/>
              <a:t>생성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structured_schema_constraints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build_structured_schema_constraints</a:t>
            </a:r>
            <a:r>
              <a:rPr lang="en-US" altLang="ko-KR" sz="1200" dirty="0"/>
              <a:t>(</a:t>
            </a:r>
            <a:r>
              <a:rPr lang="en-US" altLang="ko-KR" sz="1200" dirty="0" err="1"/>
              <a:t>catalog_subset</a:t>
            </a:r>
            <a:r>
              <a:rPr lang="en-US" altLang="ko-KR" sz="1200" dirty="0"/>
              <a:t>)</a:t>
            </a:r>
          </a:p>
          <a:p>
            <a:endParaRPr lang="en-US" altLang="ko-KR" sz="1200" dirty="0"/>
          </a:p>
          <a:p>
            <a:r>
              <a:rPr lang="en-US" altLang="ko-KR" sz="1200" dirty="0"/>
              <a:t>3) semantic evidence </a:t>
            </a:r>
            <a:r>
              <a:rPr lang="ko-KR" altLang="en-US" sz="1200"/>
              <a:t>구성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/>
              <a:t>evidence = </a:t>
            </a:r>
            <a:r>
              <a:rPr lang="en-US" altLang="ko-KR" sz="1200" dirty="0" err="1"/>
              <a:t>build_semantic_evidence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4) </a:t>
            </a:r>
            <a:r>
              <a:rPr lang="en-US" altLang="ko-KR" sz="1200" dirty="0" err="1"/>
              <a:t>semantic_form</a:t>
            </a:r>
            <a:r>
              <a:rPr lang="en-US" altLang="ko-KR" sz="1200" dirty="0"/>
              <a:t> concept </a:t>
            </a:r>
            <a:r>
              <a:rPr lang="ko-KR" altLang="en-US" sz="1200"/>
              <a:t>추출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semantic_form_concepts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llm_extract_semantic_form_concepts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5) question intent </a:t>
            </a:r>
            <a:r>
              <a:rPr lang="ko-KR" altLang="en-US" sz="1200"/>
              <a:t>추출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question_intent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llm_extract_question_intent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6) SQL semantic summary </a:t>
            </a:r>
            <a:r>
              <a:rPr lang="ko-KR" altLang="en-US" sz="1200"/>
              <a:t>추출</a:t>
            </a:r>
          </a:p>
          <a:p>
            <a:r>
              <a:rPr lang="en-US" altLang="ko-KR" sz="1200"/>
              <a:t>ExamplePython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sql_semantic_summary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llm_extract_sql_semantic_summary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7) initial judgment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initial_judgment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llm_initial_correctness_judge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8) defense review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defense_review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llm_defense_review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9) prosecution review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prosecution_review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llm_prosecution_review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10) final adjudication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final_adjudication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llm_final_adjudication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11) heuristic adjustment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 err="1"/>
              <a:t>final_adjudication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heuristic_post_adjudication_adjustment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r>
              <a:rPr lang="en-US" altLang="ko-KR" sz="1200" dirty="0"/>
              <a:t>12) incorrect</a:t>
            </a:r>
            <a:r>
              <a:rPr lang="ko-KR" altLang="en-US" sz="1200"/>
              <a:t>일 때만 </a:t>
            </a:r>
            <a:r>
              <a:rPr lang="en-US" altLang="ko-KR" sz="1200"/>
              <a:t>error typing</a:t>
            </a:r>
          </a:p>
          <a:p>
            <a:r>
              <a:rPr lang="en-US" altLang="ko-KR" sz="1200" dirty="0" err="1"/>
              <a:t>ExamplePython</a:t>
            </a:r>
            <a:endParaRPr lang="en-US" altLang="ko-KR" sz="1200" dirty="0"/>
          </a:p>
          <a:p>
            <a:endParaRPr lang="en-US" altLang="ko-KR" sz="1200" dirty="0"/>
          </a:p>
          <a:p>
            <a:r>
              <a:rPr lang="en-US" altLang="ko-KR" sz="1200" dirty="0"/>
              <a:t>if </a:t>
            </a:r>
            <a:r>
              <a:rPr lang="en-US" altLang="ko-KR" sz="1200" dirty="0" err="1"/>
              <a:t>final_adjudication.get</a:t>
            </a:r>
            <a:r>
              <a:rPr lang="en-US" altLang="ko-KR" sz="1200" dirty="0"/>
              <a:t>("</a:t>
            </a:r>
            <a:r>
              <a:rPr lang="en-US" altLang="ko-KR" sz="1200" dirty="0" err="1"/>
              <a:t>final_verdict</a:t>
            </a:r>
            <a:r>
              <a:rPr lang="en-US" altLang="ko-KR" sz="1200" dirty="0"/>
              <a:t>") == "incorrect":</a:t>
            </a:r>
          </a:p>
          <a:p>
            <a:r>
              <a:rPr lang="en-US" altLang="ko-KR" sz="1200" dirty="0"/>
              <a:t>    </a:t>
            </a:r>
            <a:r>
              <a:rPr lang="en-US" altLang="ko-KR" sz="1200" dirty="0" err="1"/>
              <a:t>category_results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llm_error_typing</a:t>
            </a:r>
            <a:r>
              <a:rPr lang="en-US" altLang="ko-KR" sz="1200" dirty="0"/>
              <a:t>(...)</a:t>
            </a:r>
          </a:p>
          <a:p>
            <a:endParaRPr lang="en-US" altLang="ko-KR" sz="1200" dirty="0"/>
          </a:p>
          <a:p>
            <a:endParaRPr lang="en-US" altLang="ko-KR" sz="1200" dirty="0"/>
          </a:p>
          <a:p>
            <a:r>
              <a:rPr lang="ko-KR" altLang="en-US" sz="1200"/>
              <a:t>즉 이 함수는 증거 구성 → 다단계 의미 평가 → 최종 판정 → 오류 분류 까지 한 번에 수행합니다</a:t>
            </a:r>
            <a:r>
              <a:rPr lang="en-US" altLang="ko-KR" sz="120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97202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405CF-5D10-B1F7-85A9-315070438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0C2DC74-CCF1-D81D-3323-354E9B99D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4779" y="448396"/>
            <a:ext cx="4095750" cy="6219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847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FA925-4431-C0EE-3989-A6CB77711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55175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84AF-29C7-5DE9-EF29-D0DBE6F8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66277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5023</Words>
  <Application>Microsoft Office PowerPoint</Application>
  <PresentationFormat>와이드스크린</PresentationFormat>
  <Paragraphs>822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9" baseType="lpstr">
      <vt:lpstr>-apple-system</vt:lpstr>
      <vt:lpstr>LG스마트체 Light</vt:lpstr>
      <vt:lpstr>LG스마트체 Regular</vt:lpstr>
      <vt:lpstr>맑은 고딕</vt:lpstr>
      <vt:lpstr>바탕체</vt:lpstr>
      <vt:lpstr>Arial</vt:lpstr>
      <vt:lpstr>Arial Narrow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구본상/선임연구원/데이터운영팀</dc:creator>
  <cp:lastModifiedBy>구본상/선임연구원/데이터운영팀</cp:lastModifiedBy>
  <cp:revision>8</cp:revision>
  <dcterms:created xsi:type="dcterms:W3CDTF">2026-03-31T00:40:03Z</dcterms:created>
  <dcterms:modified xsi:type="dcterms:W3CDTF">2026-04-01T06:25:18Z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c6ed9fc-fefc-4a0c-a6d6-10cf236c0d4f_Enabled">
    <vt:lpwstr>true</vt:lpwstr>
  </property>
  <property fmtid="{D5CDD505-2E9C-101B-9397-08002B2CF9AE}" pid="3" name="MSIP_Label_cc6ed9fc-fefc-4a0c-a6d6-10cf236c0d4f_SetDate">
    <vt:lpwstr>2026-03-31T01:02:44Z</vt:lpwstr>
  </property>
  <property fmtid="{D5CDD505-2E9C-101B-9397-08002B2CF9AE}" pid="4" name="MSIP_Label_cc6ed9fc-fefc-4a0c-a6d6-10cf236c0d4f_Method">
    <vt:lpwstr>Standard</vt:lpwstr>
  </property>
  <property fmtid="{D5CDD505-2E9C-101B-9397-08002B2CF9AE}" pid="5" name="MSIP_Label_cc6ed9fc-fefc-4a0c-a6d6-10cf236c0d4f_Name">
    <vt:lpwstr>Internal use only</vt:lpwstr>
  </property>
  <property fmtid="{D5CDD505-2E9C-101B-9397-08002B2CF9AE}" pid="6" name="MSIP_Label_cc6ed9fc-fefc-4a0c-a6d6-10cf236c0d4f_SiteId">
    <vt:lpwstr>5069cde4-642a-45c0-8094-d0c2dec10be3</vt:lpwstr>
  </property>
  <property fmtid="{D5CDD505-2E9C-101B-9397-08002B2CF9AE}" pid="7" name="MSIP_Label_cc6ed9fc-fefc-4a0c-a6d6-10cf236c0d4f_ActionId">
    <vt:lpwstr>10fce245-1d50-45fc-bc1c-206c5596553a</vt:lpwstr>
  </property>
  <property fmtid="{D5CDD505-2E9C-101B-9397-08002B2CF9AE}" pid="8" name="MSIP_Label_cc6ed9fc-fefc-4a0c-a6d6-10cf236c0d4f_ContentBits">
    <vt:lpwstr>1</vt:lpwstr>
  </property>
  <property fmtid="{D5CDD505-2E9C-101B-9397-08002B2CF9AE}" pid="9" name="ClassificationContentMarkingHeaderLocations">
    <vt:lpwstr>Office 테마:8</vt:lpwstr>
  </property>
  <property fmtid="{D5CDD505-2E9C-101B-9397-08002B2CF9AE}" pid="10" name="ClassificationContentMarkingHeaderText">
    <vt:lpwstr>LGE Internal Use Only</vt:lpwstr>
  </property>
</Properties>
</file>