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NL2SQL 성능 측정용</a:t>
            </a:r>
          </a:p>
          <a:p>
            <a:pPr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질문 / 정답셋 생성 코드 인수인계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EEBF6"/>
                </a:solidFill>
                <a:latin typeface="맑은 고딕"/>
              </a:defRPr>
            </a:pPr>
            <a:r>
              <a:t>EDL 카탈로그 기반 자동 평가셋 생성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D7D31"/>
                </a:solidFill>
                <a:latin typeface="맑은 고딕"/>
              </a:defRPr>
            </a:pPr>
            <a:r>
              <a:t>코드 위치 (203)</a:t>
            </a:r>
          </a:p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/data001/bonsang.koo/2026/ai_readable/eap/gen_question_0421.py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목차</a:t>
            </a:r>
          </a:p>
          <a:p>
            <a:pPr>
              <a:defRPr sz="1100">
                <a:solidFill>
                  <a:srgbClr val="DEEBF6"/>
                </a:solidFill>
                <a:latin typeface="맑은 고딕"/>
              </a:defRPr>
            </a:pPr>
            <a:r>
              <a:t>Table of Contents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2344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맑은 고딕"/>
              </a:defRPr>
            </a:pPr>
            <a:r>
              <a:t>개요 및 목적</a:t>
            </a:r>
          </a:p>
          <a:p>
            <a:pPr>
              <a:defRPr sz="1000">
                <a:solidFill>
                  <a:srgbClr val="595959"/>
                </a:solidFill>
                <a:latin typeface="맑은 고딕"/>
              </a:defRPr>
            </a:pPr>
            <a:r>
              <a:t>NL2SQL 평가셋 자동 생성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057400"/>
            <a:ext cx="640080" cy="6400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1031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맑은 고딕"/>
              </a:defRPr>
            </a:pPr>
            <a:r>
              <a:t>전체 처리 흐름</a:t>
            </a:r>
          </a:p>
          <a:p>
            <a:pPr>
              <a:defRPr sz="1000">
                <a:solidFill>
                  <a:srgbClr val="595959"/>
                </a:solidFill>
                <a:latin typeface="맑은 고딕"/>
              </a:defRPr>
            </a:pPr>
            <a:r>
              <a:t>17단계 파이프라인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926080"/>
            <a:ext cx="640080" cy="6400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9718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맑은 고딕"/>
              </a:defRPr>
            </a:pPr>
            <a:r>
              <a:t>질문/정답셋 생성 도식도</a:t>
            </a:r>
          </a:p>
          <a:p>
            <a:pPr>
              <a:defRPr sz="1000">
                <a:solidFill>
                  <a:srgbClr val="595959"/>
                </a:solidFill>
                <a:latin typeface="맑은 고딕"/>
              </a:defRPr>
            </a:pPr>
            <a:r>
              <a:t>End-to-End Flow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794759"/>
            <a:ext cx="640080" cy="6400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840479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맑은 고딕"/>
              </a:defRPr>
            </a:pPr>
            <a:r>
              <a:t>입력 데이터 및 설정</a:t>
            </a:r>
          </a:p>
          <a:p>
            <a:pPr>
              <a:defRPr sz="1000">
                <a:solidFill>
                  <a:srgbClr val="595959"/>
                </a:solidFill>
                <a:latin typeface="맑은 고딕"/>
              </a:defRPr>
            </a:pPr>
            <a:r>
              <a:t>카탈로그 / 실행 설정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663440"/>
            <a:ext cx="640080" cy="6400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7091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맑은 고딕"/>
              </a:defRPr>
            </a:pPr>
            <a:r>
              <a:t>Stage별 상세 설명</a:t>
            </a:r>
          </a:p>
          <a:p>
            <a:pPr>
              <a:defRPr sz="1000">
                <a:solidFill>
                  <a:srgbClr val="595959"/>
                </a:solidFill>
                <a:latin typeface="맑은 고딕"/>
              </a:defRPr>
            </a:pPr>
            <a:r>
              <a:t>Stage 0 ~ Stage 5.6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5532120"/>
            <a:ext cx="640080" cy="6400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5778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맑은 고딕"/>
              </a:defRPr>
            </a:pPr>
            <a:r>
              <a:t>SQL Dialect 규칙</a:t>
            </a:r>
          </a:p>
          <a:p>
            <a:pPr>
              <a:defRPr sz="1000">
                <a:solidFill>
                  <a:srgbClr val="595959"/>
                </a:solidFill>
                <a:latin typeface="맑은 고딕"/>
              </a:defRPr>
            </a:pPr>
            <a:r>
              <a:t>BigQuery / PostgreSQL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1188720"/>
            <a:ext cx="640080" cy="6400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12344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맑은 고딕"/>
              </a:defRPr>
            </a:pPr>
            <a:r>
              <a:t>질문 품질 필터링</a:t>
            </a:r>
          </a:p>
          <a:p>
            <a:pPr>
              <a:defRPr sz="1000">
                <a:solidFill>
                  <a:srgbClr val="595959"/>
                </a:solidFill>
                <a:latin typeface="맑은 고딕"/>
              </a:defRPr>
            </a:pPr>
            <a:r>
              <a:t>9종 필터 로직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2057400"/>
            <a:ext cx="640080" cy="6400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1031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맑은 고딕"/>
              </a:defRPr>
            </a:pPr>
            <a:r>
              <a:t>SQL 검증 및 Repair</a:t>
            </a:r>
          </a:p>
          <a:p>
            <a:pPr>
              <a:defRPr sz="1000">
                <a:solidFill>
                  <a:srgbClr val="595959"/>
                </a:solidFill>
                <a:latin typeface="맑은 고딕"/>
              </a:defRPr>
            </a:pPr>
            <a:r>
              <a:t>Validator / Repair 로직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2926080"/>
            <a:ext cx="640080" cy="6400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9718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맑은 고딕"/>
              </a:defRPr>
            </a:pPr>
            <a:r>
              <a:t>최종 산출물</a:t>
            </a:r>
          </a:p>
          <a:p>
            <a:pPr>
              <a:defRPr sz="1000">
                <a:solidFill>
                  <a:srgbClr val="595959"/>
                </a:solidFill>
                <a:latin typeface="맑은 고딕"/>
              </a:defRPr>
            </a:pPr>
            <a:r>
              <a:t>Excel 파일 구조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3794759"/>
            <a:ext cx="640080" cy="6400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840479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맑은 고딕"/>
              </a:defRPr>
            </a:pPr>
            <a:r>
              <a:t>파라미터 튜닝 가이드</a:t>
            </a:r>
          </a:p>
          <a:p>
            <a:pPr>
              <a:defRPr sz="1000">
                <a:solidFill>
                  <a:srgbClr val="595959"/>
                </a:solidFill>
                <a:latin typeface="맑은 고딕"/>
              </a:defRPr>
            </a:pPr>
            <a:r>
              <a:t>품질 / 속도 / JOIN 조정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4663440"/>
            <a:ext cx="640080" cy="6400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7091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맑은 고딕"/>
              </a:defRPr>
            </a:pPr>
            <a:r>
              <a:t>에러 대응 및 유지보수</a:t>
            </a:r>
          </a:p>
          <a:p>
            <a:pPr>
              <a:defRPr sz="1000">
                <a:solidFill>
                  <a:srgbClr val="595959"/>
                </a:solidFill>
                <a:latin typeface="맑은 고딕"/>
              </a:defRPr>
            </a:pPr>
            <a:r>
              <a:t>Troubleshooting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  <a:latin typeface="맑은 고딕"/>
              </a:defRPr>
            </a:pPr>
            <a: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1. 개요 및 목적</a:t>
            </a:r>
          </a:p>
          <a:p>
            <a:pPr>
              <a:defRPr sz="1100">
                <a:solidFill>
                  <a:srgbClr val="DEEBF6"/>
                </a:solidFill>
                <a:latin typeface="맑은 고딕"/>
              </a:defRPr>
            </a:pPr>
            <a:r>
              <a:t>NL2SQL 평가셋 자동 생성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목적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1371600"/>
          </a:xfrm>
          <a:prstGeom prst="rect">
            <a:avLst/>
          </a:prstGeom>
          <a:solidFill>
            <a:srgbClr val="DEEBF6"/>
          </a:solidFill>
          <a:ln>
            <a:noFill/>
          </a:ln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202020"/>
                </a:solidFill>
                <a:latin typeface="맑은 고딕"/>
              </a:defRPr>
            </a:pPr>
            <a:r>
              <a:t>NL2SQL 모델의 성능을 측정하기 위한 평가셋을 자동으로 생성하는 파이프라인.</a:t>
            </a:r>
            <a:br/>
            <a:r>
              <a:t>자연어 질문과 그에 대응하는 정답 SQL을 자동 생성한다.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0972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최종 산출물 컬럼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02020"/>
                </a:solidFill>
                <a:latin typeface="맑은 고딕"/>
              </a:defRPr>
            </a:pPr>
            <a:r>
              <a:t>• system : 시스템명</a:t>
            </a:r>
          </a:p>
          <a:p>
            <a:pPr>
              <a:spcAft>
                <a:spcPts val="300"/>
              </a:spcAft>
              <a:defRPr sz="1200">
                <a:solidFill>
                  <a:srgbClr val="202020"/>
                </a:solidFill>
                <a:latin typeface="맑은 고딕"/>
              </a:defRPr>
            </a:pPr>
            <a:r>
              <a:t>• user_question : 원본 질문 (LLM 초기 생성)</a:t>
            </a:r>
          </a:p>
          <a:p>
            <a:pPr>
              <a:spcAft>
                <a:spcPts val="300"/>
              </a:spcAft>
              <a:defRPr sz="1200">
                <a:solidFill>
                  <a:srgbClr val="202020"/>
                </a:solidFill>
                <a:latin typeface="맑은 고딕"/>
              </a:defRPr>
            </a:pPr>
            <a:r>
              <a:t>• user_question_final : 최종 자연어 질문</a:t>
            </a:r>
          </a:p>
          <a:p>
            <a:pPr>
              <a:spcAft>
                <a:spcPts val="300"/>
              </a:spcAft>
              <a:defRPr sz="1200">
                <a:solidFill>
                  <a:srgbClr val="202020"/>
                </a:solidFill>
                <a:latin typeface="맑은 고딕"/>
              </a:defRPr>
            </a:pPr>
            <a:r>
              <a:t>• semantic_form : 질문 의도 구조화 JSON</a:t>
            </a:r>
          </a:p>
          <a:p>
            <a:pPr>
              <a:spcAft>
                <a:spcPts val="300"/>
              </a:spcAft>
              <a:defRPr sz="1200">
                <a:solidFill>
                  <a:srgbClr val="202020"/>
                </a:solidFill>
                <a:latin typeface="맑은 고딕"/>
              </a:defRPr>
            </a:pPr>
            <a:r>
              <a:t>• gold_sql : 정답 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9184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핵심 컬럼 상세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49039"/>
            <a:ext cx="278892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2E75B6"/>
                </a:solidFill>
                <a:latin typeface="맑은 고딕"/>
              </a:defRPr>
            </a:pPr>
            <a:r>
              <a:t>user_question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LLM 최초 생성 원본 질문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[TABLES: ...] 접두어 포함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어떤 테이블 기준으로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  생성된 질문인지 추적용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3749039"/>
            <a:ext cx="278892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ED7D31"/>
                </a:solidFill>
                <a:latin typeface="맑은 고딕"/>
              </a:defRPr>
            </a:pPr>
            <a:r>
              <a:t>user_question_final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최종 사용자 질문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질문 리라이팅 반영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코드값 자연어화 반영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실제 평가 시 사용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749039"/>
            <a:ext cx="278892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70AD47"/>
                </a:solidFill>
                <a:latin typeface="맑은 고딕"/>
              </a:defRPr>
            </a:pPr>
            <a:r>
              <a:t>semantic_form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질문 의도 구조화 JSON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SELECT / FILTER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GROUP BY / JOIN / ORDER BY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gold_sql 생성/검증 기준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3749039"/>
            <a:ext cx="251460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C0504D"/>
                </a:solidFill>
                <a:latin typeface="맑은 고딕"/>
              </a:defRPr>
            </a:pPr>
            <a:r>
              <a:t>gold_sql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정답 SQL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semantic_form 기준 생성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NL2SQL 모델 SQL과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  비교할 기준 정답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  <a:latin typeface="맑은 고딕"/>
              </a:defRPr>
            </a:pPr>
            <a: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2. 전체 처리 흐름 (Overview)</a:t>
            </a:r>
          </a:p>
          <a:p>
            <a:pPr>
              <a:defRPr sz="1100">
                <a:solidFill>
                  <a:srgbClr val="DEEBF6"/>
                </a:solidFill>
                <a:latin typeface="맑은 고딕"/>
              </a:defRPr>
            </a:pPr>
            <a:r>
              <a:t>17-Stage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5029200" cy="50292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① 카탈로그 로드</a:t>
            </a:r>
          </a:p>
        </p:txBody>
      </p:sp>
      <p:sp>
        <p:nvSpPr>
          <p:cNvPr id="5" name="Down Arrow 4"/>
          <p:cNvSpPr/>
          <p:nvPr/>
        </p:nvSpPr>
        <p:spPr>
          <a:xfrm>
            <a:off x="2880360" y="1554480"/>
            <a:ext cx="365760" cy="155448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09928"/>
            <a:ext cx="5029200" cy="50292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② 전처리 / 필터링</a:t>
            </a:r>
          </a:p>
        </p:txBody>
      </p:sp>
      <p:sp>
        <p:nvSpPr>
          <p:cNvPr id="7" name="Down Arrow 6"/>
          <p:cNvSpPr/>
          <p:nvPr/>
        </p:nvSpPr>
        <p:spPr>
          <a:xfrm>
            <a:off x="2880360" y="2212848"/>
            <a:ext cx="365760" cy="155448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368296"/>
            <a:ext cx="5029200" cy="50292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③ Prompt Block 생성</a:t>
            </a:r>
          </a:p>
        </p:txBody>
      </p:sp>
      <p:sp>
        <p:nvSpPr>
          <p:cNvPr id="9" name="Down Arrow 8"/>
          <p:cNvSpPr/>
          <p:nvPr/>
        </p:nvSpPr>
        <p:spPr>
          <a:xfrm>
            <a:off x="2880360" y="2871216"/>
            <a:ext cx="365760" cy="155448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3026664"/>
            <a:ext cx="5029200" cy="50292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④ 목적 기반 그룹핑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880360" y="3529584"/>
            <a:ext cx="365760" cy="155448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685031"/>
            <a:ext cx="5029200" cy="50292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⑤ Join 후보 세트 생성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880360" y="4187951"/>
            <a:ext cx="365760" cy="155448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4343400"/>
            <a:ext cx="5029200" cy="50292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⑥ ai_readable 힌트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880360" y="4846320"/>
            <a:ext cx="365760" cy="155448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5001768"/>
            <a:ext cx="5029200" cy="50292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⑦ 질문 + semantic_form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880360" y="5504688"/>
            <a:ext cx="365760" cy="155448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5660136"/>
            <a:ext cx="5029200" cy="502920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⑧ 질문 품질 필터링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669280" y="3931920"/>
            <a:ext cx="731520" cy="5029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92240" y="1051560"/>
            <a:ext cx="5120640" cy="502920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⑨ 중복 제거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915400" y="1554480"/>
            <a:ext cx="365760" cy="155448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1709928"/>
            <a:ext cx="5120640" cy="502920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⑩ Gold SQL 생성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8915400" y="2212848"/>
            <a:ext cx="365760" cy="155448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92240" y="2368296"/>
            <a:ext cx="5120640" cy="502920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⑪ 질문 리라이팅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8915400" y="2871216"/>
            <a:ext cx="365760" cy="155448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92240" y="3026664"/>
            <a:ext cx="5120640" cy="502920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⑫ 코드값 자연어화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8915400" y="3529584"/>
            <a:ext cx="365760" cy="155448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92240" y="3685031"/>
            <a:ext cx="5120640" cy="502920"/>
          </a:xfrm>
          <a:prstGeom prst="roundRect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⑬ SQL 논리 검증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8915400" y="4187951"/>
            <a:ext cx="365760" cy="155448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92240" y="4343400"/>
            <a:ext cx="5120640" cy="502920"/>
          </a:xfrm>
          <a:prstGeom prst="roundRect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⑭ SQL Repair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8915400" y="4846320"/>
            <a:ext cx="365760" cy="155448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92240" y="5001768"/>
            <a:ext cx="5120640" cy="50292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⑮ 최종 질문 선별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8915400" y="5504688"/>
            <a:ext cx="365760" cy="155448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92240" y="5660136"/>
            <a:ext cx="5120640" cy="50292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⑯ Excel 저장 (시스템별 + 통합)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  <a:latin typeface="맑은 고딕"/>
              </a:defRPr>
            </a:pPr>
            <a: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3. 질문/정답셋 생성 도식도</a:t>
            </a:r>
          </a:p>
          <a:p>
            <a:pPr>
              <a:defRPr sz="1100">
                <a:solidFill>
                  <a:srgbClr val="DEEBF6"/>
                </a:solidFill>
                <a:latin typeface="맑은 고딕"/>
              </a:defRPr>
            </a:pPr>
            <a:r>
              <a:t>End-to-End Detail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2560320" cy="64008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EDL 카탈로그</a:t>
            </a:r>
            <a:br/>
            <a:r>
              <a:t>Excel 로드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71800" y="1188720"/>
            <a:ext cx="320040" cy="2743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83280" y="1005840"/>
            <a:ext cx="2560320" cy="64008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전처리</a:t>
            </a:r>
            <a:br/>
            <a:r>
              <a:t>(개인정보 제외 / 필터링)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89320" y="1188720"/>
            <a:ext cx="320040" cy="2743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005840"/>
            <a:ext cx="2560320" cy="64008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테이블 Prompt Block 생성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006840" y="1188720"/>
            <a:ext cx="320040" cy="2743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18320" y="1005840"/>
            <a:ext cx="2377440" cy="64008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목적 기반 그룹핑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0424160" y="1691640"/>
            <a:ext cx="365760" cy="274320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0" y="2057400"/>
            <a:ext cx="2377440" cy="64008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Join 후보 세트 생성</a:t>
            </a:r>
            <a:br/>
            <a:r>
              <a:t>(LLM)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006840" y="2240280"/>
            <a:ext cx="320040" cy="2743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ft Arrow 13"/>
          <p:cNvSpPr/>
          <p:nvPr/>
        </p:nvSpPr>
        <p:spPr>
          <a:xfrm>
            <a:off x="9006840" y="2240280"/>
            <a:ext cx="320040" cy="274320"/>
          </a:xfrm>
          <a:prstGeom prst="lef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2057400"/>
            <a:ext cx="2560320" cy="64008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ai_readable 힌트 생성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5989320" y="2240280"/>
            <a:ext cx="320040" cy="274320"/>
          </a:xfrm>
          <a:prstGeom prst="lef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83280" y="2057400"/>
            <a:ext cx="2560320" cy="64008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질문 + semantic_form 생성</a:t>
            </a:r>
          </a:p>
        </p:txBody>
      </p:sp>
      <p:sp>
        <p:nvSpPr>
          <p:cNvPr id="18" name="Left Arrow 17"/>
          <p:cNvSpPr/>
          <p:nvPr/>
        </p:nvSpPr>
        <p:spPr>
          <a:xfrm>
            <a:off x="2971800" y="2240280"/>
            <a:ext cx="320040" cy="274320"/>
          </a:xfrm>
          <a:prstGeom prst="lef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" y="2057400"/>
            <a:ext cx="2560320" cy="64008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질문 품질 필터링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371600" y="2743200"/>
            <a:ext cx="365760" cy="274320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5760" y="3108960"/>
            <a:ext cx="2560320" cy="640080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중복 제거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971800" y="3291840"/>
            <a:ext cx="320040" cy="2743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83280" y="3108960"/>
            <a:ext cx="2560320" cy="640080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Gold SQL 생성</a:t>
            </a:r>
            <a:br/>
            <a:r>
              <a:t>(semantic_form 기준)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89320" y="3291840"/>
            <a:ext cx="320040" cy="2743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0" y="3108960"/>
            <a:ext cx="2560320" cy="640080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질문 리라이팅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006840" y="3291840"/>
            <a:ext cx="320040" cy="2743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18320" y="3108960"/>
            <a:ext cx="2377440" cy="640080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코드값 자연어화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10424160" y="3794760"/>
            <a:ext cx="365760" cy="274320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418320" y="4160520"/>
            <a:ext cx="2377440" cy="640080"/>
          </a:xfrm>
          <a:prstGeom prst="roundRect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SQL 논리 검증</a:t>
            </a:r>
            <a:br/>
            <a:r>
              <a:t>(LLM Validator)</a:t>
            </a:r>
          </a:p>
        </p:txBody>
      </p:sp>
      <p:sp>
        <p:nvSpPr>
          <p:cNvPr id="30" name="Left Arrow 29"/>
          <p:cNvSpPr/>
          <p:nvPr/>
        </p:nvSpPr>
        <p:spPr>
          <a:xfrm>
            <a:off x="9006840" y="4343400"/>
            <a:ext cx="320040" cy="274320"/>
          </a:xfrm>
          <a:prstGeom prst="leftArrow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4069080"/>
            <a:ext cx="32004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70AD47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160520"/>
            <a:ext cx="2560320" cy="640080"/>
          </a:xfrm>
          <a:prstGeom prst="roundRect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SQL Repair /</a:t>
            </a:r>
            <a:br/>
            <a:r>
              <a:t>Semantic Form Repair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10424160" y="4846320"/>
            <a:ext cx="365760" cy="274320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35640" y="4846320"/>
            <a:ext cx="36576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00" b="1">
                <a:solidFill>
                  <a:srgbClr val="C0504D"/>
                </a:solidFill>
                <a:latin typeface="맑은 고딕"/>
              </a:defRPr>
            </a:pPr>
            <a:r>
              <a:t>X→재검증</a:t>
            </a:r>
          </a:p>
        </p:txBody>
      </p:sp>
      <p:sp>
        <p:nvSpPr>
          <p:cNvPr id="35" name="Up Arrow 34"/>
          <p:cNvSpPr/>
          <p:nvPr/>
        </p:nvSpPr>
        <p:spPr>
          <a:xfrm>
            <a:off x="7498079" y="3794760"/>
            <a:ext cx="274320" cy="274320"/>
          </a:xfrm>
          <a:prstGeom prst="upArrow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00800" y="5212080"/>
            <a:ext cx="5394960" cy="64008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최종 질문 선별 (SQL O 통과 / ai_readable 민감도 / JOIN 최소 개수 / set 다양성)</a:t>
            </a:r>
          </a:p>
        </p:txBody>
      </p:sp>
      <p:sp>
        <p:nvSpPr>
          <p:cNvPr id="37" name="Left Arrow 36"/>
          <p:cNvSpPr/>
          <p:nvPr/>
        </p:nvSpPr>
        <p:spPr>
          <a:xfrm>
            <a:off x="5989320" y="5394960"/>
            <a:ext cx="320040" cy="274320"/>
          </a:xfrm>
          <a:prstGeom prst="lef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65760" y="5212080"/>
            <a:ext cx="5577840" cy="64008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Excel 저장 (시스템별 + 전체 통합)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126480"/>
            <a:ext cx="228600" cy="228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108192"/>
            <a:ext cx="182880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00" b="1">
                <a:solidFill>
                  <a:srgbClr val="202020"/>
                </a:solidFill>
                <a:latin typeface="맑은 고딕"/>
              </a:defRPr>
            </a:pPr>
            <a:r>
              <a:t>입력/전처리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0" y="6126480"/>
            <a:ext cx="228600" cy="228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6108192"/>
            <a:ext cx="182880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00" b="1">
                <a:solidFill>
                  <a:srgbClr val="202020"/>
                </a:solidFill>
                <a:latin typeface="맑은 고딕"/>
              </a:defRPr>
            </a:pPr>
            <a:r>
              <a:t>LLM 생성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0" y="6126480"/>
            <a:ext cx="228600" cy="2286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0" y="6108192"/>
            <a:ext cx="182880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00" b="1">
                <a:solidFill>
                  <a:srgbClr val="202020"/>
                </a:solidFill>
                <a:latin typeface="맑은 고딕"/>
              </a:defRPr>
            </a:pPr>
            <a:r>
              <a:t>품질 관리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0" y="6126480"/>
            <a:ext cx="228600" cy="2286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89520" y="6108192"/>
            <a:ext cx="182880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00" b="1">
                <a:solidFill>
                  <a:srgbClr val="202020"/>
                </a:solidFill>
                <a:latin typeface="맑은 고딕"/>
              </a:defRPr>
            </a:pPr>
            <a:r>
              <a:t>검증/Repair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01200" y="6126480"/>
            <a:ext cx="228600" cy="228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75520" y="6108192"/>
            <a:ext cx="182880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00" b="1">
                <a:solidFill>
                  <a:srgbClr val="202020"/>
                </a:solidFill>
                <a:latin typeface="맑은 고딕"/>
              </a:defRPr>
            </a:pPr>
            <a:r>
              <a:t>최종 산출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  <a:latin typeface="맑은 고딕"/>
              </a:defRPr>
            </a:pPr>
            <a: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4-1. 입력 데이터</a:t>
            </a:r>
          </a:p>
          <a:p>
            <a:pPr>
              <a:defRPr sz="1100">
                <a:solidFill>
                  <a:srgbClr val="DEEBF6"/>
                </a:solidFill>
                <a:latin typeface="맑은 고딕"/>
              </a:defRPr>
            </a:pPr>
            <a:r>
              <a:t>EDL 카탈로그 Excel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입력 파일 경로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solidFill>
            <a:srgbClr val="DEEBF6"/>
          </a:solidFill>
          <a:ln>
            <a:noFill/>
          </a:ln>
        </p:spPr>
        <p:txBody>
          <a:bodyPr wrap="square" lIns="73152" rIns="73152">
            <a:spAutoFit/>
          </a:bodyPr>
          <a:lstStyle/>
          <a:p>
            <a:pPr algn="l">
              <a:defRPr sz="1100" b="0">
                <a:solidFill>
                  <a:srgbClr val="1F4E79"/>
                </a:solidFill>
                <a:latin typeface="Consolas"/>
              </a:defRPr>
            </a:pPr>
            <a:r>
              <a:t>/data001/bonsang.koo/2026/ai_readable/eap/edl_ai_readable_gemini_20260414_llm_tb_desc_final_l1_l2_tbdesc.xlsx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주요 입력 컬럼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60604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0005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컬럼명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용도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DATASET_NAME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시스템명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New GDMi, GPLM, GSCP 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TABLE_NAME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원천 테이블명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ic360_table_name 생성 시 사용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TAB_COL_NAME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컬럼명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질문/SQL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LLM_TB_DESC_L1_L2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테이블 목적 설명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그룹핑 / 리라이팅 키워드 추출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LLM_COL_L1_L2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컬럼 설명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업무 의미 파악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LLM_SMP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컬럼 값 예시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필터 값 / 코드값 자연어화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PSNL_COL_NAME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개인정보 컬럼 여부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Y인 경우 질문 생성 대상 제외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94360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943600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ic360_table_name 생성 규칙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solidFill>
            <a:srgbClr val="DEEBF6"/>
          </a:solidFill>
          <a:ln>
            <a:noFill/>
          </a:ln>
        </p:spPr>
        <p:txBody>
          <a:bodyPr wrap="square" lIns="73152" rIns="73152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Consolas"/>
              </a:defRPr>
            </a:pPr>
            <a:r>
              <a:t>v_ + DATASET_NAME(소문자, 언더스코어 제거) + _ + TABLE_NAME(소문자)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  <a:latin typeface="맑은 고딕"/>
              </a:defRPr>
            </a:pPr>
            <a: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4-2. 실행 설정</a:t>
            </a:r>
          </a:p>
          <a:p>
            <a:pPr>
              <a:defRPr sz="1100">
                <a:solidFill>
                  <a:srgbClr val="DEEBF6"/>
                </a:solidFill>
                <a:latin typeface="맑은 고딕"/>
              </a:defRPr>
            </a:pPr>
            <a:r>
              <a:t>주요 실행 파라미터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기본 설정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02336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값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now_date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260421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DIALECT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BigQuery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max_workers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출력 경로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question_260421/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0" y="109728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0972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Azure OpenAI 설정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55448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02336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값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temperature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top_p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seed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7777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streaming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384048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840480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파이프라인 파라미터 (run_one_system)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297680"/>
          <a:ext cx="112471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33680"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파라미터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값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23368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n_candidate_sets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생성할 join candidate set 개수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368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questions_per_set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각 set에서 목표 질문 개수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  <a:tr h="23368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total_target_questions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시스템별 최종 목표 질문 개수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368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join_question_ratio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JOIN 질문 비율 (%)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  <a:tr h="23368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regen_max_rounds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재생성 최대 라운드 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368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stage2_oversample_factor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5.0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질문 oversampling 비율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  <a:tr h="23368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enable_value_filtering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필터 값 검증 사용 여부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368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enable_question_rewrite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질문 리라이팅 사용 여부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  <a:latin typeface="맑은 고딕"/>
              </a:defRPr>
            </a:pPr>
            <a: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5-1. Stage 0 / 0.5</a:t>
            </a:r>
          </a:p>
          <a:p>
            <a:pPr>
              <a:defRPr sz="1100">
                <a:solidFill>
                  <a:srgbClr val="DEEBF6"/>
                </a:solidFill>
                <a:latin typeface="맑은 고딕"/>
              </a:defRPr>
            </a:pPr>
            <a:r>
              <a:t>Prompt Block 생성 &amp; 목적 기반 그룹핑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Stage 0 - Prompt Block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486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Consolas"/>
              </a:defRPr>
            </a:pPr>
            <a:r>
              <a:t>함수: df_to_prompt_tables_by_table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카탈로그 DataFrame → 테이블 단위 텍스트 블록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[TABLE] 섹션: 테이블명 + 목적 설명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[COLUMNS] 섹션: 컬럼명 + 설명 + 값 예시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이후 모든 LLM prompt의 입력으로 사용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Join 후보 / ai_readable / 질문 생성 등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9728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0972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Stage 0.5 - 목적 기반 그룹핑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486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Consolas"/>
              </a:defRPr>
            </a:pPr>
            <a:r>
              <a:t>함수: group_tables_by_purpose_similarity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유사 목적 그룹: 키워드 기반 bucket 분류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보완 관계 그룹: 조인 자연스러운 조합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전체 테이블을 한 번에 LLM에 넣지 않음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관련 있는 테이블끼리 묶어 처리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0624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유사 목적 Bucket 분류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63440"/>
            <a:ext cx="21945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ED7D31"/>
                </a:solidFill>
                <a:latin typeface="맑은 고딕"/>
              </a:defRPr>
            </a:pPr>
            <a:r>
              <a:t>sales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매출/판매/order/demand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4663440"/>
            <a:ext cx="21945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ED7D31"/>
                </a:solidFill>
                <a:latin typeface="맑은 고딕"/>
              </a:defRPr>
            </a:pPr>
            <a:r>
              <a:t>product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제품/모델/SKU/PLM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4663440"/>
            <a:ext cx="21945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ED7D31"/>
                </a:solidFill>
                <a:latin typeface="맑은 고딕"/>
              </a:defRPr>
            </a:pPr>
            <a:r>
              <a:t>customer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고객/회원/구독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59" y="4663440"/>
            <a:ext cx="21945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ED7D31"/>
                </a:solidFill>
                <a:latin typeface="맑은 고딕"/>
              </a:defRPr>
            </a:pPr>
            <a:r>
              <a:t>supply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공급/재고/물류/SCM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4663440"/>
            <a:ext cx="21945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ED7D31"/>
                </a:solidFill>
                <a:latin typeface="맑은 고딕"/>
              </a:defRPr>
            </a:pPr>
            <a:r>
              <a:t>service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서비스/케어/CS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532120"/>
            <a:ext cx="21945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ED7D31"/>
                </a:solidFill>
                <a:latin typeface="맑은 고딕"/>
              </a:defRPr>
            </a:pPr>
            <a:r>
              <a:t>development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개발/프로젝트/설계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5532120"/>
            <a:ext cx="21945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ED7D31"/>
                </a:solidFill>
                <a:latin typeface="맑은 고딕"/>
              </a:defRPr>
            </a:pPr>
            <a:r>
              <a:t>organization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조직/법인/지역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5532120"/>
            <a:ext cx="21945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ED7D31"/>
                </a:solidFill>
                <a:latin typeface="맑은 고딕"/>
              </a:defRPr>
            </a:pPr>
            <a:r>
              <a:t>code_master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코드/기준정보/마스터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59" y="5532120"/>
            <a:ext cx="21945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ED7D31"/>
                </a:solidFill>
                <a:latin typeface="맑은 고딕"/>
              </a:defRPr>
            </a:pPr>
            <a:r>
              <a:t>status_history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상태/이력/로그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5532120"/>
            <a:ext cx="21945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ED7D31"/>
                </a:solidFill>
                <a:latin typeface="맑은 고딕"/>
              </a:defRPr>
            </a:pPr>
            <a:r>
              <a:t>other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기타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  <a:latin typeface="맑은 고딕"/>
              </a:defRPr>
            </a:pPr>
            <a: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5-2. Stage 1 - Join 후보 세트 생성</a:t>
            </a:r>
          </a:p>
          <a:p>
            <a:pPr>
              <a:defRPr sz="1100">
                <a:solidFill>
                  <a:srgbClr val="DEEBF6"/>
                </a:solidFill>
                <a:latin typeface="맑은 고딕"/>
              </a:defRPr>
            </a:pPr>
            <a:r>
              <a:t>propose_join_candidate_sets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역할 및 판단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486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Consolas"/>
              </a:defRPr>
            </a:pPr>
            <a:r>
              <a:t>prompt: MAKE_JOIN_CANDIDATES_PROMPT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LLM이 테이블 블록을 보고 조인 세트 제안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각 세트는 보통 2~4개 테이블로 구성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동일/유사 컬럼명 여부 확인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*_ID, *_NO, *_CD, KEY, SEQ 등 키 후보 확인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값 예시 형태 유사성 확인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fact + dimension/master 조합 확인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상태/코드/분류 해석 필요 조합 확인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9728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0972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후보 세트 구성 필드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set_id : 예) s01, s02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tables : 세트 내 테이블 목록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join_key_candidates : 조인 컬럼 쌍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confidence : high / medium / low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rationale : 판단 근거 (특히 low에서 중요)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6344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663440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Confidence 판정 기준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074920"/>
            <a:ext cx="370332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70AD47"/>
                </a:solidFill>
                <a:latin typeface="맑은 고딕"/>
              </a:defRPr>
            </a:pPr>
            <a:r>
              <a:t>HIGH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컬럼명 거의 동일/동의어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값 형태 유사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fact/dimension 자연스러움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5074920"/>
            <a:ext cx="370332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ED7D31"/>
                </a:solidFill>
                <a:latin typeface="맑은 고딕"/>
              </a:defRPr>
            </a:pPr>
            <a:r>
              <a:t>MEDIUM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컬럼명 유사/약간 변형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값 형태 어느 정도 유사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함께 볼 가능성 있음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5074920"/>
            <a:ext cx="365760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C0504D"/>
                </a:solidFill>
                <a:latin typeface="맑은 고딕"/>
              </a:defRPr>
            </a:pPr>
            <a:r>
              <a:t>LOW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추정 가능하나 근거 약함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rationale에 불확실성 명시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신중하게 사용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  <a:latin typeface="맑은 고딕"/>
              </a:defRPr>
            </a:pPr>
            <a: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5-3. Stage 1.5 - ai_readable 힌트 생성</a:t>
            </a:r>
          </a:p>
          <a:p>
            <a:pPr>
              <a:defRPr sz="1100">
                <a:solidFill>
                  <a:srgbClr val="DEEBF6"/>
                </a:solidFill>
                <a:latin typeface="맑은 고딕"/>
              </a:defRPr>
            </a:pPr>
            <a:r>
              <a:t>질문 생성을 위한 해석 포인트 추출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Consolas"/>
              </a:defRPr>
            </a:pPr>
            <a:r>
              <a:t>함수: build_ai_readable_hints_for_set  |  prompt: MAKE_AI_READABLE_HINTS_FOR_SET_PROMPT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749039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status_or_flag_points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3749039" cy="1828800"/>
          </a:xfrm>
          <a:prstGeom prst="rect">
            <a:avLst/>
          </a:prstGeom>
          <a:solidFill>
            <a:srgbClr val="DEEB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 b="1">
                <a:solidFill>
                  <a:srgbClr val="1F4E79"/>
                </a:solidFill>
                <a:latin typeface="맑은 고딕"/>
              </a:defRPr>
            </a:pPr>
            <a:r>
              <a:t>상태/여부/플래그 컬럼 및 값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Y/N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완료/진행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활성/비활성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554480"/>
            <a:ext cx="3749039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code_mapping_points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2011680"/>
            <a:ext cx="3749039" cy="1828800"/>
          </a:xfrm>
          <a:prstGeom prst="rect">
            <a:avLst/>
          </a:prstGeom>
          <a:solidFill>
            <a:srgbClr val="DEEBF6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 b="1">
                <a:solidFill>
                  <a:srgbClr val="1F4E79"/>
                </a:solidFill>
                <a:latin typeface="맑은 고딕"/>
              </a:defRPr>
            </a:pPr>
            <a:r>
              <a:t>코드값/약어 자연어화 포인트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CD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TYPE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554480"/>
            <a:ext cx="3749039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business_term_points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011680"/>
            <a:ext cx="3749039" cy="1828800"/>
          </a:xfrm>
          <a:prstGeom prst="rect">
            <a:avLst/>
          </a:prstGeom>
          <a:solidFill>
            <a:srgbClr val="DEEBF6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 b="1">
                <a:solidFill>
                  <a:srgbClr val="1F4E79"/>
                </a:solidFill>
                <a:latin typeface="맑은 고딕"/>
              </a:defRPr>
            </a:pPr>
            <a:r>
              <a:t>업무 용어 해석 포인트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컬럼명만으로 부족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설명 필요한 용어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77639"/>
            <a:ext cx="3749039" cy="4572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ambiguous_column_points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434839"/>
            <a:ext cx="3749039" cy="1828800"/>
          </a:xfrm>
          <a:prstGeom prst="rect">
            <a:avLst/>
          </a:prstGeom>
          <a:solidFill>
            <a:srgbClr val="DEEBF6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 b="1">
                <a:solidFill>
                  <a:srgbClr val="1F4E79"/>
                </a:solidFill>
                <a:latin typeface="맑은 고딕"/>
              </a:defRPr>
            </a:pPr>
            <a:r>
              <a:t>혼동 가능 컬럼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생성일/등록일/적용일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판매금액/매출금액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3977639"/>
            <a:ext cx="3749039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join_enrichment_points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4434839"/>
            <a:ext cx="3749039" cy="1828800"/>
          </a:xfrm>
          <a:prstGeom prst="rect">
            <a:avLst/>
          </a:prstGeom>
          <a:solidFill>
            <a:srgbClr val="DEEBF6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 b="1">
                <a:solidFill>
                  <a:srgbClr val="1F4E79"/>
                </a:solidFill>
                <a:latin typeface="맑은 고딕"/>
              </a:defRPr>
            </a:pPr>
            <a:r>
              <a:t>JOIN 필요 포인트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다른 테이블 속성 필요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분류 정보 결합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3977639"/>
            <a:ext cx="3749039" cy="457200"/>
          </a:xfrm>
          <a:prstGeom prst="rect">
            <a:avLst/>
          </a:prstGeom>
          <a:solidFill>
            <a:srgbClr val="7B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recommended_question_types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4434839"/>
            <a:ext cx="3749039" cy="1828800"/>
          </a:xfrm>
          <a:prstGeom prst="rect">
            <a:avLst/>
          </a:prstGeom>
          <a:solidFill>
            <a:srgbClr val="DEEBF6"/>
          </a:solidFill>
          <a:ln>
            <a:solidFill>
              <a:srgbClr val="7B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 b="1">
                <a:solidFill>
                  <a:srgbClr val="1F4E79"/>
                </a:solidFill>
                <a:latin typeface="맑은 고딕"/>
              </a:defRPr>
            </a:pPr>
            <a:r>
              <a:t>추천 질문 유형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세트별 적합 질문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생성 방향 가이드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  <a:latin typeface="맑은 고딕"/>
              </a:defRPr>
            </a:pPr>
            <a: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5-4. Stage 2 - 질문 + semantic_form 생성</a:t>
            </a:r>
          </a:p>
          <a:p>
            <a:pPr>
              <a:defRPr sz="1100">
                <a:solidFill>
                  <a:srgbClr val="DEEBF6"/>
                </a:solidFill>
                <a:latin typeface="맑은 고딕"/>
              </a:defRPr>
            </a:pPr>
            <a:r>
              <a:t>make_nl2sql_questions_multi_table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핵심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최소 테이블 사용 원칙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  - 단일 테이블로 답 가능하면 JOIN 금지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  - 필요할 때만 JOIN 사용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ai_readable 민감 질문 우선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  - 컬럼 설명/값/업무 의미 필요 질문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needed_tables와 [TABLES:] 접두어 일치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05156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05156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필터 값 규칙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WHERE 값은 반드시 실제 값 예시 사용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금지 표현: 특정/임의/아무/어떤/예시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semantic_form.filters.value = 원본값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질문: '완료된' / value: 'COMPLETE'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날짜: 질문은 자연어, value는 ISO 원본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9476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794760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주요 질문 유형 (ai_readable-sensitive)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51960"/>
            <a:ext cx="2194560" cy="914400"/>
          </a:xfrm>
          <a:prstGeom prst="roundRect">
            <a:avLst/>
          </a:prstGeom>
          <a:solidFill>
            <a:srgbClr val="DEEB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00" b="1">
                <a:solidFill>
                  <a:srgbClr val="1F4E79"/>
                </a:solidFill>
                <a:latin typeface="Consolas"/>
              </a:defRPr>
            </a:pPr>
            <a:r>
              <a:t>status_interpretation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상태/여부/플래그 해석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4251960"/>
            <a:ext cx="2194560" cy="914400"/>
          </a:xfrm>
          <a:prstGeom prst="roundRect">
            <a:avLst/>
          </a:prstGeom>
          <a:solidFill>
            <a:srgbClr val="DEEB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00" b="1">
                <a:solidFill>
                  <a:srgbClr val="1F4E79"/>
                </a:solidFill>
                <a:latin typeface="Consolas"/>
              </a:defRPr>
            </a:pPr>
            <a:r>
              <a:t>code_to_nl_mapping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코드→자연어 매핑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4251960"/>
            <a:ext cx="2194560" cy="914400"/>
          </a:xfrm>
          <a:prstGeom prst="roundRect">
            <a:avLst/>
          </a:prstGeom>
          <a:solidFill>
            <a:srgbClr val="DEEB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00" b="1">
                <a:solidFill>
                  <a:srgbClr val="1F4E79"/>
                </a:solidFill>
                <a:latin typeface="Consolas"/>
              </a:defRPr>
            </a:pPr>
            <a:r>
              <a:t>business_term_mapping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업무 용어 매핑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59" y="4251960"/>
            <a:ext cx="2194560" cy="914400"/>
          </a:xfrm>
          <a:prstGeom prst="roundRect">
            <a:avLst/>
          </a:prstGeom>
          <a:solidFill>
            <a:srgbClr val="DEEB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00" b="1">
                <a:solidFill>
                  <a:srgbClr val="1F4E79"/>
                </a:solidFill>
                <a:latin typeface="Consolas"/>
              </a:defRPr>
            </a:pPr>
            <a:r>
              <a:t>ambiguous_column_resolution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유사 컬럼 구분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4251960"/>
            <a:ext cx="2194560" cy="914400"/>
          </a:xfrm>
          <a:prstGeom prst="roundRect">
            <a:avLst/>
          </a:prstGeom>
          <a:solidFill>
            <a:srgbClr val="DEEB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00" b="1">
                <a:solidFill>
                  <a:srgbClr val="1F4E79"/>
                </a:solidFill>
                <a:latin typeface="Consolas"/>
              </a:defRPr>
            </a:pPr>
            <a:r>
              <a:t>ratio_definition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비율/점유율 정의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03520"/>
            <a:ext cx="2194560" cy="914400"/>
          </a:xfrm>
          <a:prstGeom prst="roundRect">
            <a:avLst/>
          </a:prstGeom>
          <a:solidFill>
            <a:srgbClr val="DEEB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00" b="1">
                <a:solidFill>
                  <a:srgbClr val="1F4E79"/>
                </a:solidFill>
                <a:latin typeface="Consolas"/>
              </a:defRPr>
            </a:pPr>
            <a:r>
              <a:t>dimension_enrichment_join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차원 결합 JOIN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5303520"/>
            <a:ext cx="2194560" cy="914400"/>
          </a:xfrm>
          <a:prstGeom prst="roundRect">
            <a:avLst/>
          </a:prstGeom>
          <a:solidFill>
            <a:srgbClr val="DEEB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00" b="1">
                <a:solidFill>
                  <a:srgbClr val="1F4E79"/>
                </a:solidFill>
                <a:latin typeface="Consolas"/>
              </a:defRPr>
            </a:pPr>
            <a:r>
              <a:t>join_group_analysis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JOIN 그룹 집계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5303520"/>
            <a:ext cx="2194560" cy="914400"/>
          </a:xfrm>
          <a:prstGeom prst="roundRect">
            <a:avLst/>
          </a:prstGeom>
          <a:solidFill>
            <a:srgbClr val="DEEB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00" b="1">
                <a:solidFill>
                  <a:srgbClr val="1F4E79"/>
                </a:solidFill>
                <a:latin typeface="Consolas"/>
              </a:defRPr>
            </a:pPr>
            <a:r>
              <a:t>join_filter_enrichment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JOIN 필터 결합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59" y="5303520"/>
            <a:ext cx="2194560" cy="914400"/>
          </a:xfrm>
          <a:prstGeom prst="roundRect">
            <a:avLst/>
          </a:prstGeom>
          <a:solidFill>
            <a:srgbClr val="DEEB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00" b="1">
                <a:solidFill>
                  <a:srgbClr val="1F4E79"/>
                </a:solidFill>
                <a:latin typeface="Consolas"/>
              </a:defRPr>
            </a:pPr>
            <a:r>
              <a:t>join_topk_by_dimension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JOIN Top-K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5303520"/>
            <a:ext cx="2194560" cy="914400"/>
          </a:xfrm>
          <a:prstGeom prst="roundRect">
            <a:avLst/>
          </a:prstGeom>
          <a:solidFill>
            <a:srgbClr val="DEEB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00" b="1">
                <a:solidFill>
                  <a:srgbClr val="1F4E79"/>
                </a:solidFill>
                <a:latin typeface="Consolas"/>
              </a:defRPr>
            </a:pPr>
            <a:r>
              <a:t>join_ratio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JOIN 비율 계산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  <a:latin typeface="맑은 고딕"/>
              </a:defRPr>
            </a:pPr>
            <a: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5-5. semantic_form 구조</a:t>
            </a:r>
          </a:p>
          <a:p>
            <a:pPr>
              <a:defRPr sz="1100">
                <a:solidFill>
                  <a:srgbClr val="DEEBF6"/>
                </a:solidFill>
                <a:latin typeface="맑은 고딕"/>
              </a:defRPr>
            </a:pPr>
            <a:r>
              <a:t>질문 의도 구조화 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기본 구조 (JSON)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645920" cy="365760"/>
          </a:xfrm>
          <a:prstGeom prst="rect">
            <a:avLst/>
          </a:prstGeom>
          <a:solidFill>
            <a:srgbClr val="DEEBF6"/>
          </a:solidFill>
          <a:ln>
            <a:noFill/>
          </a:ln>
        </p:spPr>
        <p:txBody>
          <a:bodyPr wrap="square" lIns="73152" rIns="73152">
            <a:spAutoFit/>
          </a:bodyPr>
          <a:lstStyle/>
          <a:p>
            <a:pPr algn="l">
              <a:defRPr sz="1100" b="1">
                <a:solidFill>
                  <a:srgbClr val="ED7D31"/>
                </a:solidFill>
                <a:latin typeface="Consolas"/>
              </a:defRPr>
            </a:pPr>
            <a:r>
              <a:t>select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554480"/>
            <a:ext cx="3749039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  <a:latin typeface="맑은 고딕"/>
              </a:defRPr>
            </a:pPr>
            <a:r>
              <a:t>조회할 컬럼 또는 집계식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1645920" cy="365760"/>
          </a:xfrm>
          <a:prstGeom prst="rect">
            <a:avLst/>
          </a:prstGeom>
          <a:solidFill>
            <a:srgbClr val="DEEBF6"/>
          </a:solidFill>
          <a:ln>
            <a:noFill/>
          </a:ln>
        </p:spPr>
        <p:txBody>
          <a:bodyPr wrap="square" lIns="73152" rIns="73152">
            <a:spAutoFit/>
          </a:bodyPr>
          <a:lstStyle/>
          <a:p>
            <a:pPr algn="l">
              <a:defRPr sz="1100" b="1">
                <a:solidFill>
                  <a:srgbClr val="ED7D31"/>
                </a:solidFill>
                <a:latin typeface="Consolas"/>
              </a:defRPr>
            </a:pPr>
            <a:r>
              <a:t>group_by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057400"/>
            <a:ext cx="3749039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  <a:latin typeface="맑은 고딕"/>
              </a:defRPr>
            </a:pPr>
            <a:r>
              <a:t>그룹 기준 컬럼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1645920" cy="365760"/>
          </a:xfrm>
          <a:prstGeom prst="rect">
            <a:avLst/>
          </a:prstGeom>
          <a:solidFill>
            <a:srgbClr val="DEEBF6"/>
          </a:solidFill>
          <a:ln>
            <a:noFill/>
          </a:ln>
        </p:spPr>
        <p:txBody>
          <a:bodyPr wrap="square" lIns="73152" rIns="73152">
            <a:spAutoFit/>
          </a:bodyPr>
          <a:lstStyle/>
          <a:p>
            <a:pPr algn="l">
              <a:defRPr sz="1100" b="1">
                <a:solidFill>
                  <a:srgbClr val="ED7D31"/>
                </a:solidFill>
                <a:latin typeface="Consolas"/>
              </a:defRPr>
            </a:pPr>
            <a:r>
              <a:t>filters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560320"/>
            <a:ext cx="3749039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  <a:latin typeface="맑은 고딕"/>
              </a:defRPr>
            </a:pPr>
            <a:r>
              <a:t>WHERE 조건 (실제 저장값)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1645920" cy="365760"/>
          </a:xfrm>
          <a:prstGeom prst="rect">
            <a:avLst/>
          </a:prstGeom>
          <a:solidFill>
            <a:srgbClr val="DEEBF6"/>
          </a:solidFill>
          <a:ln>
            <a:noFill/>
          </a:ln>
        </p:spPr>
        <p:txBody>
          <a:bodyPr wrap="square" lIns="73152" rIns="73152">
            <a:spAutoFit/>
          </a:bodyPr>
          <a:lstStyle/>
          <a:p>
            <a:pPr algn="l">
              <a:defRPr sz="1100" b="1">
                <a:solidFill>
                  <a:srgbClr val="ED7D31"/>
                </a:solidFill>
                <a:latin typeface="Consolas"/>
              </a:defRPr>
            </a:pPr>
            <a:r>
              <a:t>order_by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063240"/>
            <a:ext cx="3749039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  <a:latin typeface="맑은 고딕"/>
              </a:defRPr>
            </a:pPr>
            <a:r>
              <a:t>정렬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1645920" cy="365760"/>
          </a:xfrm>
          <a:prstGeom prst="rect">
            <a:avLst/>
          </a:prstGeom>
          <a:solidFill>
            <a:srgbClr val="DEEBF6"/>
          </a:solidFill>
          <a:ln>
            <a:noFill/>
          </a:ln>
        </p:spPr>
        <p:txBody>
          <a:bodyPr wrap="square" lIns="73152" rIns="73152">
            <a:spAutoFit/>
          </a:bodyPr>
          <a:lstStyle/>
          <a:p>
            <a:pPr algn="l">
              <a:defRPr sz="1100" b="1">
                <a:solidFill>
                  <a:srgbClr val="ED7D31"/>
                </a:solidFill>
                <a:latin typeface="Consolas"/>
              </a:defRPr>
            </a:pPr>
            <a:r>
              <a:t>joins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566160"/>
            <a:ext cx="3749039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  <a:latin typeface="맑은 고딕"/>
              </a:defRPr>
            </a:pPr>
            <a:r>
              <a:t>JOIN 정보 (필요 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69080"/>
            <a:ext cx="1645920" cy="365760"/>
          </a:xfrm>
          <a:prstGeom prst="rect">
            <a:avLst/>
          </a:prstGeom>
          <a:solidFill>
            <a:srgbClr val="DEEBF6"/>
          </a:solidFill>
          <a:ln>
            <a:noFill/>
          </a:ln>
        </p:spPr>
        <p:txBody>
          <a:bodyPr wrap="square" lIns="73152" rIns="73152">
            <a:spAutoFit/>
          </a:bodyPr>
          <a:lstStyle/>
          <a:p>
            <a:pPr algn="l">
              <a:defRPr sz="1100" b="1">
                <a:solidFill>
                  <a:srgbClr val="ED7D31"/>
                </a:solidFill>
                <a:latin typeface="Consolas"/>
              </a:defRPr>
            </a:pPr>
            <a:r>
              <a:t>needed_tables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069080"/>
            <a:ext cx="3749039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  <a:latin typeface="맑은 고딕"/>
              </a:defRPr>
            </a:pPr>
            <a:r>
              <a:t>실제 필요한 테이블 목록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1645920" cy="365760"/>
          </a:xfrm>
          <a:prstGeom prst="rect">
            <a:avLst/>
          </a:prstGeom>
          <a:solidFill>
            <a:srgbClr val="DEEBF6"/>
          </a:solidFill>
          <a:ln>
            <a:noFill/>
          </a:ln>
        </p:spPr>
        <p:txBody>
          <a:bodyPr wrap="square" lIns="73152" rIns="73152">
            <a:spAutoFit/>
          </a:bodyPr>
          <a:lstStyle/>
          <a:p>
            <a:pPr algn="l">
              <a:defRPr sz="1100" b="1">
                <a:solidFill>
                  <a:srgbClr val="ED7D31"/>
                </a:solidFill>
                <a:latin typeface="Consolas"/>
              </a:defRPr>
            </a:pPr>
            <a:r>
              <a:t>needed_columns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572000"/>
            <a:ext cx="3749039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  <a:latin typeface="맑은 고딕"/>
              </a:defRPr>
            </a:pPr>
            <a:r>
              <a:t>실제 필요한 컬럼 목록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09728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0972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중요 규칙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5544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gold_sql 생성의 절대 기준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user_question보다 semantic_form 우선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filters.value는 원본 저장값 유지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질문: '완료된' → value: 'COMPLETE'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질문: '2025년 11월 4일' → value: '2025-11-04'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GROUP BY 규칙 준수 필수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SELECT 비집계 컬럼 = GROUP BY 컬럼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12064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120640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예시 (개념적 형태)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532120"/>
            <a:ext cx="11247120" cy="118872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wrap="square" lIns="182880" tIns="91440">
            <a:spAutoFit/>
          </a:bodyPr>
          <a:lstStyle/>
          <a:p>
            <a:pPr>
              <a:defRPr sz="1000">
                <a:solidFill>
                  <a:srgbClr val="E0E0E0"/>
                </a:solidFill>
                <a:latin typeface="Consolas"/>
              </a:defRPr>
            </a:pPr>
            <a:r>
              <a:t>{</a:t>
            </a:r>
          </a:p>
          <a:p>
            <a:pPr>
              <a:defRPr sz="1000">
                <a:solidFill>
                  <a:srgbClr val="E0E0E0"/>
                </a:solidFill>
                <a:latin typeface="Consolas"/>
              </a:defRPr>
            </a:pPr>
            <a:r>
              <a:t>  "select": ["a.STATUS_CD", "COUNT(*) AS cnt"],</a:t>
            </a:r>
          </a:p>
          <a:p>
            <a:pPr>
              <a:defRPr sz="1000">
                <a:solidFill>
                  <a:srgbClr val="E0E0E0"/>
                </a:solidFill>
                <a:latin typeface="Consolas"/>
              </a:defRPr>
            </a:pPr>
            <a:r>
              <a:t>  "group_by": ["a.STATUS_CD"],</a:t>
            </a:r>
          </a:p>
          <a:p>
            <a:pPr>
              <a:defRPr sz="1000">
                <a:solidFill>
                  <a:srgbClr val="E0E0E0"/>
                </a:solidFill>
                <a:latin typeface="Consolas"/>
              </a:defRPr>
            </a:pPr>
            <a:r>
              <a:t>  "filters": [{"column": "a.CREATE_DT", "op": "&gt;=", "value": "2025-01-01"}],</a:t>
            </a:r>
          </a:p>
          <a:p>
            <a:pPr>
              <a:defRPr sz="1000">
                <a:solidFill>
                  <a:srgbClr val="E0E0E0"/>
                </a:solidFill>
                <a:latin typeface="Consolas"/>
              </a:defRPr>
            </a:pPr>
            <a:r>
              <a:t>  "joins": [],</a:t>
            </a:r>
          </a:p>
          <a:p>
            <a:pPr>
              <a:defRPr sz="1000">
                <a:solidFill>
                  <a:srgbClr val="E0E0E0"/>
                </a:solidFill>
                <a:latin typeface="Consolas"/>
              </a:defRPr>
            </a:pPr>
            <a:r>
              <a:t>  "needed_tables": ["v_newgdmi_sample_table"]</a:t>
            </a:r>
          </a:p>
          <a:p>
            <a:pPr>
              <a:defRPr sz="1000">
                <a:solidFill>
                  <a:srgbClr val="E0E0E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  <a:latin typeface="맑은 고딕"/>
              </a:defRPr>
            </a:pPr>
            <a: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5-6. Stage 2 후처리 - 질문 품질 필터링</a:t>
            </a:r>
          </a:p>
          <a:p>
            <a:pPr>
              <a:defRPr sz="1100">
                <a:solidFill>
                  <a:srgbClr val="DEEBF6"/>
                </a:solidFill>
                <a:latin typeface="맑은 고딕"/>
              </a:defRPr>
            </a:pPr>
            <a:r>
              <a:t>9종 필터 로직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Consolas"/>
              </a:defRPr>
            </a:pPr>
            <a:r>
              <a:t>함수: filter_questions_before_gold_sql_semantic_only_debug 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3749039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C0504D"/>
                </a:solidFill>
                <a:latin typeface="맑은 고딕"/>
              </a:defRPr>
            </a:pPr>
            <a:r>
              <a:t>① 스키마 정규화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needed_columns를 객체 배열로 정규화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잘못된 형태면 빈 리스트로 초기화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08760"/>
            <a:ext cx="3749039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C0504D"/>
                </a:solidFill>
                <a:latin typeface="맑은 고딕"/>
              </a:defRPr>
            </a:pPr>
            <a:r>
              <a:t>② GROUP BY 위반 제거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group_by 있는데 SELECT에 비집계 컬럼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또는 집계 없이 expression 사용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508760"/>
            <a:ext cx="3749039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C0504D"/>
                </a:solidFill>
                <a:latin typeface="맑은 고딕"/>
              </a:defRPr>
            </a:pPr>
            <a:r>
              <a:t>③ 불필요한 JOIN 제거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JOIN 있지만 실제로 한 테이블만 사용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3749039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C0504D"/>
                </a:solidFill>
                <a:latin typeface="맑은 고딕"/>
              </a:defRPr>
            </a:pPr>
            <a:r>
              <a:t>④ needed_tables 불일치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semantic_form 사용 테이블이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needed_tables에 없는 경우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108960"/>
            <a:ext cx="3749039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C0504D"/>
                </a:solidFill>
                <a:latin typeface="맑은 고딕"/>
              </a:defRPr>
            </a:pPr>
            <a:r>
              <a:t>⑤ join_used 불일치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joins ↔ join_used 서로 다른 경우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108960"/>
            <a:ext cx="3749039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C0504D"/>
                </a:solidFill>
                <a:latin typeface="맑은 고딕"/>
              </a:defRPr>
            </a:pPr>
            <a:r>
              <a:t>⑥ trivial question 제거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단순 COUNT / 단순 목록 조회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단순 raw column lookup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09160"/>
            <a:ext cx="3749039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C0504D"/>
                </a:solidFill>
                <a:latin typeface="맑은 고딕"/>
              </a:defRPr>
            </a:pPr>
            <a:r>
              <a:t>⑦ ai_readable 민감도 부족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컬럼 설명/값 해석 없이도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쉽게 풀 수 있는 질문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4709160"/>
            <a:ext cx="3749039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C0504D"/>
                </a:solidFill>
                <a:latin typeface="맑은 고딕"/>
              </a:defRPr>
            </a:pPr>
            <a:r>
              <a:t>⑧ 필터 값 검증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placeholder 포함 / value_evidence 없음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(현재 value_evidence 필수)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709160"/>
            <a:ext cx="3749039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C0504D"/>
                </a:solidFill>
                <a:latin typeface="맑은 고딕"/>
              </a:defRPr>
            </a:pPr>
            <a:r>
              <a:t>⑨ 중복 질문 제거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동일 user_question 제거</a:t>
            </a:r>
          </a:p>
          <a:p>
            <a:pPr>
              <a:spcBef>
                <a:spcPts val="3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시스템 전체 seen set 기준 dedup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  <a:latin typeface="맑은 고딕"/>
              </a:defRPr>
            </a:pPr>
            <a: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5-7. Stage 3 - Gold SQL 생성</a:t>
            </a:r>
          </a:p>
          <a:p>
            <a:pPr>
              <a:defRPr sz="1100">
                <a:solidFill>
                  <a:srgbClr val="DEEBF6"/>
                </a:solidFill>
                <a:latin typeface="맑은 고딕"/>
              </a:defRPr>
            </a:pPr>
            <a:r>
              <a:t>generate_gold_sql_for_questions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Consolas"/>
              </a:defRPr>
            </a:pPr>
            <a:r>
              <a:t>prompt: MAKE_GOLD_SQL_PROMPT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핵심 원칙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semantic_form을 절대 기준으로 사용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user_question은 참고만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지정된 dialect 문법 준수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semantic_form 테이블/컬럼/조인/필터만 사용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불확실하면 unanswerable 반환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placeholder 표현 남으면 unanswerable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자연어 날짜여도 filters.value 원본값 사용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1732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1732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SQL 작성 규칙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GROUP BY 규칙 준수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나눗셈 안전 처리 (SAFE_DIVIDE/NULLIF)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테이블 prefix 규칙 (dialect별)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컬럼 참조 시 alias 사용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비집계 컬럼은 반드시 group_by 포함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비율 계산: SUM(a)/SUM(b) 형태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02920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029200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나눗셈 안전 처리 (Dialect별)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40680"/>
            <a:ext cx="5577840" cy="1188720"/>
          </a:xfrm>
          <a:prstGeom prst="roundRect">
            <a:avLst/>
          </a:prstGeom>
          <a:solidFill>
            <a:srgbClr val="DEEB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300" b="1">
                <a:solidFill>
                  <a:srgbClr val="2E75B6"/>
                </a:solidFill>
                <a:latin typeface="맑은 고딕"/>
              </a:defRPr>
            </a:pPr>
            <a:r>
              <a:t>BigQuery</a:t>
            </a:r>
          </a:p>
          <a:p>
            <a:pPr>
              <a:spcBef>
                <a:spcPts val="500"/>
              </a:spcBef>
              <a:defRPr sz="1100">
                <a:solidFill>
                  <a:srgbClr val="202020"/>
                </a:solidFill>
                <a:latin typeface="Consolas"/>
              </a:defRPr>
            </a:pPr>
            <a:r>
              <a:t>SAFE_DIVIDE(SUM(a.amount), SUM(b.total))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5440680"/>
            <a:ext cx="5577840" cy="1188720"/>
          </a:xfrm>
          <a:prstGeom prst="roundRect">
            <a:avLst/>
          </a:prstGeom>
          <a:solidFill>
            <a:srgbClr val="DEEBF6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300" b="1">
                <a:solidFill>
                  <a:srgbClr val="ED7D31"/>
                </a:solidFill>
                <a:latin typeface="맑은 고딕"/>
              </a:defRPr>
            </a:pPr>
            <a:r>
              <a:t>PostgreSQL</a:t>
            </a:r>
          </a:p>
          <a:p>
            <a:pPr>
              <a:spcBef>
                <a:spcPts val="500"/>
              </a:spcBef>
              <a:defRPr sz="1100">
                <a:solidFill>
                  <a:srgbClr val="202020"/>
                </a:solidFill>
                <a:latin typeface="Consolas"/>
              </a:defRPr>
            </a:pPr>
            <a:r>
              <a:t>SUM(a.amount) / NULLIF(SUM(b.total), 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  <a:latin typeface="맑은 고딕"/>
              </a:defRPr>
            </a:pPr>
            <a: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6. SQL Dialect별 테이블명 규칙</a:t>
            </a:r>
          </a:p>
          <a:p>
            <a:pPr>
              <a:defRPr sz="1100">
                <a:solidFill>
                  <a:srgbClr val="DEEBF6"/>
                </a:solidFill>
                <a:latin typeface="맑은 고딕"/>
              </a:defRPr>
            </a:pPr>
            <a:r>
              <a:t>BigQuery / PostgreSQL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BigQuery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486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Consolas"/>
              </a:defRPr>
            </a:pPr>
            <a:r>
              <a:t>고정 prefix: pjt-lge-edl-ob.OB_00006.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backtick 필수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프로젝트/데이터셋 prefix 고정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테이블명은 대문자 (UPPER)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예: V_NEWGDMI_SAMPLE_TABLE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11880"/>
            <a:ext cx="5577840" cy="100584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wrap="square" lIns="137160" tIns="91440">
            <a:spAutoFit/>
          </a:bodyPr>
          <a:lstStyle/>
          <a:p>
            <a:pPr>
              <a:defRPr sz="1000">
                <a:solidFill>
                  <a:srgbClr val="E0E0E0"/>
                </a:solidFill>
                <a:latin typeface="Consolas"/>
              </a:defRPr>
            </a:pPr>
            <a:r>
              <a:t>FROM pjt-lge-edl-ob.OB_00006.V_NEWGDMI_SAMPLE_TABLE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09160"/>
            <a:ext cx="557784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맑은 고딕"/>
              </a:defRPr>
            </a:pPr>
            <a:r>
              <a:t>검증 함수: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557784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00" b="0">
                <a:solidFill>
                  <a:srgbClr val="202020"/>
                </a:solidFill>
                <a:latin typeface="Consolas"/>
              </a:defRPr>
            </a:pPr>
            <a:r>
              <a:t>bigquery_sql_has_valid_prefix_and_upper_tables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097280"/>
            <a:ext cx="73152" cy="3200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0972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508760"/>
            <a:ext cx="5486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Consolas"/>
              </a:defRPr>
            </a:pPr>
            <a:r>
              <a:t>3파트 형식: ic360prd.ic360_encrypt_l2.*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3파트 backtick 형식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1st: ic360prd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2nd: ic360_encrypt_l2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3rd: semantic_form 테이블명 그대로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11880"/>
            <a:ext cx="5577840" cy="100584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wrap="square" lIns="137160" tIns="91440">
            <a:spAutoFit/>
          </a:bodyPr>
          <a:lstStyle/>
          <a:p>
            <a:pPr>
              <a:defRPr sz="1000">
                <a:solidFill>
                  <a:srgbClr val="E0E0E0"/>
                </a:solidFill>
                <a:latin typeface="Consolas"/>
              </a:defRPr>
            </a:pPr>
            <a:r>
              <a:t>FROM ic360prd.ic360_encrypt_l2.v_newgdmi_sample_table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709160"/>
            <a:ext cx="557784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맑은 고딕"/>
              </a:defRPr>
            </a:pPr>
            <a:r>
              <a:t>검증 함수: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029200"/>
            <a:ext cx="557784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00" b="0">
                <a:solidFill>
                  <a:srgbClr val="202020"/>
                </a:solidFill>
                <a:latin typeface="Consolas"/>
              </a:defRPr>
            </a:pPr>
            <a:r>
              <a:t>postgres_sql_has_required_3part_backtick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62356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623560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V_L0 / V_LO 오타 자동 보정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solidFill>
            <a:srgbClr val="DEEBF6"/>
          </a:solidFill>
          <a:ln>
            <a:noFill/>
          </a:ln>
        </p:spPr>
        <p:txBody>
          <a:bodyPr wrap="square" lIns="73152" rIns="73152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  <a:latin typeface="맑은 고딕"/>
              </a:defRPr>
            </a:pPr>
            <a:r>
              <a:t>LLM이 숫자 0을 알파벳 O로 잘못 쓰는 경우 자동 치환 (V_LO → V_L0). 치환 후에도 V_LO가 남으면 unanswerable 처리. BigQuery/PostgreSQL 모두 적용.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  <a:latin typeface="맑은 고딕"/>
              </a:defRPr>
            </a:pPr>
            <a: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5-8. Stage 4 - 질문 리라이팅</a:t>
            </a:r>
          </a:p>
          <a:p>
            <a:pPr>
              <a:defRPr sz="1100">
                <a:solidFill>
                  <a:srgbClr val="DEEBF6"/>
                </a:solidFill>
                <a:latin typeface="맑은 고딕"/>
              </a:defRPr>
            </a:pPr>
            <a:r>
              <a:t>extract_keywords_with_llm / rewrite_questions_softly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Consolas"/>
              </a:defRPr>
            </a:pPr>
            <a:r>
              <a:t>prompt: MAKE_PURPOSE_KEYWORDS_PROMPT / MAKE_SOFTEN_QUESTION_PROMPT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처리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질문에 사용된 테이블 목적 설명 수집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업무 맥락/대상 키워드 추출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추출 키워드로 질문 자연스럽게 리라이팅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[TABLES: ...] 접두어 제거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결과 → user_question_final 컬럼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의미/조건/필터 값은 변경 금지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표현만 자연스럽게 수정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1732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1732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추출 키워드 종류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74519"/>
            <a:ext cx="548640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2E75B6"/>
                </a:solidFill>
                <a:latin typeface="맑은 고딕"/>
              </a:defRPr>
            </a:pPr>
            <a:r>
              <a:t>context_keywords (업무 맥락)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전사 수요관리 / 제품 개발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공급 관리 / 케어솔루션 / 마켓 데이터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246120"/>
            <a:ext cx="548640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ED7D31"/>
                </a:solidFill>
                <a:latin typeface="맑은 고딕"/>
              </a:defRPr>
            </a:pPr>
            <a:r>
              <a:t>entity_keywords (대상 개체)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제품 / 모델 / 고객 / 주문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프로젝트 / 사업부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70916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709160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리라이팅 예시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120640"/>
            <a:ext cx="5577840" cy="1463040"/>
          </a:xfrm>
          <a:prstGeom prst="roundRect">
            <a:avLst/>
          </a:prstGeom>
          <a:solidFill>
            <a:srgbClr val="FCE4D6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C0504D"/>
                </a:solidFill>
                <a:latin typeface="맑은 고딕"/>
              </a:defRPr>
            </a:pPr>
            <a:r>
              <a:t>Before (원본)</a:t>
            </a:r>
          </a:p>
          <a:p>
            <a:pPr>
              <a:spcBef>
                <a:spcPts val="800"/>
              </a:spcBef>
              <a:defRPr sz="1100">
                <a:solidFill>
                  <a:srgbClr val="202020"/>
                </a:solidFill>
                <a:latin typeface="맑은 고딕"/>
              </a:defRPr>
            </a:pPr>
            <a:r>
              <a:t>[TABLES: v_xxx] 2025년 1월 완료된 요청 건수를 상태별로 알려줘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26480" y="562356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0" y="5120640"/>
            <a:ext cx="5394960" cy="1463040"/>
          </a:xfrm>
          <a:prstGeom prst="roundRect">
            <a:avLst/>
          </a:prstGeom>
          <a:solidFill>
            <a:srgbClr val="E2EFDA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70AD47"/>
                </a:solidFill>
                <a:latin typeface="맑은 고딕"/>
              </a:defRPr>
            </a:pPr>
            <a:r>
              <a:t>After (리라이팅)</a:t>
            </a:r>
          </a:p>
          <a:p>
            <a:pPr>
              <a:spcBef>
                <a:spcPts val="800"/>
              </a:spcBef>
              <a:defRPr sz="1100">
                <a:solidFill>
                  <a:srgbClr val="202020"/>
                </a:solidFill>
                <a:latin typeface="맑은 고딕"/>
              </a:defRPr>
            </a:pPr>
            <a:r>
              <a:t>전사 수요관리 업무에서 2025년 1월 완료된 요청 건수를 상태별로 알려줘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  <a:latin typeface="맑은 고딕"/>
              </a:defRPr>
            </a:pPr>
            <a: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5-9. Stage 4.5 - 코드값 / 저장값 자연어화</a:t>
            </a:r>
          </a:p>
          <a:p>
            <a:pPr>
              <a:defRPr sz="1100">
                <a:solidFill>
                  <a:srgbClr val="DEEBF6"/>
                </a:solidFill>
                <a:latin typeface="맑은 고딕"/>
              </a:defRPr>
            </a:pPr>
            <a:r>
              <a:t>rewrite_questions_remove_codes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Consolas"/>
              </a:defRPr>
            </a:pPr>
            <a:r>
              <a:t>prompt: REWRITE_QUESTION_REMOVE_CODES_PROMPT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DB 내부 코드값/약어를 자연어로 변환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ai_readable 평가 효과 극대화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NL2SQL 모델이 코드값을 직접 복사하지 않고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  자연어 표현 → 실제 저장값 찾도록 유도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의미 불확실한 코드는 원문 유지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결과 → user_question_final2 컬럼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1732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1732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최종 질문 선택 우선순위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1874519"/>
            <a:ext cx="548640" cy="5486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920239"/>
            <a:ext cx="45720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맑은 고딕"/>
              </a:defRPr>
            </a:pPr>
            <a:r>
              <a:t>1순위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920239"/>
            <a:ext cx="36576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  <a:latin typeface="Consolas"/>
              </a:defRPr>
            </a:pPr>
            <a:r>
              <a:t>user_question_final2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2560320"/>
            <a:ext cx="548640" cy="5486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606040"/>
            <a:ext cx="45720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맑은 고딕"/>
              </a:defRPr>
            </a:pPr>
            <a:r>
              <a:t>2순위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606040"/>
            <a:ext cx="36576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  <a:latin typeface="Consolas"/>
              </a:defRPr>
            </a:pPr>
            <a:r>
              <a:t>user_question_final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3246120"/>
            <a:ext cx="548640" cy="548640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291840"/>
            <a:ext cx="45720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맑은 고딕"/>
              </a:defRPr>
            </a:pPr>
            <a:r>
              <a:t>3순위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291840"/>
            <a:ext cx="36576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  <a:latin typeface="Consolas"/>
              </a:defRPr>
            </a:pPr>
            <a:r>
              <a:t>user_question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9768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297680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변환 예시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475488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40030"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원본 값 (DB 저장)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자연어 표현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24003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Y/N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사용 중인 / 활성인 / 전송된 / 적용된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Y/N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사용하지 않는 / 비활성인 / 미전송된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  <a:tr h="24003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상태 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COMPLETE / COMP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완료된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상태 코드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ING / PROGRESS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진행 중인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  <a:tr h="24003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상태 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CLOSED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종료된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상태 코드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NEW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신규 상태의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  <a:tr h="24003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번호+명칭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01. 아시아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아시아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  <a:latin typeface="맑은 고딕"/>
              </a:defRPr>
            </a:pPr>
            <a: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5-10. Stage 5 - SQL 논리 검증</a:t>
            </a:r>
          </a:p>
          <a:p>
            <a:pPr>
              <a:defRPr sz="1100">
                <a:solidFill>
                  <a:srgbClr val="DEEBF6"/>
                </a:solidFill>
                <a:latin typeface="맑은 고딕"/>
              </a:defRPr>
            </a:pPr>
            <a:r>
              <a:t>validate_sql_with_catalog / validate_questions_list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Consolas"/>
              </a:defRPr>
            </a:pPr>
            <a:r>
              <a:t>prompt: SQL_VALIDATE_PROMPT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검증 입력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02020"/>
                </a:solidFill>
                <a:latin typeface="맑은 고딕"/>
              </a:defRPr>
            </a:pPr>
            <a:r>
              <a:t>• user_question</a:t>
            </a:r>
          </a:p>
          <a:p>
            <a:pPr>
              <a:spcAft>
                <a:spcPts val="300"/>
              </a:spcAft>
              <a:defRPr sz="1200">
                <a:solidFill>
                  <a:srgbClr val="202020"/>
                </a:solidFill>
                <a:latin typeface="맑은 고딕"/>
              </a:defRPr>
            </a:pPr>
            <a:r>
              <a:t>• semantic_form</a:t>
            </a:r>
          </a:p>
          <a:p>
            <a:pPr>
              <a:spcAft>
                <a:spcPts val="300"/>
              </a:spcAft>
              <a:defRPr sz="1200">
                <a:solidFill>
                  <a:srgbClr val="202020"/>
                </a:solidFill>
                <a:latin typeface="맑은 고딕"/>
              </a:defRPr>
            </a:pPr>
            <a:r>
              <a:t>• table_catalog</a:t>
            </a:r>
          </a:p>
          <a:p>
            <a:pPr>
              <a:spcAft>
                <a:spcPts val="300"/>
              </a:spcAft>
              <a:defRPr sz="1200">
                <a:solidFill>
                  <a:srgbClr val="202020"/>
                </a:solidFill>
                <a:latin typeface="맑은 고딕"/>
              </a:defRPr>
            </a:pPr>
            <a:r>
              <a:t>• gold_sql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1732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1732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검증 결과 (O/X)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74519"/>
            <a:ext cx="2651760" cy="1463040"/>
          </a:xfrm>
          <a:prstGeom prst="roundRect">
            <a:avLst/>
          </a:prstGeom>
          <a:solidFill>
            <a:srgbClr val="E2EFDA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3000" b="1">
                <a:solidFill>
                  <a:srgbClr val="70AD47"/>
                </a:solidFill>
                <a:latin typeface="맑은 고딕"/>
              </a:defRPr>
            </a:pPr>
            <a:r>
              <a:t>O</a:t>
            </a:r>
          </a:p>
          <a:p>
            <a:pPr algn="ctr">
              <a:defRPr sz="1100">
                <a:solidFill>
                  <a:srgbClr val="202020"/>
                </a:solidFill>
                <a:latin typeface="맑은 고딕"/>
              </a:defRPr>
            </a:pPr>
            <a:r>
              <a:t>SQL이 맞다</a:t>
            </a:r>
          </a:p>
          <a:p>
            <a:pPr algn="ctr">
              <a:defRPr sz="1000">
                <a:solidFill>
                  <a:srgbClr val="595959"/>
                </a:solidFill>
                <a:latin typeface="맑은 고딕"/>
              </a:defRPr>
            </a:pPr>
            <a:r>
              <a:t>최종 후보 pool 추가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874519"/>
            <a:ext cx="2651760" cy="1463040"/>
          </a:xfrm>
          <a:prstGeom prst="roundRect">
            <a:avLst/>
          </a:prstGeom>
          <a:solidFill>
            <a:srgbClr val="FCE4D6"/>
          </a:solidFill>
          <a:ln w="2540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3000" b="1">
                <a:solidFill>
                  <a:srgbClr val="C0504D"/>
                </a:solidFill>
                <a:latin typeface="맑은 고딕"/>
              </a:defRPr>
            </a:pPr>
            <a:r>
              <a:t>X</a:t>
            </a:r>
          </a:p>
          <a:p>
            <a:pPr algn="ctr">
              <a:defRPr sz="1100">
                <a:solidFill>
                  <a:srgbClr val="202020"/>
                </a:solidFill>
                <a:latin typeface="맑은 고딕"/>
              </a:defRPr>
            </a:pPr>
            <a:r>
              <a:t>SQL이 틀렸다</a:t>
            </a:r>
          </a:p>
          <a:p>
            <a:pPr algn="ctr">
              <a:defRPr sz="1000">
                <a:solidFill>
                  <a:srgbClr val="595959"/>
                </a:solidFill>
                <a:latin typeface="맑은 고딕"/>
              </a:defRPr>
            </a:pPr>
            <a:r>
              <a:t>Repair 시도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1188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611880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검증 기준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69080"/>
            <a:ext cx="3749039" cy="685800"/>
          </a:xfrm>
          <a:prstGeom prst="roundRect">
            <a:avLst/>
          </a:prstGeom>
          <a:solidFill>
            <a:srgbClr val="DEEB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1F4E79"/>
                </a:solidFill>
                <a:latin typeface="맑은 고딕"/>
              </a:defRPr>
            </a:pPr>
            <a:r>
              <a:t>논리적 정확성만 평가</a:t>
            </a:r>
          </a:p>
          <a:p>
            <a:pPr>
              <a:defRPr sz="900">
                <a:solidFill>
                  <a:srgbClr val="595959"/>
                </a:solidFill>
                <a:latin typeface="맑은 고딕"/>
              </a:defRPr>
            </a:pPr>
            <a:r>
              <a:t>실행 가능성이 아닌 논리 정확성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4069080"/>
            <a:ext cx="3749039" cy="685800"/>
          </a:xfrm>
          <a:prstGeom prst="roundRect">
            <a:avLst/>
          </a:prstGeom>
          <a:solidFill>
            <a:srgbClr val="DEEB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1F4E79"/>
                </a:solidFill>
                <a:latin typeface="맑은 고딕"/>
              </a:defRPr>
            </a:pPr>
            <a:r>
              <a:t>DB prefix 차이는 오류 아님</a:t>
            </a:r>
          </a:p>
          <a:p>
            <a:pPr>
              <a:defRPr sz="900">
                <a:solidFill>
                  <a:srgbClr val="595959"/>
                </a:solidFill>
                <a:latin typeface="맑은 고딕"/>
              </a:defRPr>
            </a:pPr>
            <a:r>
              <a:t>prefix 형태 차이는 무시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069080"/>
            <a:ext cx="3749039" cy="685800"/>
          </a:xfrm>
          <a:prstGeom prst="roundRect">
            <a:avLst/>
          </a:prstGeom>
          <a:solidFill>
            <a:srgbClr val="DEEB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1F4E79"/>
                </a:solidFill>
                <a:latin typeface="맑은 고딕"/>
              </a:defRPr>
            </a:pPr>
            <a:r>
              <a:t>대소문자 차이는 오류 아님</a:t>
            </a:r>
          </a:p>
          <a:p>
            <a:pPr>
              <a:defRPr sz="900">
                <a:solidFill>
                  <a:srgbClr val="595959"/>
                </a:solidFill>
                <a:latin typeface="맑은 고딕"/>
              </a:defRPr>
            </a:pPr>
            <a:r>
              <a:t>테이블/컬럼명 case 무시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46320"/>
            <a:ext cx="3749039" cy="685800"/>
          </a:xfrm>
          <a:prstGeom prst="roundRect">
            <a:avLst/>
          </a:prstGeom>
          <a:solidFill>
            <a:srgbClr val="DEEB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1F4E79"/>
                </a:solidFill>
                <a:latin typeface="맑은 고딕"/>
              </a:defRPr>
            </a:pPr>
            <a:r>
              <a:t>카탈로그 외 사용 → X</a:t>
            </a:r>
          </a:p>
          <a:p>
            <a:pPr>
              <a:defRPr sz="900">
                <a:solidFill>
                  <a:srgbClr val="595959"/>
                </a:solidFill>
                <a:latin typeface="맑은 고딕"/>
              </a:defRPr>
            </a:pPr>
            <a:r>
              <a:t>없는 테이블/컬럼 사용 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4846320"/>
            <a:ext cx="3749039" cy="685800"/>
          </a:xfrm>
          <a:prstGeom prst="roundRect">
            <a:avLst/>
          </a:prstGeom>
          <a:solidFill>
            <a:srgbClr val="DEEB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1F4E79"/>
                </a:solidFill>
                <a:latin typeface="맑은 고딕"/>
              </a:defRPr>
            </a:pPr>
            <a:r>
              <a:t>JOIN 조건 오류 → X</a:t>
            </a:r>
          </a:p>
          <a:p>
            <a:pPr>
              <a:defRPr sz="900">
                <a:solidFill>
                  <a:srgbClr val="595959"/>
                </a:solidFill>
                <a:latin typeface="맑은 고딕"/>
              </a:defRPr>
            </a:pPr>
            <a:r>
              <a:t>join key 부정확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846320"/>
            <a:ext cx="3749039" cy="685800"/>
          </a:xfrm>
          <a:prstGeom prst="roundRect">
            <a:avLst/>
          </a:prstGeom>
          <a:solidFill>
            <a:srgbClr val="DEEB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1F4E79"/>
                </a:solidFill>
                <a:latin typeface="맑은 고딕"/>
              </a:defRPr>
            </a:pPr>
            <a:r>
              <a:t>WHERE 조건 불일치 → X</a:t>
            </a:r>
          </a:p>
          <a:p>
            <a:pPr>
              <a:defRPr sz="900">
                <a:solidFill>
                  <a:srgbClr val="595959"/>
                </a:solidFill>
                <a:latin typeface="맑은 고딕"/>
              </a:defRPr>
            </a:pPr>
            <a:r>
              <a:t>semantic_form과 다름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623560"/>
            <a:ext cx="3749039" cy="685800"/>
          </a:xfrm>
          <a:prstGeom prst="roundRect">
            <a:avLst/>
          </a:prstGeom>
          <a:solidFill>
            <a:srgbClr val="DEEB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1F4E79"/>
                </a:solidFill>
                <a:latin typeface="맑은 고딕"/>
              </a:defRPr>
            </a:pPr>
            <a:r>
              <a:t>GROUP BY 기준 불일치 → X</a:t>
            </a:r>
          </a:p>
          <a:p>
            <a:pPr>
              <a:defRPr sz="900">
                <a:solidFill>
                  <a:srgbClr val="595959"/>
                </a:solidFill>
                <a:latin typeface="맑은 고딕"/>
              </a:defRPr>
            </a:pPr>
            <a:r>
              <a:t>질문 의도와 다른 그룹핑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5623560"/>
            <a:ext cx="3749039" cy="685800"/>
          </a:xfrm>
          <a:prstGeom prst="roundRect">
            <a:avLst/>
          </a:prstGeom>
          <a:solidFill>
            <a:srgbClr val="DEEB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1F4E79"/>
                </a:solidFill>
                <a:latin typeface="맑은 고딕"/>
              </a:defRPr>
            </a:pPr>
            <a:r>
              <a:t>집계 방식 불일치 → X</a:t>
            </a:r>
          </a:p>
          <a:p>
            <a:pPr>
              <a:defRPr sz="900">
                <a:solidFill>
                  <a:srgbClr val="595959"/>
                </a:solidFill>
                <a:latin typeface="맑은 고딕"/>
              </a:defRPr>
            </a:pPr>
            <a:r>
              <a:t>질문 의도와 다른 집계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5623560"/>
            <a:ext cx="3749039" cy="685800"/>
          </a:xfrm>
          <a:prstGeom prst="roundRect">
            <a:avLst/>
          </a:prstGeom>
          <a:solidFill>
            <a:srgbClr val="DEEB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1F4E79"/>
                </a:solidFill>
                <a:latin typeface="맑은 고딕"/>
              </a:defRPr>
            </a:pPr>
            <a:r>
              <a:t>user_question 애매 시</a:t>
            </a:r>
          </a:p>
          <a:p>
            <a:pPr>
              <a:defRPr sz="900">
                <a:solidFill>
                  <a:srgbClr val="595959"/>
                </a:solidFill>
                <a:latin typeface="맑은 고딕"/>
              </a:defRPr>
            </a:pPr>
            <a:r>
              <a:t>semantic_form 우선 판단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  <a:latin typeface="맑은 고딕"/>
              </a:defRPr>
            </a:pPr>
            <a: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5-11. Stage 5.5 / 5.6 - Repair 로직</a:t>
            </a:r>
          </a:p>
          <a:p>
            <a:pPr>
              <a:defRPr sz="1100">
                <a:solidFill>
                  <a:srgbClr val="DEEBF6"/>
                </a:solidFill>
                <a:latin typeface="맑은 고딕"/>
              </a:defRPr>
            </a:pPr>
            <a:r>
              <a:t>SQL Repair &amp; Semantic Form Repair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Stage 5.5 - SQL Repair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Consolas"/>
              </a:defRPr>
            </a:pPr>
            <a:r>
              <a:t>함수: repair_gold_sql_with_reason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검증 X 케이스 대상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validator 실패 사유 기반 SQL 수정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semantic_form을 기준으로 SQL 수정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user_question보다 semantic_form 우선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결과: ok / unanswerable 판정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changes 필드로 수정 내역 반환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repair 후 재검증 수행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5486400" cy="82296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wrap="none" lIns="137160" tIns="91440">
            <a:spAutoFit/>
          </a:bodyPr>
          <a:lstStyle/>
          <a:p>
            <a:pPr>
              <a:defRPr sz="1100">
                <a:solidFill>
                  <a:srgbClr val="E0E0E0"/>
                </a:solidFill>
                <a:latin typeface="Consolas"/>
              </a:defRPr>
            </a:pPr>
            <a:r>
              <a:t>enable_repair = True</a:t>
            </a:r>
          </a:p>
          <a:p>
            <a:pPr>
              <a:defRPr sz="1100">
                <a:solidFill>
                  <a:srgbClr val="E0E0E0"/>
                </a:solidFill>
                <a:latin typeface="Consolas"/>
              </a:defRPr>
            </a:pPr>
            <a:r>
              <a:t>repair_max_attempts = 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05156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05156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Stage 5.6 - Semantic Form Repair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486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Consolas"/>
              </a:defRPr>
            </a:pPr>
            <a:r>
              <a:t>함수: repair_semantic_form_to_match_sql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SQL Repair 이후 semantic_form 정합성 조정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현재 SQL에 맞도록 semantic_form 최소 수정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질문/SQL/semantic_form 삼자 정합성 유지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카탈로그 테이블/컬럼만 사용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질문 의미 크게 바꾸는 수정 금지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심각한 충돌 시 unanswerable 처리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이후 SQL 재생성 → 재검증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434840"/>
            <a:ext cx="5486400" cy="13716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wrap="none" lIns="137160" tIns="91440">
            <a:spAutoFit/>
          </a:bodyPr>
          <a:lstStyle/>
          <a:p>
            <a:pPr>
              <a:defRPr sz="1100">
                <a:solidFill>
                  <a:srgbClr val="E0E0E0"/>
                </a:solidFill>
                <a:latin typeface="Consolas"/>
              </a:defRPr>
            </a:pPr>
            <a:r>
              <a:t>enable_semantic_repair = True</a:t>
            </a:r>
          </a:p>
          <a:p>
            <a:pPr>
              <a:defRPr sz="1100">
                <a:solidFill>
                  <a:srgbClr val="E0E0E0"/>
                </a:solidFill>
                <a:latin typeface="Consolas"/>
              </a:defRPr>
            </a:pPr>
            <a:r>
              <a:t>semantic_repair_regen_sql = True</a:t>
            </a:r>
          </a:p>
          <a:p>
            <a:pPr>
              <a:defRPr sz="1100">
                <a:solidFill>
                  <a:srgbClr val="E0E0E0"/>
                </a:solidFill>
                <a:latin typeface="Consolas"/>
              </a:defRPr>
            </a:pPr>
            <a:r>
              <a:t>semantic_repair_drop_if_fail = True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80644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806440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Repair 흐름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172200"/>
            <a:ext cx="1737360" cy="457200"/>
          </a:xfrm>
          <a:prstGeom prst="roundRect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SQL X 판정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194560" y="6263640"/>
            <a:ext cx="182880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04872" y="6172200"/>
            <a:ext cx="1737360" cy="45720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SQL Repair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142232" y="6263640"/>
            <a:ext cx="182880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52544" y="6172200"/>
            <a:ext cx="1737360" cy="45720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재검증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089904" y="6263640"/>
            <a:ext cx="182880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0216" y="6172200"/>
            <a:ext cx="1737360" cy="45720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Semantic Form Repair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037576" y="6263640"/>
            <a:ext cx="182880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47888" y="6172200"/>
            <a:ext cx="1737360" cy="45720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SQL 재생성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985248" y="6263640"/>
            <a:ext cx="182880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195559" y="6172200"/>
            <a:ext cx="1737360" cy="45720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재검증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  <a:latin typeface="맑은 고딕"/>
              </a:defRPr>
            </a:pPr>
            <a: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7. 최종 질문 선별 로직</a:t>
            </a:r>
          </a:p>
          <a:p>
            <a:pPr>
              <a:defRPr sz="1100">
                <a:solidFill>
                  <a:srgbClr val="DEEBF6"/>
                </a:solidFill>
                <a:latin typeface="맑은 고딕"/>
              </a:defRPr>
            </a:pPr>
            <a:r>
              <a:t>select_questions_with_hard_min_join_quota / ai_readable_sensitivity_score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선별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02020"/>
                </a:solidFill>
                <a:latin typeface="맑은 고딕"/>
              </a:defRPr>
            </a:pPr>
            <a:r>
              <a:t>• ① SQL 검증 O 질문만 사용</a:t>
            </a:r>
          </a:p>
          <a:p>
            <a:pPr>
              <a:spcAft>
                <a:spcPts val="300"/>
              </a:spcAft>
              <a:defRPr sz="1200">
                <a:solidFill>
                  <a:srgbClr val="202020"/>
                </a:solidFill>
                <a:latin typeface="맑은 고딕"/>
              </a:defRPr>
            </a:pPr>
            <a:r>
              <a:t>• ② ai_readable 민감도 높은 질문 우선</a:t>
            </a:r>
          </a:p>
          <a:p>
            <a:pPr>
              <a:spcAft>
                <a:spcPts val="300"/>
              </a:spcAft>
              <a:defRPr sz="1200">
                <a:solidFill>
                  <a:srgbClr val="202020"/>
                </a:solidFill>
                <a:latin typeface="맑은 고딕"/>
              </a:defRPr>
            </a:pPr>
            <a:r>
              <a:t>• ③ JOIN 질문 최소 개수 확보 (min 3개)</a:t>
            </a:r>
          </a:p>
          <a:p>
            <a:pPr>
              <a:spcAft>
                <a:spcPts val="300"/>
              </a:spcAft>
              <a:defRPr sz="1200">
                <a:solidFill>
                  <a:srgbClr val="202020"/>
                </a:solidFill>
                <a:latin typeface="맑은 고딕"/>
              </a:defRPr>
            </a:pPr>
            <a:r>
              <a:t>• ④ candidate set 다양성 확보</a:t>
            </a:r>
          </a:p>
          <a:p>
            <a:pPr>
              <a:spcAft>
                <a:spcPts val="300"/>
              </a:spcAft>
              <a:defRPr sz="1200">
                <a:solidFill>
                  <a:srgbClr val="202020"/>
                </a:solidFill>
                <a:latin typeface="맑은 고딕"/>
              </a:defRPr>
            </a:pPr>
            <a:r>
              <a:t>• ⑤ 시스템 전체 목표 개수 충족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09728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0972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ai_readable 민감도 점수 가산 요소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상태/여부/플래그 해석 질문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코드값 자연어 매핑 질문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업무 용어 매핑 질문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유사 컬럼 구분 필요 질문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비율/점유율 정의 질문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JOIN 질문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semantic_form에 실제 filter 값 존재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group_by + 집계 포함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02920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029200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현재 시스템별 설정값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5486400"/>
          <a:ext cx="1124712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198120"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파라미터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값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19812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n_candidate_sets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생성할 join candidate set 개수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questions_per_set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각 candidate set에서 목표로 하는 질문 개수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  <a:tr h="19812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total_target_questions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시스템별 최종 목표 질문 개수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min_distinct_sets_required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min(6, n_candidate_sets)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set 다양성 최소 요구값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  <a:tr h="19812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final_min_join_required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JOIN 질문 최소 확보 개수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  <a:latin typeface="맑은 고딕"/>
              </a:defRPr>
            </a:pPr>
            <a: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9. 최종 산출물</a:t>
            </a:r>
          </a:p>
          <a:p>
            <a:pPr>
              <a:defRPr sz="1100">
                <a:solidFill>
                  <a:srgbClr val="DEEBF6"/>
                </a:solidFill>
                <a:latin typeface="맑은 고딕"/>
              </a:defRPr>
            </a:pPr>
            <a:r>
              <a:t>Excel 파일 구조 및 저장 위치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출력 파일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2E75B6"/>
                </a:solidFill>
                <a:latin typeface="맑은 고딕"/>
              </a:defRPr>
            </a:pPr>
            <a:r>
              <a:t>시스템별 파일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question_{now_date}_{system_name}.xlsx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예: question_260421_New GDMi(...).xlsx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71800"/>
            <a:ext cx="548640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ED7D31"/>
                </a:solidFill>
                <a:latin typeface="맑은 고딕"/>
              </a:defRPr>
            </a:pPr>
            <a:r>
              <a:t>전체 통합 파일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question_total_{now_date}.xlsx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예: question_total_260421.xlsx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9728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0972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저장 위치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486400" cy="109728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wrap="square" lIns="137160" tIns="91440">
            <a:spAutoFit/>
          </a:bodyPr>
          <a:lstStyle/>
          <a:p>
            <a:pPr>
              <a:defRPr sz="1100">
                <a:solidFill>
                  <a:srgbClr val="E0E0E0"/>
                </a:solidFill>
                <a:latin typeface="Consolas"/>
              </a:defRPr>
            </a:pPr>
            <a:r>
              <a:t>/data001/bonsang.koo/2026/</a:t>
            </a:r>
          </a:p>
          <a:p>
            <a:pPr>
              <a:defRPr sz="1100">
                <a:solidFill>
                  <a:srgbClr val="E0E0E0"/>
                </a:solidFill>
                <a:latin typeface="Consolas"/>
              </a:defRPr>
            </a:pPr>
            <a:r>
              <a:t>ai_readable/eap/question_260421/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92608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9260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병렬 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3832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ThreadPoolExecutor 사용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시스템별 병렬 처리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max_workers = 10 (기본)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rate limit 시 3~5 권장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0916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709160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최종 Excel 컬럼 구조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5166360"/>
          <a:ext cx="11247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25908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컬럼명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질문이 생성된 시스템명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user_question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LLM 최초 생성 원본 질문 ([TABLES: ...] 접두어 포함)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user_question_final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리라이팅 + 코드값 자연어화 반영 최종 질문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semantic_form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질문 의도 구조화 JSON (문자열)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gold_sql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SQL Validation 통과한 정답 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  <a:latin typeface="맑은 고딕"/>
              </a:defRPr>
            </a:pPr>
            <a: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10-1. 파라미터 튜닝 가이드 (품질/수량)</a:t>
            </a:r>
          </a:p>
          <a:p>
            <a:pPr>
              <a:defRPr sz="1100">
                <a:solidFill>
                  <a:srgbClr val="DEEBF6"/>
                </a:solidFill>
                <a:latin typeface="맑은 고딕"/>
              </a:defRPr>
            </a:pPr>
            <a:r>
              <a:t>Tuning Guide - Quality &amp; Quantity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최종 질문 수 늘리기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n_candidate_sets 증가 (10 → 15)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questions_per_set 증가 (2 → 3)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total_target_questions 증가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stage2_oversample_factor 증가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5486400" cy="822960"/>
          </a:xfrm>
          <a:prstGeom prst="rect">
            <a:avLst/>
          </a:prstGeom>
          <a:solidFill>
            <a:srgbClr val="FFF2CC"/>
          </a:solidFill>
          <a:ln>
            <a:solidFill>
              <a:srgbClr val="ED7D31"/>
            </a:solidFill>
          </a:ln>
        </p:spPr>
        <p:txBody>
          <a:bodyPr wrap="square" lIns="137160" tIns="73152">
            <a:spAutoFit/>
          </a:bodyPr>
          <a:lstStyle/>
          <a:p>
            <a:pPr>
              <a:defRPr sz="1100" b="1">
                <a:solidFill>
                  <a:srgbClr val="ED7D31"/>
                </a:solidFill>
                <a:latin typeface="맑은 고딕"/>
              </a:defRPr>
            </a:pPr>
            <a:r>
              <a:t>⚠ 주의</a:t>
            </a:r>
          </a:p>
          <a:p>
            <a:pPr>
              <a:defRPr sz="1000">
                <a:solidFill>
                  <a:srgbClr val="202020"/>
                </a:solidFill>
                <a:latin typeface="맑은 고딕"/>
              </a:defRPr>
            </a:pPr>
            <a:r>
              <a:t>total_target_questions만 늘리면 후보 pool 부족. 함께 조정 필요.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9728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0972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품질 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stage2_oversample_factor ≥ 5.0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regen_max_rounds ≥ 8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enable_value_filtering = True 유지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enable_question_rewrite = True 유지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SQL validation / repair 유지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429000"/>
            <a:ext cx="5486400" cy="822960"/>
          </a:xfrm>
          <a:prstGeom prst="rect">
            <a:avLst/>
          </a:prstGeom>
          <a:solidFill>
            <a:srgbClr val="FFF2CC"/>
          </a:solidFill>
          <a:ln>
            <a:solidFill>
              <a:srgbClr val="ED7D31"/>
            </a:solidFill>
          </a:ln>
        </p:spPr>
        <p:txBody>
          <a:bodyPr wrap="square" lIns="137160" tIns="73152">
            <a:spAutoFit/>
          </a:bodyPr>
          <a:lstStyle/>
          <a:p>
            <a:pPr>
              <a:defRPr sz="1100" b="1">
                <a:solidFill>
                  <a:srgbClr val="ED7D31"/>
                </a:solidFill>
                <a:latin typeface="맑은 고딕"/>
              </a:defRPr>
            </a:pPr>
            <a:r>
              <a:t>⚠ 장단점</a:t>
            </a:r>
          </a:p>
          <a:p>
            <a:pPr>
              <a:defRPr sz="1000">
                <a:solidFill>
                  <a:srgbClr val="202020"/>
                </a:solidFill>
                <a:latin typeface="맑은 고딕"/>
              </a:defRPr>
            </a:pPr>
            <a:r>
              <a:t>LLM 호출량 / 실행 시간 / 비용 증가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48056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48056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실행 시간 줄이기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37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n_candidate_sets 감소 (10 → 6)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regen_max_rounds 감소 (8 → 4)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stage2_oversample_factor 감소 (5 → 3)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total_target_questions 감소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max_workers 조정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48056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48056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ai_readable 강화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937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generation_mode = ai_readable_sensitive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enable_question_rewrite = True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is_ai_readable_insensitive_question 유지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민감도 점수 높은 질문 우선 선택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rewrite_questions_remove_codes 중요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  <a:latin typeface="맑은 고딕"/>
              </a:defRPr>
            </a:pPr>
            <a: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10-2. 파라미터 튜닝 가이드 (JOIN / SQL 품질)</a:t>
            </a:r>
          </a:p>
          <a:p>
            <a:pPr>
              <a:defRPr sz="1100">
                <a:solidFill>
                  <a:srgbClr val="DEEBF6"/>
                </a:solidFill>
                <a:latin typeface="맑은 고딕"/>
              </a:defRPr>
            </a:pPr>
            <a:r>
              <a:t>Tuning Guide - JOIN &amp; SQL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JOIN 질문 비중 늘리기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join_question_ratio 증가 (50 → 70)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n_candidate_sets 증가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stage2_oversample_factor 증가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per_set_min_join 조정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final_min_join_required 조정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5486400" cy="914400"/>
          </a:xfrm>
          <a:prstGeom prst="rect">
            <a:avLst/>
          </a:prstGeom>
          <a:solidFill>
            <a:srgbClr val="FFF2CC"/>
          </a:solidFill>
          <a:ln>
            <a:solidFill>
              <a:srgbClr val="ED7D31"/>
            </a:solidFill>
          </a:ln>
        </p:spPr>
        <p:txBody>
          <a:bodyPr wrap="square" lIns="137160" tIns="73152">
            <a:spAutoFit/>
          </a:bodyPr>
          <a:lstStyle/>
          <a:p>
            <a:pPr>
              <a:defRPr sz="1100" b="1">
                <a:solidFill>
                  <a:srgbClr val="ED7D31"/>
                </a:solidFill>
                <a:latin typeface="맑은 고딕"/>
              </a:defRPr>
            </a:pPr>
            <a:r>
              <a:t>⚠ 주의</a:t>
            </a:r>
          </a:p>
          <a:p>
            <a:pPr>
              <a:defRPr sz="1000">
                <a:solidFill>
                  <a:srgbClr val="202020"/>
                </a:solidFill>
                <a:latin typeface="맑은 고딕"/>
              </a:defRPr>
            </a:pPr>
            <a:r>
              <a:t>억지로 늘리면 불필요한 JOIN 증가 → 필터 제거</a:t>
            </a:r>
          </a:p>
          <a:p>
            <a:pPr>
              <a:defRPr sz="1000">
                <a:solidFill>
                  <a:srgbClr val="202020"/>
                </a:solidFill>
                <a:latin typeface="맑은 고딕"/>
              </a:defRPr>
            </a:pPr>
            <a:r>
              <a:t>candidate set 품질이 더 중요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9728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0972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SQL 품질 엄격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enable_sql_validation = True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enable_repair = True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enable_semantic_repair = True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semantic_repair_regen_sql = True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맑은 고딕"/>
              </a:defRPr>
            </a:pPr>
            <a:r>
              <a:t>• semantic_repair_drop_if_fail = 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931920"/>
            <a:ext cx="5486400" cy="914400"/>
          </a:xfrm>
          <a:prstGeom prst="rect">
            <a:avLst/>
          </a:prstGeom>
          <a:solidFill>
            <a:srgbClr val="E2EFDA"/>
          </a:solidFill>
          <a:ln>
            <a:solidFill>
              <a:srgbClr val="70AD47"/>
            </a:solidFill>
          </a:ln>
        </p:spPr>
        <p:txBody>
          <a:bodyPr wrap="square" lIns="137160" tIns="73152">
            <a:spAutoFit/>
          </a:bodyPr>
          <a:lstStyle/>
          <a:p>
            <a:pPr>
              <a:defRPr sz="1100" b="1">
                <a:solidFill>
                  <a:srgbClr val="70AD47"/>
                </a:solidFill>
                <a:latin typeface="맑은 고딕"/>
              </a:defRPr>
            </a:pPr>
            <a:r>
              <a:t>✓ 추가 고려</a:t>
            </a:r>
          </a:p>
          <a:p>
            <a:pPr>
              <a:defRPr sz="1000">
                <a:solidFill>
                  <a:srgbClr val="202020"/>
                </a:solidFill>
                <a:latin typeface="맑은 고딕"/>
              </a:defRPr>
            </a:pPr>
            <a:r>
              <a:t>validator prompt 강화, unanswerable 별도 저장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029200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파라미터 조정 매트릭스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5486400"/>
          <a:ext cx="1124712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37744"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목표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핵심 파라미터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권장 조정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질문 수 증가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n_candidate_sets, questions_per_set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10→15, 2→3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품질 향상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stage2_oversample_factor, regen_max_rounds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5→7, 8→10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실행 시간 단축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n_candidate_sets, regen_max_rounds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10→6, 8→4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JOIN 비중 증가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join_question_ratio, n_candidate_sets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50→70, 10→15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  <a:latin typeface="맑은 고딕"/>
              </a:defRPr>
            </a:pPr>
            <a: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11-1. 에러 대응 (환경 / JSON / 생성 부족)</a:t>
            </a:r>
          </a:p>
          <a:p>
            <a:pPr>
              <a:defRPr sz="1100">
                <a:solidFill>
                  <a:srgbClr val="DEEBF6"/>
                </a:solidFill>
                <a:latin typeface="맑은 고딕"/>
              </a:defRPr>
            </a:pPr>
            <a:r>
              <a:t>Troubleshooting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70332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C0504D"/>
                </a:solidFill>
                <a:latin typeface="맑은 고딕"/>
              </a:defRPr>
            </a:pPr>
            <a:r>
              <a:t>① 환경변수 오류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증상: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OPENAI_API_KEY KeyError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Azure endpoint 오류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확인: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.env 파일 존재 여부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OPENAI_API_KEY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OPENAI_API_VERSION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DEPLOYMENT_NAME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AZURE_OPENAI_ENDPOINT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097280"/>
            <a:ext cx="370332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C0504D"/>
                </a:solidFill>
                <a:latin typeface="맑은 고딕"/>
              </a:defRPr>
            </a:pPr>
            <a:r>
              <a:t>② JSON parsing 오류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증상: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output is not valid JSON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No '{' found in text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json.JSONDecodeError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원인: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LLM이 설명 섞어 응답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코드펜스 형식 깨짐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응답 중간 잘림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방어: _strip_code_fences,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_extract_first_json_object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097280"/>
            <a:ext cx="365760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ED7D31"/>
                </a:solidFill>
                <a:latin typeface="맑은 고딕"/>
              </a:defRPr>
            </a:pPr>
            <a:r>
              <a:t>③ 질문이 적게 생성됨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원인: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필터링 조건 강함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value_evidence 누락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SQL X 많이 발생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repair 실패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조정: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regen_max_rounds 증가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stage2_oversample_factor 증가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n_candidate_sets 증가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enable_value_filtering 완화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94760"/>
            <a:ext cx="3703320" cy="2651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ED7D31"/>
                </a:solidFill>
                <a:latin typeface="맑은 고딕"/>
              </a:defRPr>
            </a:pPr>
            <a:r>
              <a:t>④ JOIN 질문 부족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원인: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candidate set confidence 낮음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실제 조인 가능 테이블 부족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불필요한 JOIN 필터 제거됨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JOIN SQL이 X 처리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조정: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join_question_ratio 증가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n_candidate_sets 증가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questions_per_set 증가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794760"/>
            <a:ext cx="3703320" cy="2651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ED7D31"/>
                </a:solidFill>
                <a:latin typeface="맑은 고딕"/>
              </a:defRPr>
            </a:pPr>
            <a:r>
              <a:t>⑤ unanswerable 다수 발생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원인: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semantic_form 불완전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카탈로그 외 컬럼 사용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placeholder 표현 남음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필터 value 실제 존재 X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dialect 규칙 위반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확인: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gold_sql_rationale 확인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filters.value 실존 여부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prefix 규칙 위반 여부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794760"/>
            <a:ext cx="3657600" cy="2651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C0504D"/>
                </a:solidFill>
                <a:latin typeface="맑은 고딕"/>
              </a:defRPr>
            </a:pPr>
            <a:r>
              <a:t>⑥ Rate limit / Timeout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원인: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max_workers 과다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시스템 수 과다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regen_max_rounds 큼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oversample 큼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대응: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max_workers 10 → 3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regen_max_rounds 8 → 5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stage2_oversample 5 → 3</a:t>
            </a:r>
          </a:p>
          <a:p>
            <a:pPr>
              <a:spcBef>
                <a:spcPts val="200"/>
              </a:spcBef>
              <a:defRPr sz="1000">
                <a:solidFill>
                  <a:srgbClr val="202020"/>
                </a:solidFill>
                <a:latin typeface="맑은 고딕"/>
              </a:defRPr>
            </a:pPr>
            <a:r>
              <a:t>• repair_max_attempts 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  <a:latin typeface="맑은 고딕"/>
              </a:defRPr>
            </a:pPr>
            <a: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11-2. 실행 로그 확인 포인트</a:t>
            </a:r>
          </a:p>
          <a:p>
            <a:pPr>
              <a:defRPr sz="1100">
                <a:solidFill>
                  <a:srgbClr val="DEEBF6"/>
                </a:solidFill>
                <a:latin typeface="맑은 고딕"/>
              </a:defRPr>
            </a:pPr>
            <a:r>
              <a:t>Console Log Messages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로그 태그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의미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예시 / 확인 내용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[PURPOSE-GROUP]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목적 기반 테이블 그룹 개수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n_groups=8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[SET]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candidate set별 질문 생성 라운드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set_id=s01 round=1 need_more=2 gen_n=16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[SEMANTIC-FILTER]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semantic form 문제로 제거된 질문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dropped={'groupby_violation': 1, ...}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[FILTER-DEBUG]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필터 값 검증 결과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total=12 kept=8 dropped=4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[SQL-VALIDATE]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SQL 검증 O/X 카운트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counts={'O_firstpass': 2, 'X_firstpass': 3}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[SQL-VALIDATE] X reason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SQL 검증 실패 사유 상위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reason별 top-N 리스트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[SYSTEM-CHECK]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시스템 전체 pool 상태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pool_size=8 join_count=3 distinct_sets=5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[SYSTEM] stop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생성 종료 (목표 충족)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질문 수 / JOIN / 다양성 조건 만족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[DONE]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시스템별 Excel 저장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New GDMi(...) → question_260421_*.xlsx rows=10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534924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349240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로그 예시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1247120" cy="100584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wrap="square" lIns="137160" tIns="91440">
            <a:spAutoFit/>
          </a:bodyPr>
          <a:lstStyle/>
          <a:p>
            <a:pPr>
              <a:defRPr sz="900">
                <a:solidFill>
                  <a:srgbClr val="B4E7B4"/>
                </a:solidFill>
                <a:latin typeface="Consolas"/>
              </a:defRPr>
            </a:pPr>
            <a:r>
              <a:t>[PURPOSE-GROUP] n_groups=8</a:t>
            </a:r>
          </a:p>
          <a:p>
            <a:pPr>
              <a:defRPr sz="900">
                <a:solidFill>
                  <a:srgbClr val="B4E7B4"/>
                </a:solidFill>
                <a:latin typeface="Consolas"/>
              </a:defRPr>
            </a:pPr>
            <a:r>
              <a:t>[SET] set_id=s01 round=1 need_more=2 gen_n=16 tables=['v_newgdmi_...']</a:t>
            </a:r>
          </a:p>
          <a:p>
            <a:pPr>
              <a:defRPr sz="900">
                <a:solidFill>
                  <a:srgbClr val="B4E7B4"/>
                </a:solidFill>
                <a:latin typeface="Consolas"/>
              </a:defRPr>
            </a:pPr>
            <a:r>
              <a:t>[SQL-VALIDATE] set_id=s01 round=1 counts={'O_firstpass': 2, 'X_firstpass': 3}</a:t>
            </a:r>
          </a:p>
          <a:p>
            <a:pPr>
              <a:defRPr sz="900">
                <a:solidFill>
                  <a:srgbClr val="B4E7B4"/>
                </a:solidFill>
                <a:latin typeface="Consolas"/>
              </a:defRPr>
            </a:pPr>
            <a:r>
              <a:t>[SYSTEM-CHECK] pool_size=8 join_count=3 distinct_sets=5</a:t>
            </a:r>
          </a:p>
          <a:p>
            <a:pPr>
              <a:defRPr sz="900">
                <a:solidFill>
                  <a:srgbClr val="B4E7B4"/>
                </a:solidFill>
                <a:latin typeface="Consolas"/>
              </a:defRPr>
            </a:pPr>
            <a:r>
              <a:t>[DONE] New GDMi(전사수요관리시스템) -&gt; question_260421_*.xlsx rows=10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  <a:latin typeface="맑은 고딕"/>
              </a:defRPr>
            </a:pPr>
            <a: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12. 유지보수 - 자주 수정하는 위치</a:t>
            </a:r>
          </a:p>
          <a:p>
            <a:pPr>
              <a:defRPr sz="1100">
                <a:solidFill>
                  <a:srgbClr val="DEEBF6"/>
                </a:solidFill>
                <a:latin typeface="맑은 고딕"/>
              </a:defRPr>
            </a:pPr>
            <a:r>
              <a:t>Frequently Modified Locations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수정 항목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위치 / 변수명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예시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실행 대상 시스템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list_system_name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["New GDMi(...)", "GPLM", ...]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출력 날짜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now_date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"260421"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SQL dialect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DIALECT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normalize_dialect("bigquery")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시스템별 질문 수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run_one_system 내부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n_candidate_sets / questions_per_set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병렬 처리 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max_workers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3 ~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JOIN 질문 비율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join_question_ratio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50 ~ 70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재생성 라운드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regen_max_rounds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4 ~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oversampling 비율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stage2_oversample_factor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3.0 ~ 7.0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입력 카탈로그 파일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pd.read_excel 경로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edl_ai_readable_gemini_*.xlsx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출력 컬럼 추가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extract_qa_pairs_from_result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맑은 고딕"/>
                        </a:defRPr>
                      </a:pPr>
                      <a:r>
                        <a:t>validation reason 등 추가</a:t>
                      </a:r>
                    </a:p>
                  </a:txBody>
                  <a:tcPr>
                    <a:solidFill>
                      <a:srgbClr val="DEEBF6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6263640"/>
            <a:ext cx="731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263640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맑은 고딕"/>
              </a:defRPr>
            </a:pPr>
            <a:r>
              <a:t>실행 순서 요약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6629400"/>
            <a:ext cx="1737360" cy="13716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1. .env 준비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04872" y="6629400"/>
            <a:ext cx="1737360" cy="13716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2. 카탈로그 파일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6629400"/>
            <a:ext cx="1737360" cy="13716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3. list_system_name 설정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6629400"/>
            <a:ext cx="1737360" cy="13716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4. DIALECT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47888" y="6629400"/>
            <a:ext cx="1737360" cy="13716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5. 코드 실행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95559" y="6629400"/>
            <a:ext cx="1737360" cy="13716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6. 결과 파일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  <a:latin typeface="맑은 고딕"/>
              </a:defRPr>
            </a:pPr>
            <a: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D7D31"/>
                </a:solidFill>
                <a:latin typeface="맑은 고딕"/>
              </a:defRPr>
            </a:pPr>
            <a:r>
              <a:t>한 줄 요약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560320"/>
            <a:ext cx="103327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1500">
                <a:solidFill>
                  <a:srgbClr val="202020"/>
                </a:solidFill>
                <a:latin typeface="맑은 고딕"/>
              </a:defRPr>
            </a:pPr>
            <a:r>
              <a:t>EDL 카탈로그의 테이블 설명, 컬럼 설명, 값 예시를 활용해 NL2SQL 평가용 자연어 질문, semantic_form, 정답 SQL을 자동 생성하고, LLM 기반 검증/repair를 통해 품질을 보정한 뒤 시스템별 및 전체 Excel 파일로 저장하는 파이프라인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029200"/>
            <a:ext cx="2606040" cy="118872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자동 생성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맑은 고딕"/>
              </a:defRPr>
            </a:pPr>
            <a:r>
              <a:t>질문 + 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39" y="5029200"/>
            <a:ext cx="2606040" cy="118872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품질 검증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맑은 고딕"/>
              </a:defRPr>
            </a:pPr>
            <a:r>
              <a:t>LLM Validator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59" y="5029200"/>
            <a:ext cx="2606040" cy="118872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자동 복구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맑은 고딕"/>
              </a:defRPr>
            </a:pPr>
            <a:r>
              <a:t>SQL / Semantic Repair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5029200"/>
            <a:ext cx="2606040" cy="118872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최적화 선별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맑은 고딕"/>
              </a:defRPr>
            </a:pPr>
            <a:r>
              <a:t>ai_readable 우선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DEEBF6"/>
                </a:solidFill>
                <a:latin typeface="Consolas"/>
              </a:defRPr>
            </a:pPr>
            <a:r>
              <a:t>코드 위치: /data001/bonsang.koo/2026/ai_readable/eap/gen_question_0421.py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  <a:latin typeface="맑은 고딕"/>
              </a:defRPr>
            </a:pPr>
            <a: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